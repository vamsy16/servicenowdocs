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a:t>
            </a:r>
          </a:p>
          <a:p/>
          <a:p>
            <a:r>
              <a:t>Purpose of today: agree what Impact is, what it is not, what it changes for us operationally, and what we would need to do to activate it.</a:t>
            </a:r>
          </a:p>
          <a:p/>
          <a:p>
            <a:r>
              <a:t>Three things to land by the end: (1) Impact is a subscription product that adds a measurement and expert layer on top of the platform we already run — it does not replace administration or Now Support; (2) roughly half of its value depends on foundational work we control — instance connection, roles, scans and data collection; (3) several capabilities are entitlement-dependent, so nothing in this deck should be treated as committed until we confirm our package.</a:t>
            </a:r>
          </a:p>
          <a:p/>
          <a:p>
            <a:r>
              <a:t>Ask for the session: agreement on the activation sequence and an owner for each prerequisite.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on depth. Sections 1–3 are the conceptual frame, 4–6 are the value case, 7 is the honest comparison, 8 is the operational ask.</a:t>
            </a:r>
          </a:p>
          <a:p/>
          <a:p>
            <a:r>
              <a:t>Everything in the deck is drawn from the Australia-release product documentation listed in the written brief (Appendix E). Where the documentation is silent or a figure is entitlement-dependent, the slide says “verify” rather than guessing.</a:t>
            </a:r>
          </a:p>
          <a:p/>
          <a:p>
            <a:r>
              <a:t>If the audience is purely executive, the recommended path is slides 1–7, then 17–19, then 23–26. The technical sections (9–16, 20–22) are for the architecture and platform audience.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three-line version.</a:t>
            </a:r>
          </a:p>
          <a:p/>
          <a:p>
            <a:r>
              <a:t>1. Prove value. Impact's value layer connects business objectives to measurable outcomes with a metric, a baseline quarter and a target — and rolls that into monetised Value Reports where the assumptions are visible. Caveat to state upfront: a meaningful Value Report needs at least two years of product data, so the earlier we start collecting, the earlier we can report.</a:t>
            </a:r>
          </a:p>
          <a:p/>
          <a:p>
            <a:r>
              <a:t>2. Know your health. Thousands of leading-practice checks run against the instance continuously rather than being discovered during an upgrade. Findings stay in our instance. Instance Observer watches performance and availability from outside the instance.</a:t>
            </a:r>
          </a:p>
          <a:p/>
          <a:p>
            <a:r>
              <a:t>3. Plan and execute. Capability maps show what we own versus what we actually use; roadmaps sequence the next phases; Accelerators are fixed-scope expert engagements consumed against package concurrency.</a:t>
            </a:r>
          </a:p>
          <a:p/>
          <a:p>
            <a:r>
              <a:t>The honest framing: Impact gives us measurement, guidance and expert capacity. It does not do our remediation for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it precisely, because “Impact” is often heard as “support” or “another module”.</a:t>
            </a:r>
          </a:p>
          <a:p/>
          <a:p>
            <a:r>
              <a:t>It is a subscription product with three delivery surfaces. The one that matters most for day-to-day work is the Impact Store Application inside our instance — reached at All → Impact. The IDI is where our named squad works; we reach it through the Activity Center. Human expertise is the third piece: CSM, and in higher packages a Customer Success Executive, Platform Architect and Support Account Manager.</a:t>
            </a:r>
          </a:p>
          <a:p/>
          <a:p>
            <a:r>
              <a:t>The directional statement worth emphasising: from Yokohama onward, new innovative Impact features land in the Store Application, not the IDI. So the app is where our future capability will accumulate.</a:t>
            </a:r>
          </a:p>
          <a:p/>
          <a:p>
            <a:r>
              <a:t>Close with the boundary: this is not a replacement for our admins or our support contract, and we should not describe it that way to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reframes the conversation from support to outcomes.</a:t>
            </a:r>
          </a:p>
          <a:p/>
          <a:p>
            <a:r>
              <a:t>Walk the rows rather than reading them. The pattern is that each row is a question our own stakeholders already ask — usually at renewal, or after an incident, or when a business unit questions the spend.</a:t>
            </a:r>
          </a:p>
          <a:p/>
          <a:p>
            <a:r>
              <a:t>Two rows are worth dwelling on with an executive audience. First, “cannot prove value” — that is the value management row and it is the reason many organisations adopt Impact at all. Second, “what should we do next” — most stalled programs are not short of findings; they are short of a defensible priority order.</a:t>
            </a:r>
          </a:p>
          <a:p/>
          <a:p>
            <a:r>
              <a:t>For a technical audience, the two rows that matter are the health and performance rows — those are the ones that change day-to-day engineering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rows, three boxes each — it reads as “what we run”, “what connects us”, “what ServiceNow runs for us”, then where support and AI sit.</a:t>
            </a:r>
          </a:p>
          <a:p/>
          <a:p>
            <a:r>
              <a:t>Key point for the platform team: the Service Bridge connection must reach Active replication in both directions. That single status is the gate for almost everything else in the product, and it is the most common place where activation stalls.</a:t>
            </a:r>
          </a:p>
          <a:p/>
          <a:p>
            <a:r>
              <a:t>Key point for the support/operations audience: Now Support does not go away. Case handling stays there; Impact adds response targets and Developer Support on top.</a:t>
            </a:r>
          </a:p>
          <a:p/>
          <a:p>
            <a:r>
              <a:t>Key point for everyone: impact sits around and above the platform. It does not replace our change, release or data governance processes.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“why does this product exist” slide. It is useful when a client is sceptical that Impact is more than rebranded support.</a:t>
            </a:r>
          </a:p>
          <a:p/>
          <a:p>
            <a:r>
              <a:t>The strongest of the five with an Australian enterprise or government audience is usually value realisation — audit and budget scrutiny make the ROI question unavoidable.</a:t>
            </a:r>
          </a:p>
          <a:p/>
          <a:p>
            <a:r>
              <a:t>For a technical audience, lead with upgrade fatigue and silent technical debt: those are the pain points the platform team already feels weekly.</a:t>
            </a:r>
          </a:p>
          <a:p/>
          <a:p>
            <a:r>
              <a:t>Land the closed loop at the end because it is the mental model for the architecture slide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security and architecture reviewers will photograph.</a:t>
            </a:r>
          </a:p>
          <a:p/>
          <a:p>
            <a:r>
              <a:t>The critical answer to the inevitable question “what leaves our instance?” is in the last column. Four components move data: the Service Bridge stack, Cloud Storage, the Licensing Engine and the MIF Customer Instance. Impact Common, Impact Content and Impact Health do not move data, and Scan Engine findings stay in our instance.</a:t>
            </a:r>
          </a:p>
          <a:p/>
          <a:p>
            <a:r>
              <a:t>Note the Instance Observer row: it is off-instance monitoring by design — that is precisely why it still works when the instance itself is degraded, and it is also why it needs its own consent conversation for user-experience data.</a:t>
            </a:r>
          </a:p>
          <a:p/>
          <a:p>
            <a:r>
              <a:t>Values, licensing and subscription data feed Capability Maps and the Subscriptions view — worth naming so nobody is surprised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diagram to walk slowly.</a:t>
            </a:r>
          </a:p>
          <a:p/>
          <a:p>
            <a:r>
              <a:t>Left to right: our estate, the secure sync layer, the ServiceNow side, then the business outcomes. Underneath, the operating cadence that closes the loop.</a:t>
            </a:r>
          </a:p>
          <a:p/>
          <a:p>
            <a:r>
              <a:t>Column 1 is everything under our control and our responsibility: the app, the Scan Engine and HealthScan definitions, the Performance Analytics collection jobs that feed value metrics, our users and roles, and off-instance observability.</a:t>
            </a:r>
          </a:p>
          <a:p/>
          <a:p>
            <a:r>
              <a:t>Column 2 is the single integration point. Automated registration is preferred; regulated and GCC customers must use manual registration.</a:t>
            </a:r>
          </a:p>
          <a:p/>
          <a:p>
            <a:r>
              <a:t>Column 3 is what ServiceNow brings: named squad, the Activity Center, value management, and the catalogues.</a:t>
            </a:r>
          </a:p>
          <a:p/>
          <a:p>
            <a:r>
              <a:t>Column 4 is why we are doing this.</a:t>
            </a:r>
          </a:p>
          <a:p/>
          <a:p>
            <a:r>
              <a:t>Two callouts to say out loud: Scan Engine findings are NOT transmitted to the IDI; and feature availability depends on our package, add-ons, roles and installed plugins — which is why we verify before we commit.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rest of the feature discussion.</a:t>
            </a:r>
          </a:p>
          <a:p/>
          <a:p>
            <a:r>
              <a:t>The framing to use: every pillar exists to answer a question a stakeholder already has. Platform Health answers “is the instance in good shape?”. Instance Observer answers “is it performing?/will users notice?”. Value Management answers “was it worth it?”. Product Adoption answers “what should we do next?”. Experts and learning answer “who helps us, and how do we get better?”</a:t>
            </a:r>
          </a:p>
          <a:p/>
          <a:p>
            <a:r>
              <a:t>If time is short, the two pillars to cover properly are Platform Health (because it is the most immediately useful to the platform team) and Value Management (because it is the one the CFO will ask about).</a:t>
            </a:r>
          </a:p>
          <a:p/>
          <a:p>
            <a:r>
              <a:t>The next four slides go one level deeper; the detailed per-feature structure is in the written brief, section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pillar the platform and development teams will care about most.</a:t>
            </a:r>
          </a:p>
          <a:p/>
          <a:p>
            <a:r>
              <a:t>Start with the locality point because it is a common objection: findings are produced in our instance and are not transmitted to the Impact Delivery Instance.</a:t>
            </a:r>
          </a:p>
          <a:p/>
          <a:p>
            <a:r>
              <a:t>The persona dashboards matter more than they sound — they are what stop findings becoming an undifferentiated list. A team lead sees their team's new findings after a sprint; an executive sees the trend.</a:t>
            </a:r>
          </a:p>
          <a:p/>
          <a:p>
            <a:r>
              <a:t>On custom definitions: this is where we encode house rules (no business logic in UI policies, no direct CMDB writes from integrations). Guided has a documented cap of up to 10 active custom definitions and Total is documented as unlimited — verify against our package.</a:t>
            </a:r>
          </a:p>
          <a:p/>
          <a:p>
            <a:r>
              <a:t>On the first scan: set expectations now. It can take hours; run it overnight in production and monitor Scan Status rather than re-triggering.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this as the answer to the most demoralising class of incident: performance problems reported by users after the fact, with no evidence left to investigate.</a:t>
            </a:r>
          </a:p>
          <a:p/>
          <a:p>
            <a:r>
              <a:t>The off-instance argument is the headline: when an instance is degraded, in-instance monitoring is unreliable. Observer watches from outside.</a:t>
            </a:r>
          </a:p>
          <a:p/>
          <a:p>
            <a:r>
              <a:t>For the operations audience, the practical wins are anomaly-based alerting (fewer noisy static thresholds) and webhook routing into the existing on-call tooling rather than a new console nobody watches.</a:t>
            </a:r>
          </a:p>
          <a:p/>
          <a:p>
            <a:r>
              <a:t>Raise the consent point deliberately: user-experience monitoring requires Terms &amp; Conditions acceptance by an admin in Manage Permissions, IDs are anonymised by default, and there is an opt-in for non-anonymised collection. That is a conversation for our privacy and employee-representation stakeholders, not a technical toggle.</a:t>
            </a:r>
          </a:p>
          <a:p/>
          <a:p>
            <a:r>
              <a:t>Finally, flag the entitlement differences and the mobile-app gap so expectations are set correctly.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pillar that justifies the purchase to the CFO, and the one most often run badly.</a:t>
            </a:r>
          </a:p>
          <a:p/>
          <a:p>
            <a:r>
              <a:t>The discipline is in the chain: objective → outcome → success metric → reference quarter and goal. If any link is vague, the report is not defensible. Push the sponsor to make objectives business statements (“reduce cost to serve”) rather than IT statements (“complete the next upgrade”).</a:t>
            </a:r>
          </a:p>
          <a:p/>
          <a:p>
            <a:r>
              <a:t>Outcome Insights is the operational half — it tells us which outcomes are off track and recommends the capability or the training that addresses them. Value Reports are the reporting half, and their credibility comes from showing assumptions rather than hiding them.</a:t>
            </a:r>
          </a:p>
          <a:p/>
          <a:p>
            <a:r>
              <a:t>State the caveat out loud rather than letting someone discover it later: a meaningful Value Report needs at least two years of product data. That is an argument for starting data collection now, even if the first report is modest.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connected ideas: see the gap, plan the closure, execute with help.</a:t>
            </a:r>
          </a:p>
          <a:p/>
          <a:p>
            <a:r>
              <a:t>The gap point is usually the most confronting for clients — most organisations materially under-use what they already own, and that is a renewal risk as much as an efficiency one.</a:t>
            </a:r>
          </a:p>
          <a:p/>
          <a:p>
            <a:r>
              <a:t>The planning point is that roadmaps are sequenced against business objectives, not product release order. That is what makes them adoptable by the business.</a:t>
            </a:r>
          </a:p>
          <a:p/>
          <a:p>
            <a:r>
              <a:t>The execution point is the conversion step: a recommendation that never becomes a work item is just a notification. Route them into SPM, CWM, Jira or Azure DevOps during normal planning.</a:t>
            </a:r>
          </a:p>
          <a:p/>
          <a:p>
            <a:r>
              <a:t>Raise concurrency honestly: it is a real constraint on how many expert engagements can run at once, and scheduling is subject to availability. Plan engagements in advance rather than assuming immediate start.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Tooling without a human layer produces dashboards nobody acts on — this slide is the counterweight to the product slides.</a:t>
            </a:r>
          </a:p>
          <a:p/>
          <a:p>
            <a:r>
              <a:t>The squad is the primary relationship: the CSM orchestrates onboarding, the Foundations phase and the review cadence.</a:t>
            </a:r>
          </a:p>
          <a:p/>
          <a:p>
            <a:r>
              <a:t>Be precise about Developer Support scope, because it is commonly over-estimated: it covers troubleshooting and improving existing customisations, and explicitly does not cover net-new implementations or customisations that break after a family upgrade — those go to Now Support.</a:t>
            </a:r>
          </a:p>
          <a:p/>
          <a:p>
            <a:r>
              <a:t>Learning is the most commonly wasted entitlement because credits expire unused. The mechanism that makes it purposeful is the link from an under-performing outcome to a specific recommended course.</a:t>
            </a:r>
          </a:p>
          <a:p/>
          <a:p>
            <a:r>
              <a:t>Close on governance: Impact works when it is calendarised. That is the ask in section 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group 1 of 3. Use these as discussion prompts rather than a script.</a:t>
            </a:r>
          </a:p>
          <a:p/>
          <a:p>
            <a:r>
              <a:t>Ask which of these the client recognises as their own situation, then go deep on that one. The strongest openers for most organisations are the renewal-value scenario and the technical-debt scenario.</a:t>
            </a:r>
          </a:p>
          <a:p/>
          <a:p>
            <a:r>
              <a:t>Each scenario is deliberately written as problem → capability → measurable outcome so the conversation cannot drift into feature description without landing on a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group 2 of 3. Use these as discussion prompts rather than a script.</a:t>
            </a:r>
          </a:p>
          <a:p/>
          <a:p>
            <a:r>
              <a:t>Ask which of these the client recognises as their own situation, then go deep on that one. The strongest openers for most organisations are the renewal-value scenario and the technical-debt scenario.</a:t>
            </a:r>
          </a:p>
          <a:p/>
          <a:p>
            <a:r>
              <a:t>Each scenario is deliberately written as problem → capability → measurable outcome so the conversation cannot drift into feature description without landing on a result.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group 3 of 3. Use these as discussion prompts rather than a script.</a:t>
            </a:r>
          </a:p>
          <a:p/>
          <a:p>
            <a:r>
              <a:t>Ask which of these the client recognises as their own situation, then go deep on that one. The strongest openers for most organisations are the renewal-value scenario and the technical-debt scenario.</a:t>
            </a:r>
          </a:p>
          <a:p/>
          <a:p>
            <a:r>
              <a:t>Each scenario is deliberately written as problem → capability → measurable outcome so the conversation cannot drift into feature description without landing on a result.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make the benefits land with the person who owns the budget or the risk.</a:t>
            </a:r>
          </a:p>
          <a:p/>
          <a:p>
            <a:r>
              <a:t>The column that does the work is the last one — evidence. Benefits without evidence get discounted in the room; naming the artefact that proves it is what makes the benefit credible.</a:t>
            </a:r>
          </a:p>
          <a:p/>
          <a:p>
            <a:r>
              <a:t>If the audience is mixed, pick two rows: CIO for the value story and Security for the constraints story. Those are usually the two competing narratives that decide whether the program proceeds.</a:t>
            </a:r>
          </a:p>
          <a:p/>
          <a:p>
            <a:r>
              <a:t>The Security row is deliberate: naming the constraints and the controls openly is what gets an approval rather than a deferral.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short lenses; do not read all eight aloud. Pick the three that match the client's stated priorities.</a:t>
            </a:r>
          </a:p>
          <a:p/>
          <a:p>
            <a:r>
              <a:t>For cost-pressured organisations: financial, operational efficiency and predictability.</a:t>
            </a:r>
          </a:p>
          <a:p/>
          <a:p>
            <a:r>
              <a:t>For regulated or high-assurance organisations: risk reduction, governance and assurance, and decision quality.</a:t>
            </a:r>
          </a:p>
          <a:p/>
          <a:p>
            <a:r>
              <a:t>For organisations in the middle of a transformation: adoption and enablement, and scalability and continuity — because the constraint there is almost always skilled people, not licences.</a:t>
            </a:r>
          </a:p>
          <a:p/>
          <a:p>
            <a:r>
              <a:t>The honest note worth adding verbally: benefits 1–3 depend on us acting on findings; benefits 4–8 depend on us keeping the cadence. Neither is automatic.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Handle this slide honestly — it is where scepticism is highest and where over-claiming does the most damage.</a:t>
            </a:r>
          </a:p>
          <a:p/>
          <a:p>
            <a:r>
              <a:t>The correct framing is coexistence, not replacement. Now Support remains the home of incident management; Impact adds enhanced P1/P2 response targets (documented as 30/120 minutes for Guided and 15/60 for Total — verify), Developer Support, and the proactive layer.</a:t>
            </a:r>
          </a:p>
          <a:p/>
          <a:p>
            <a:r>
              <a:t>Read the “what Impact does not do” line aloud. It buys credibility for everything else on the slide, and it prevents the two most common client misapprehensions: that Impact replaces support, and that Impact will fix technical debt by itself.</a:t>
            </a:r>
          </a:p>
          <a:p/>
          <a:p>
            <a:r>
              <a:t>The most useful single sentence: support can tell us the platform is healthy today; Impact tells us whether the platform is delivering what the business paid for.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operational ask. Do not rush it.</a:t>
            </a:r>
          </a:p>
          <a:p/>
          <a:p>
            <a:r>
              <a:t>The single most important line for scheduling is the named contact administrator — the registration email goes to that person, and if they are not identified (and available), the whole sequence waits.</a:t>
            </a:r>
          </a:p>
          <a:p/>
          <a:p>
            <a:r>
              <a:t>The second is the Security item: OAuth 2.0 is preferred over Basic authentication, and the data-egress review should be scoped to the four moving components rather than the whole product. Doing that early prevents a late security stall.</a:t>
            </a:r>
          </a:p>
          <a:p/>
          <a:p>
            <a:r>
              <a:t>State the two limitations plainly: no domain separation, and restricted-environment unavailability including Australia IRAP-Protected. If either applies to us, we confirm the exact feature subset with the squad before design sign-off.</a:t>
            </a:r>
          </a:p>
          <a:p/>
          <a:p>
            <a:r>
              <a:t>The pre-implementation checklist with owners is in section 7.10 of the written brief — that is the artefact to take away from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1–8 are everything up to the point where the instance is scanning.</a:t>
            </a:r>
          </a:p>
          <a:p/>
          <a:p>
            <a:r>
              <a:t>Two sequencing traps worth calling out. First, Guided Setup steps lock — you cannot jump ahead, and marking a step complete prematurely hides a failure until much later in the sequence. Mark complete only on genuine success.</a:t>
            </a:r>
          </a:p>
          <a:p/>
          <a:p>
            <a:r>
              <a:t>Second, step 6 has a non-obvious sub-step that blocks most first installations: when the Scan Engine error banner appears, you must follow the sys_update_version link to the Tables page, open the Application Access tab, select Can read and update. Without that, scanning does not start.</a:t>
            </a:r>
          </a:p>
          <a:p/>
          <a:p>
            <a:r>
              <a:t>Step 8 timing: a first full scan can legitimately take hours on a large instance. Run it overnight in production and watch Scan Status rather than re-triggering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9–15 are the connection and value-enablement half.</a:t>
            </a:r>
          </a:p>
          <a:p/>
          <a:p>
            <a:r>
              <a:t>Step 9 has three data-quality requirements that cause most validation failures: the instance name must match the instance_name system property exactly, the URL must be exactly https://instancename.service-now.com with no www., no trailing slash and no path, and only one instance in the stack may be designated Production.</a:t>
            </a:r>
          </a:p>
          <a:p/>
          <a:p>
            <a:r>
              <a:t>Step 11 is where impatience is expensive. Every failed validation attempt contributes to the account lockout policy. If validation fails, fix the root cause first — do not retry blind. If the account does lock, remember that two flags must be cleared, locked_out and password_needs_reset; clearing only one is insufficient.</a:t>
            </a:r>
          </a:p>
          <a:p/>
          <a:p>
            <a:r>
              <a:t>Step 15 is the step people forget. Installing a data collection pack does not collect data — the jobs must be enabled. And objectives and outcomes should be agreed early, because Value Reports need at least two years of product data.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Foundations is roughly the first 90–120 days and its job is to get the loop running end to end and produce a first credible read-out.</a:t>
            </a:r>
          </a:p>
          <a:p/>
          <a:p>
            <a:r>
              <a:t>Two things to emphasise. First, the ordering is deliberate: connection and scans before value reporting, because the value layer needs data to accumulate. Second, the milestone that matters most is at week 12 — not “everything installed” but “findings owned, outcomes baselined, roadmap published, reviews in diaries”.</a:t>
            </a:r>
          </a:p>
          <a:p/>
          <a:p>
            <a:r>
              <a:t>The most commonly skipped item is the last exit criterion: calendarising the reviews. Programs that do not calendarise the cadence quietly stop using the product within two quarters.</a:t>
            </a:r>
          </a:p>
          <a:p/>
          <a:p>
            <a:r>
              <a:t>Useful framing for the sponsor: by day 90 we should be able to show the health baseline and the first outcome trends, even though a full value report needs considerably more data history.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Steady State is a repeating cadence, not a project phase — this slide is the operating contract.</a:t>
            </a:r>
          </a:p>
          <a:p/>
          <a:p>
            <a:r>
              <a:t>The two meetings that carry the most weight are the monthly operational and health review (which keeps technical work moving) and the quarterly executive review (which keeps sponsorship alive). If only one can be protected, protect the quarterly executive review.</a:t>
            </a:r>
          </a:p>
          <a:p/>
          <a:p>
            <a:r>
              <a:t>Note the practical detail on health assessment reporting: reports typically arrive around two weeks after the assessment, so plan the review meeting accordingly rather than expecting same-week output.</a:t>
            </a:r>
          </a:p>
          <a:p/>
          <a:p>
            <a:r>
              <a:t>Also note what is explicitly not ServiceNow's responsibility: implementation and management of the Monthly Health Assessment sits with us. Budget internal ownership for it rather than assuming the squad runs it end to end.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integrity slide, and it is worth its place in the deck.</a:t>
            </a:r>
          </a:p>
          <a:p/>
          <a:p>
            <a:r>
              <a:t>The single most common source of client disappointment in Impact programs is assuming a capability is included when it is entitlement-dependent. Going through this list openly — and committing to confirm each item against the contract — is what prevents that.</a:t>
            </a:r>
          </a:p>
          <a:p/>
          <a:p>
            <a:r>
              <a:t>Three items deserve specific mention. Domain separation is simply not supported, so if our design assumes it, we need a different design. Restricted-environment availability matters directly for Australian government and defence-adjacent estates. And Value Reports need at least two years of data — that is an argument for starting now, not a reason to defer.</a:t>
            </a:r>
          </a:p>
          <a:p/>
          <a:p>
            <a:r>
              <a:t>The message to land: everything on this slide is a question we will answer in writing before we commit to a plan.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specific, ownable ask rather than a summary.</a:t>
            </a:r>
          </a:p>
          <a:p/>
          <a:p>
            <a:r>
              <a:t>These six items map directly onto the prerequisites and activation sequence, and each one has a named owner in the pre-implementation checklist (section 7.10 of the written brief).</a:t>
            </a:r>
          </a:p>
          <a:p/>
          <a:p>
            <a:r>
              <a:t>If the client can only commit to some of them, the two that matter most for schedule are items 2 and 4: naming the contact administrator, and booking the first scan's cutover window. Everything else can follow, but those two gate the start.</a:t>
            </a:r>
          </a:p>
          <a:p/>
          <a:p>
            <a:r>
              <a:t>Offer the written brief and the pre-implementation checklist as the take-away, and propose the follow-up session as the entitlement confirmation rather than a general review.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slide; keep it to the five sentences.</a:t>
            </a:r>
          </a:p>
          <a:p/>
          <a:p>
            <a:r>
              <a:t>If the audience remembers nothing else: Impact is a measurement and expert-capacity layer, its value is demonstrated through artefacts rather than assertions, and it requires foundational work from us before it can deliver anything.</a:t>
            </a:r>
          </a:p>
          <a:p/>
          <a:p>
            <a:r>
              <a:t>Invite the two questions that usually decide the next step: “what exactly is in our package?” and “who owns the activation sequence internally?” Both are answered in the written brief.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do not present it line by line. It exists so the deck is self-contained when it is circulated without a presenter.</a:t>
            </a:r>
          </a:p>
          <a:p/>
          <a:p>
            <a:r>
              <a:t>If a question arises mid-session on terminology, this is the place to jump to. The three terms most often confused are Impact Store Application (in our instance) versus Impact Delivery Instance (ServiceNow-hosted), Accelerator versus Initiative, and concurrency.</a:t>
            </a:r>
          </a:p>
          <a:p/>
          <a:p>
            <a:r>
              <a:t>One terminology warning worth stating if “Success Plans” comes up: that name belongs to ServiceNow's separate Customer Success Management product, not Impact. Inside Impact the planning constructs are the Customer Impact Plan, Product Adoption Roadmaps and objectives/outcomes.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Anticipated-question slide for the Q&amp;A and for circulation.</a:t>
            </a:r>
          </a:p>
          <a:p/>
          <a:p>
            <a:r>
              <a:t>The three questions that decide whether a program proceeds are usually the first three: does it replace support, will it fix our debt, and when do we see ROI. Each answer here is deliberately calibrated to under-promise rather than over-claim.</a:t>
            </a:r>
          </a:p>
          <a:p/>
          <a:p>
            <a:r>
              <a:t>The data-egress question will come from security, and the domain-separation and IRAP questions from architecture or risk. Having them answered in the deck saves a follow-up session.</a:t>
            </a:r>
          </a:p>
          <a:p/>
          <a:p>
            <a:r>
              <a:t>Anything not answered here is addressed in the written brief, which carries the full source-topic list in Appendix 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2926080"/>
          </a:xfrm>
          <a:prstGeom prst="rect">
            <a:avLst/>
          </a:prstGeom>
          <a:noFill/>
        </p:spPr>
        <p:txBody>
          <a:bodyPr wrap="square">
            <a:spAutoFit/>
          </a:bodyPr>
          <a:lstStyle/>
          <a:p>
            <a:pPr>
              <a:defRPr sz="5400" b="1">
                <a:solidFill>
                  <a:srgbClr val="FFFFFF"/>
                </a:solidFill>
              </a:defRPr>
            </a:pPr>
            <a:r>
              <a:t>ServiceNow Impact</a:t>
            </a:r>
          </a:p>
          <a:p>
            <a:pPr>
              <a:defRPr sz="2000">
                <a:solidFill>
                  <a:srgbClr val="03754D"/>
                </a:solidFill>
              </a:defRPr>
            </a:pPr>
            <a:r>
              <a:t>Application overview, business case and activation — Australia release</a:t>
            </a:r>
          </a:p>
          <a:p>
            <a:pPr>
              <a:spcBef>
                <a:spcPts val="600"/>
              </a:spcBef>
              <a:defRPr sz="1300">
                <a:solidFill>
                  <a:srgbClr val="C9D6E2"/>
                </a:solidFill>
              </a:defRPr>
            </a:pPr>
            <a:r>
              <a:t>Prepared from official ServiceNow Australia-release Impact documentation</a:t>
            </a:r>
          </a:p>
          <a:p>
            <a:pPr>
              <a:spcBef>
                <a:spcPts val="600"/>
              </a:spcBef>
              <a:defRPr sz="1300">
                <a:solidFill>
                  <a:srgbClr val="C9D6E2"/>
                </a:solidFill>
              </a:defRPr>
            </a:pPr>
            <a:r>
              <a:t>Audience: executive sponsors, IT leadership, platform owners and architects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Agenda</a:t>
            </a:r>
          </a:p>
          <a:p>
            <a:pPr>
              <a:defRPr sz="1200">
                <a:solidFill>
                  <a:srgbClr val="C9D6E2"/>
                </a:solidFill>
              </a:defRPr>
            </a:pPr>
            <a:r>
              <a:t>Eight questions this briefing answers</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1. What ServiceNow Impact actually is — and what it is not</a:t>
            </a:r>
          </a:p>
          <a:p>
            <a:pPr>
              <a:spcAft>
                <a:spcPts val="753"/>
              </a:spcAft>
              <a:defRPr sz="1400" b="0">
                <a:solidFill>
                  <a:srgbClr val="03213F"/>
                </a:solidFill>
              </a:defRPr>
            </a:pPr>
            <a:r>
              <a:t>2. Why ServiceNow built it, and which problems it solves</a:t>
            </a:r>
          </a:p>
          <a:p>
            <a:pPr>
              <a:spcAft>
                <a:spcPts val="753"/>
              </a:spcAft>
              <a:defRPr sz="1400" b="0">
                <a:solidFill>
                  <a:srgbClr val="03213F"/>
                </a:solidFill>
              </a:defRPr>
            </a:pPr>
            <a:r>
              <a:t>3. The architecture: what sits where, and what data moves</a:t>
            </a:r>
          </a:p>
          <a:p>
            <a:pPr>
              <a:spcAft>
                <a:spcPts val="753"/>
              </a:spcAft>
              <a:defRPr sz="1400" b="0">
                <a:solidFill>
                  <a:srgbClr val="03213F"/>
                </a:solidFill>
              </a:defRPr>
            </a:pPr>
            <a:r>
              <a:t>4. The feature catalogue by pillar</a:t>
            </a:r>
          </a:p>
          <a:p>
            <a:pPr>
              <a:spcAft>
                <a:spcPts val="753"/>
              </a:spcAft>
              <a:defRPr sz="1400" b="0">
                <a:solidFill>
                  <a:srgbClr val="03213F"/>
                </a:solidFill>
              </a:defRPr>
            </a:pPr>
            <a:r>
              <a:t>5. What it looks like in practice — worked client scenarios</a:t>
            </a:r>
          </a:p>
          <a:p>
            <a:pPr>
              <a:spcAft>
                <a:spcPts val="753"/>
              </a:spcAft>
              <a:defRPr sz="1400" b="0">
                <a:solidFill>
                  <a:srgbClr val="03213F"/>
                </a:solidFill>
              </a:defRPr>
            </a:pPr>
            <a:r>
              <a:t>6. Business benefits, by stakeholder and by category</a:t>
            </a:r>
          </a:p>
          <a:p>
            <a:pPr>
              <a:spcAft>
                <a:spcPts val="753"/>
              </a:spcAft>
              <a:defRPr sz="1400" b="0">
                <a:solidFill>
                  <a:srgbClr val="03213F"/>
                </a:solidFill>
              </a:defRPr>
            </a:pPr>
            <a:r>
              <a:t>7. How it differs from traditional support</a:t>
            </a:r>
          </a:p>
          <a:p>
            <a:pPr>
              <a:spcAft>
                <a:spcPts val="753"/>
              </a:spcAft>
              <a:defRPr sz="1400" b="0">
                <a:solidFill>
                  <a:srgbClr val="03213F"/>
                </a:solidFill>
              </a:defRPr>
            </a:pPr>
            <a:r>
              <a:t>8. Prerequisites, activation steps and the first 90 days</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Executive summary</a:t>
            </a:r>
          </a:p>
          <a:p>
            <a:pPr>
              <a:defRPr sz="1200">
                <a:solidFill>
                  <a:srgbClr val="C9D6E2"/>
                </a:solidFill>
              </a:defRPr>
            </a:pPr>
            <a:r>
              <a:t>Three things to remember about ServiceNow Impact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97280"/>
            <a:ext cx="3535680" cy="246888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1 · Prove value</a:t>
            </a:r>
          </a:p>
          <a:p>
            <a:pPr algn="ctr">
              <a:defRPr sz="1200">
                <a:solidFill>
                  <a:srgbClr val="FFFFFF"/>
                </a:solidFill>
              </a:defRPr>
            </a:pPr>
            <a:r>
              <a:t>Objectives → outcomes → success metrics → benchmarks → monetised Value Reports with visible assumptions.</a:t>
            </a:r>
          </a:p>
        </p:txBody>
      </p:sp>
      <p:sp>
        <p:nvSpPr>
          <p:cNvPr id="5" name="Rounded Rectangle 4"/>
          <p:cNvSpPr/>
          <p:nvPr/>
        </p:nvSpPr>
        <p:spPr>
          <a:xfrm>
            <a:off x="4312920" y="1097280"/>
            <a:ext cx="3535680" cy="246888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2 · Know your health</a:t>
            </a:r>
          </a:p>
          <a:p>
            <a:pPr algn="ctr">
              <a:defRPr sz="1200">
                <a:solidFill>
                  <a:srgbClr val="FFFFFF"/>
                </a:solidFill>
              </a:defRPr>
            </a:pPr>
            <a:r>
              <a:t>HealthScan across manageability, performance, security, upgradeability and user experience; Scan Engine findings with real-time prevention and AI fixes; off-instance monitoring in Instance Observer.</a:t>
            </a:r>
          </a:p>
        </p:txBody>
      </p:sp>
      <p:sp>
        <p:nvSpPr>
          <p:cNvPr id="6" name="Rounded Rectangle 5"/>
          <p:cNvSpPr/>
          <p:nvPr/>
        </p:nvSpPr>
        <p:spPr>
          <a:xfrm>
            <a:off x="8077200" y="1097280"/>
            <a:ext cx="3535680" cy="246888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3 · Plan and execute</a:t>
            </a:r>
          </a:p>
          <a:p>
            <a:pPr algn="ctr">
              <a:defRPr sz="1200">
                <a:solidFill>
                  <a:srgbClr val="FFFFFF"/>
                </a:solidFill>
              </a:defRPr>
            </a:pPr>
            <a:r>
              <a:t>Capability maps show what you own and use; Product Adoption Roadmaps sequence what comes next; Accelerators supply fixed-scope expert capacity.</a:t>
            </a:r>
          </a:p>
        </p:txBody>
      </p:sp>
      <p:sp>
        <p:nvSpPr>
          <p:cNvPr id="7" name="TextBox 6"/>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1. What ServiceNow Impact is</a:t>
            </a:r>
          </a:p>
          <a:p>
            <a:pPr>
              <a:defRPr sz="1200">
                <a:solidFill>
                  <a:srgbClr val="C9D6E2"/>
                </a:solidFill>
              </a:defRPr>
            </a:pPr>
            <a:r>
              <a:t>A premium customer success product — not a normal application</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Impact is a subscription-based customer success product that combines AI-powered tools with hands-on ServiceNow expertise.</a:t>
            </a:r>
          </a:p>
          <a:p>
            <a:pPr>
              <a:spcAft>
                <a:spcPts val="753"/>
              </a:spcAft>
              <a:defRPr sz="1400" b="1">
                <a:solidFill>
                  <a:srgbClr val="03213F"/>
                </a:solidFill>
              </a:defRPr>
            </a:pPr>
            <a:r>
              <a:t>It is delivered in three parts:</a:t>
            </a:r>
          </a:p>
          <a:p>
            <a:pPr lvl="1">
              <a:spcAft>
                <a:spcPts val="753"/>
              </a:spcAft>
              <a:defRPr sz="1200" b="0">
                <a:solidFill>
                  <a:srgbClr val="5C6B7A"/>
                </a:solidFill>
              </a:defRPr>
            </a:pPr>
            <a:r>
              <a:t>A digital workspace inside our own instance — the Impact Store Application</a:t>
            </a:r>
          </a:p>
          <a:p>
            <a:pPr lvl="1">
              <a:spcAft>
                <a:spcPts val="753"/>
              </a:spcAft>
              <a:defRPr sz="1200" b="0">
                <a:solidFill>
                  <a:srgbClr val="5C6B7A"/>
                </a:solidFill>
              </a:defRPr>
            </a:pPr>
            <a:r>
              <a:t>A ServiceNow-hosted expert space — the Impact Delivery Instance (IDI)</a:t>
            </a:r>
          </a:p>
          <a:p>
            <a:pPr lvl="1">
              <a:spcAft>
                <a:spcPts val="753"/>
              </a:spcAft>
              <a:defRPr sz="1200" b="0">
                <a:solidFill>
                  <a:srgbClr val="5C6B7A"/>
                </a:solidFill>
              </a:defRPr>
            </a:pPr>
            <a:r>
              <a:t>Human expertise and service entitlements — the Impact Squad, Developer Support, learning credits and Accelerators</a:t>
            </a:r>
          </a:p>
          <a:p>
            <a:pPr>
              <a:spcAft>
                <a:spcPts val="753"/>
              </a:spcAft>
              <a:defRPr sz="1400" b="0">
                <a:solidFill>
                  <a:srgbClr val="03213F"/>
                </a:solidFill>
              </a:defRPr>
            </a:pPr>
            <a:r>
              <a:t>Stated core functions: plan implementation, track product adoption, maintain platform health, resolve platform issues, access expert support.</a:t>
            </a:r>
          </a:p>
          <a:p>
            <a:pPr>
              <a:spcAft>
                <a:spcPts val="753"/>
              </a:spcAft>
              <a:defRPr sz="1400" b="0">
                <a:solidFill>
                  <a:srgbClr val="03213F"/>
                </a:solidFill>
              </a:defRPr>
            </a:pPr>
            <a:r>
              <a:t>From Yokohama onward the Impact Store Application is the exclusive hub for new Impact features — the IDI does not receive new features.</a:t>
            </a:r>
          </a:p>
          <a:p>
            <a:pPr>
              <a:spcAft>
                <a:spcPts val="753"/>
              </a:spcAft>
              <a:defRPr sz="1400" b="0">
                <a:solidFill>
                  <a:srgbClr val="03213F"/>
                </a:solidFill>
              </a:defRPr>
            </a:pPr>
            <a:r>
              <a:t>It does not replace platform administration, change control or Now Support case handling.</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Why it exists and what it solves</a:t>
            </a:r>
          </a:p>
          <a:p>
            <a:pPr>
              <a:defRPr sz="1200">
                <a:solidFill>
                  <a:srgbClr val="C9D6E2"/>
                </a:solidFill>
              </a:defRPr>
            </a:pPr>
            <a:r>
              <a:t>From ticket resolution to value realisation</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51560"/>
            <a:ext cx="11064240" cy="91440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The shift</a:t>
            </a:r>
          </a:p>
          <a:p>
            <a:pPr algn="ctr">
              <a:defRPr sz="1200">
                <a:solidFill>
                  <a:srgbClr val="FFFFFF"/>
                </a:solidFill>
              </a:defRPr>
            </a:pPr>
            <a:r>
              <a:t>Ticket-based support answers “something is broken”. Impact answers “are we getting value, is it healthy, and what next?”</a:t>
            </a:r>
          </a:p>
        </p:txBody>
      </p:sp>
      <p:graphicFrame>
        <p:nvGraphicFramePr>
          <p:cNvPr id="5" name="Table 4"/>
          <p:cNvGraphicFramePr>
            <a:graphicFrameLocks noGrp="1"/>
          </p:cNvGraphicFramePr>
          <p:nvPr/>
        </p:nvGraphicFramePr>
        <p:xfrm>
          <a:off x="548640" y="2148839"/>
          <a:ext cx="11064240" cy="3131813"/>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Client problem</a:t>
                      </a:r>
                    </a:p>
                  </a:txBody>
                  <a:tcPr marL="54864" marR="54864" marT="27432" marB="27432" anchor="ctr">
                    <a:solidFill>
                      <a:srgbClr val="1F4E79"/>
                    </a:solidFill>
                  </a:tcPr>
                </a:tc>
                <a:tc>
                  <a:txBody>
                    <a:bodyPr/>
                    <a:lstStyle/>
                    <a:p>
                      <a:pPr>
                        <a:defRPr sz="1000" b="1">
                          <a:solidFill>
                            <a:srgbClr val="FFFFFF"/>
                          </a:solidFill>
                        </a:defRPr>
                      </a:pPr>
                      <a:r>
                        <a:t>What Impact provides</a:t>
                      </a:r>
                    </a:p>
                  </a:txBody>
                  <a:tcPr marL="54864" marR="54864" marT="27432" marB="27432" anchor="ctr">
                    <a:solidFill>
                      <a:srgbClr val="1F4E79"/>
                    </a:solidFill>
                  </a:tcPr>
                </a:tc>
                <a:tc>
                  <a:txBody>
                    <a:bodyPr/>
                    <a:lstStyle/>
                    <a:p>
                      <a:pPr>
                        <a:defRPr sz="1000" b="1">
                          <a:solidFill>
                            <a:srgbClr val="FFFFFF"/>
                          </a:solidFill>
                        </a:defRPr>
                      </a:pPr>
                      <a:r>
                        <a:t>Where it lives</a:t>
                      </a:r>
                    </a:p>
                  </a:txBody>
                  <a:tcPr marL="54864" marR="54864" marT="27432" marB="27432" anchor="ctr">
                    <a:solidFill>
                      <a:srgbClr val="1F4E79"/>
                    </a:solidFill>
                  </a:tcPr>
                </a:tc>
              </a:tr>
              <a:tr h="411479">
                <a:tc>
                  <a:txBody>
                    <a:bodyPr/>
                    <a:lstStyle/>
                    <a:p>
                      <a:pPr>
                        <a:defRPr sz="1000">
                          <a:solidFill>
                            <a:srgbClr val="03213F"/>
                          </a:solidFill>
                        </a:defRPr>
                      </a:pPr>
                      <a:r>
                        <a:t>Cannot prove the value of the investment</a:t>
                      </a:r>
                    </a:p>
                  </a:txBody>
                  <a:tcPr marL="54864" marR="54864" marT="27432" marB="27432" anchor="ctr">
                    <a:solidFill>
                      <a:srgbClr val="FFFFFF"/>
                    </a:solidFill>
                  </a:tcPr>
                </a:tc>
                <a:tc>
                  <a:txBody>
                    <a:bodyPr/>
                    <a:lstStyle/>
                    <a:p>
                      <a:pPr>
                        <a:defRPr sz="1000">
                          <a:solidFill>
                            <a:srgbClr val="03213F"/>
                          </a:solidFill>
                        </a:defRPr>
                      </a:pPr>
                      <a:r>
                        <a:t>Objectives → measurable outcomes → benchmark/goal trend → monetised Value Reports</a:t>
                      </a:r>
                    </a:p>
                  </a:txBody>
                  <a:tcPr marL="54864" marR="54864" marT="27432" marB="27432" anchor="ctr">
                    <a:solidFill>
                      <a:srgbClr val="FFFFFF"/>
                    </a:solidFill>
                  </a:tcPr>
                </a:tc>
                <a:tc>
                  <a:txBody>
                    <a:bodyPr/>
                    <a:lstStyle/>
                    <a:p>
                      <a:pPr>
                        <a:defRPr sz="1000">
                          <a:solidFill>
                            <a:srgbClr val="03213F"/>
                          </a:solidFill>
                        </a:defRPr>
                      </a:pPr>
                      <a:r>
                        <a:t>Value Management</a:t>
                      </a:r>
                    </a:p>
                  </a:txBody>
                  <a:tcPr marL="54864" marR="54864" marT="27432" marB="27432" anchor="ctr">
                    <a:solidFill>
                      <a:srgbClr val="FFFFFF"/>
                    </a:solidFill>
                  </a:tcPr>
                </a:tc>
              </a:tr>
              <a:tr h="411479">
                <a:tc>
                  <a:txBody>
                    <a:bodyPr/>
                    <a:lstStyle/>
                    <a:p>
                      <a:pPr>
                        <a:defRPr sz="1000">
                          <a:solidFill>
                            <a:srgbClr val="03213F"/>
                          </a:solidFill>
                        </a:defRPr>
                      </a:pPr>
                      <a:r>
                        <a:t>Bought modules nobody uses</a:t>
                      </a:r>
                    </a:p>
                  </a:txBody>
                  <a:tcPr marL="54864" marR="54864" marT="27432" marB="27432" anchor="ctr">
                    <a:solidFill>
                      <a:srgbClr val="F2F4F7"/>
                    </a:solidFill>
                  </a:tcPr>
                </a:tc>
                <a:tc>
                  <a:txBody>
                    <a:bodyPr/>
                    <a:lstStyle/>
                    <a:p>
                      <a:pPr>
                        <a:defRPr sz="1000">
                          <a:solidFill>
                            <a:srgbClr val="03213F"/>
                          </a:solidFill>
                        </a:defRPr>
                      </a:pPr>
                      <a:r>
                        <a:t>Capability Maps, Product Adoption Roadmaps, entitlement visibility</a:t>
                      </a:r>
                    </a:p>
                  </a:txBody>
                  <a:tcPr marL="54864" marR="54864" marT="27432" marB="27432" anchor="ctr">
                    <a:solidFill>
                      <a:srgbClr val="F2F4F7"/>
                    </a:solidFill>
                  </a:tcPr>
                </a:tc>
                <a:tc>
                  <a:txBody>
                    <a:bodyPr/>
                    <a:lstStyle/>
                    <a:p>
                      <a:pPr>
                        <a:defRPr sz="1000">
                          <a:solidFill>
                            <a:srgbClr val="03213F"/>
                          </a:solidFill>
                        </a:defRPr>
                      </a:pPr>
                      <a:r>
                        <a:t>Product Adoption</a:t>
                      </a:r>
                    </a:p>
                  </a:txBody>
                  <a:tcPr marL="54864" marR="54864" marT="27432" marB="27432" anchor="ctr">
                    <a:solidFill>
                      <a:srgbClr val="F2F4F7"/>
                    </a:solidFill>
                  </a:tcPr>
                </a:tc>
              </a:tr>
              <a:tr h="411479">
                <a:tc>
                  <a:txBody>
                    <a:bodyPr/>
                    <a:lstStyle/>
                    <a:p>
                      <a:pPr>
                        <a:defRPr sz="1000">
                          <a:solidFill>
                            <a:srgbClr val="03213F"/>
                          </a:solidFill>
                        </a:defRPr>
                      </a:pPr>
                      <a:r>
                        <a:t>Hidden technical debt</a:t>
                      </a:r>
                    </a:p>
                  </a:txBody>
                  <a:tcPr marL="54864" marR="54864" marT="27432" marB="27432" anchor="ctr">
                    <a:solidFill>
                      <a:srgbClr val="FFFFFF"/>
                    </a:solidFill>
                  </a:tcPr>
                </a:tc>
                <a:tc>
                  <a:txBody>
                    <a:bodyPr/>
                    <a:lstStyle/>
                    <a:p>
                      <a:pPr>
                        <a:defRPr sz="1000">
                          <a:solidFill>
                            <a:srgbClr val="03213F"/>
                          </a:solidFill>
                        </a:defRPr>
                      </a:pPr>
                      <a:r>
                        <a:t>HealthScan definitions, Scan Engine findings, Real-Time Prevention, AI fixes</a:t>
                      </a:r>
                    </a:p>
                  </a:txBody>
                  <a:tcPr marL="54864" marR="54864" marT="27432" marB="27432" anchor="ctr">
                    <a:solidFill>
                      <a:srgbClr val="FFFFFF"/>
                    </a:solidFill>
                  </a:tcPr>
                </a:tc>
                <a:tc>
                  <a:txBody>
                    <a:bodyPr/>
                    <a:lstStyle/>
                    <a:p>
                      <a:pPr>
                        <a:defRPr sz="1000">
                          <a:solidFill>
                            <a:srgbClr val="03213F"/>
                          </a:solidFill>
                        </a:defRPr>
                      </a:pPr>
                      <a:r>
                        <a:t>Platform Health</a:t>
                      </a:r>
                    </a:p>
                  </a:txBody>
                  <a:tcPr marL="54864" marR="54864" marT="27432" marB="27432" anchor="ctr">
                    <a:solidFill>
                      <a:srgbClr val="FFFFFF"/>
                    </a:solidFill>
                  </a:tcPr>
                </a:tc>
              </a:tr>
              <a:tr h="411479">
                <a:tc>
                  <a:txBody>
                    <a:bodyPr/>
                    <a:lstStyle/>
                    <a:p>
                      <a:pPr>
                        <a:defRPr sz="1000">
                          <a:solidFill>
                            <a:srgbClr val="03213F"/>
                          </a:solidFill>
                        </a:defRPr>
                      </a:pPr>
                      <a:r>
                        <a:t>Problems only found at upgrade time</a:t>
                      </a:r>
                    </a:p>
                  </a:txBody>
                  <a:tcPr marL="54864" marR="54864" marT="27432" marB="27432" anchor="ctr">
                    <a:solidFill>
                      <a:srgbClr val="F2F4F7"/>
                    </a:solidFill>
                  </a:tcPr>
                </a:tc>
                <a:tc>
                  <a:txBody>
                    <a:bodyPr/>
                    <a:lstStyle/>
                    <a:p>
                      <a:pPr>
                        <a:defRPr sz="1000">
                          <a:solidFill>
                            <a:srgbClr val="03213F"/>
                          </a:solidFill>
                        </a:defRPr>
                      </a:pPr>
                      <a:r>
                        <a:t>Upgrade readiness, update-set scanning, Proactive Code Check</a:t>
                      </a:r>
                    </a:p>
                  </a:txBody>
                  <a:tcPr marL="54864" marR="54864" marT="27432" marB="27432" anchor="ctr">
                    <a:solidFill>
                      <a:srgbClr val="F2F4F7"/>
                    </a:solidFill>
                  </a:tcPr>
                </a:tc>
                <a:tc>
                  <a:txBody>
                    <a:bodyPr/>
                    <a:lstStyle/>
                    <a:p>
                      <a:pPr>
                        <a:defRPr sz="1000">
                          <a:solidFill>
                            <a:srgbClr val="03213F"/>
                          </a:solidFill>
                        </a:defRPr>
                      </a:pPr>
                      <a:r>
                        <a:t>Platform Health</a:t>
                      </a:r>
                    </a:p>
                  </a:txBody>
                  <a:tcPr marL="54864" marR="54864" marT="27432" marB="27432" anchor="ctr">
                    <a:solidFill>
                      <a:srgbClr val="F2F4F7"/>
                    </a:solidFill>
                  </a:tcPr>
                </a:tc>
              </a:tr>
              <a:tr h="411479">
                <a:tc>
                  <a:txBody>
                    <a:bodyPr/>
                    <a:lstStyle/>
                    <a:p>
                      <a:pPr>
                        <a:defRPr sz="1000">
                          <a:solidFill>
                            <a:srgbClr val="03213F"/>
                          </a:solidFill>
                        </a:defRPr>
                      </a:pPr>
                      <a:r>
                        <a:t>Performance found by users, not us</a:t>
                      </a:r>
                    </a:p>
                  </a:txBody>
                  <a:tcPr marL="54864" marR="54864" marT="27432" marB="27432" anchor="ctr">
                    <a:solidFill>
                      <a:srgbClr val="FFFFFF"/>
                    </a:solidFill>
                  </a:tcPr>
                </a:tc>
                <a:tc>
                  <a:txBody>
                    <a:bodyPr/>
                    <a:lstStyle/>
                    <a:p>
                      <a:pPr>
                        <a:defRPr sz="1000">
                          <a:solidFill>
                            <a:srgbClr val="03213F"/>
                          </a:solidFill>
                        </a:defRPr>
                      </a:pPr>
                      <a:r>
                        <a:t>Off-instance monitoring, alerts, triage, root-cause correlation</a:t>
                      </a:r>
                    </a:p>
                  </a:txBody>
                  <a:tcPr marL="54864" marR="54864" marT="27432" marB="27432" anchor="ctr">
                    <a:solidFill>
                      <a:srgbClr val="FFFFFF"/>
                    </a:solidFill>
                  </a:tcPr>
                </a:tc>
                <a:tc>
                  <a:txBody>
                    <a:bodyPr/>
                    <a:lstStyle/>
                    <a:p>
                      <a:pPr>
                        <a:defRPr sz="1000">
                          <a:solidFill>
                            <a:srgbClr val="03213F"/>
                          </a:solidFill>
                        </a:defRPr>
                      </a:pPr>
                      <a:r>
                        <a:t>Instance Observer</a:t>
                      </a:r>
                    </a:p>
                  </a:txBody>
                  <a:tcPr marL="54864" marR="54864" marT="27432" marB="27432" anchor="ctr">
                    <a:solidFill>
                      <a:srgbClr val="FFFFFF"/>
                    </a:solidFill>
                  </a:tcPr>
                </a:tc>
              </a:tr>
              <a:tr h="411479">
                <a:tc>
                  <a:txBody>
                    <a:bodyPr/>
                    <a:lstStyle/>
                    <a:p>
                      <a:pPr>
                        <a:defRPr sz="1000">
                          <a:solidFill>
                            <a:srgbClr val="03213F"/>
                          </a:solidFill>
                        </a:defRPr>
                      </a:pPr>
                      <a:r>
                        <a:t>'What should we do next?'</a:t>
                      </a:r>
                    </a:p>
                  </a:txBody>
                  <a:tcPr marL="54864" marR="54864" marT="27432" marB="27432" anchor="ctr">
                    <a:solidFill>
                      <a:srgbClr val="F2F4F7"/>
                    </a:solidFill>
                  </a:tcPr>
                </a:tc>
                <a:tc>
                  <a:txBody>
                    <a:bodyPr/>
                    <a:lstStyle/>
                    <a:p>
                      <a:pPr>
                        <a:defRPr sz="1000">
                          <a:solidFill>
                            <a:srgbClr val="03213F"/>
                          </a:solidFill>
                        </a:defRPr>
                      </a:pPr>
                      <a:r>
                        <a:t>Recommendation engine, squad guidance, roadmaps, Accelerators</a:t>
                      </a:r>
                    </a:p>
                  </a:txBody>
                  <a:tcPr marL="54864" marR="54864" marT="27432" marB="27432" anchor="ctr">
                    <a:solidFill>
                      <a:srgbClr val="F2F4F7"/>
                    </a:solidFill>
                  </a:tcPr>
                </a:tc>
                <a:tc>
                  <a:txBody>
                    <a:bodyPr/>
                    <a:lstStyle/>
                    <a:p>
                      <a:pPr>
                        <a:defRPr sz="1000">
                          <a:solidFill>
                            <a:srgbClr val="03213F"/>
                          </a:solidFill>
                        </a:defRPr>
                      </a:pPr>
                      <a:r>
                        <a:t>Impact home / IDI</a:t>
                      </a:r>
                    </a:p>
                  </a:txBody>
                  <a:tcPr marL="54864" marR="54864" marT="27432" marB="27432" anchor="ctr">
                    <a:solidFill>
                      <a:srgbClr val="F2F4F7"/>
                    </a:solidFill>
                  </a:tcPr>
                </a:tc>
              </a:tr>
              <a:tr h="411479">
                <a:tc>
                  <a:txBody>
                    <a:bodyPr/>
                    <a:lstStyle/>
                    <a:p>
                      <a:pPr>
                        <a:defRPr sz="1000">
                          <a:solidFill>
                            <a:srgbClr val="03213F"/>
                          </a:solidFill>
                        </a:defRPr>
                      </a:pPr>
                      <a:r>
                        <a:t>Expert capacity is the bottleneck</a:t>
                      </a:r>
                    </a:p>
                  </a:txBody>
                  <a:tcPr marL="54864" marR="54864" marT="27432" marB="27432" anchor="ctr">
                    <a:solidFill>
                      <a:srgbClr val="FFFFFF"/>
                    </a:solidFill>
                  </a:tcPr>
                </a:tc>
                <a:tc>
                  <a:txBody>
                    <a:bodyPr/>
                    <a:lstStyle/>
                    <a:p>
                      <a:pPr>
                        <a:defRPr sz="1000">
                          <a:solidFill>
                            <a:srgbClr val="03213F"/>
                          </a:solidFill>
                        </a:defRPr>
                      </a:pPr>
                      <a:r>
                        <a:t>Developer Support, Accelerators, Initiatives, learning credits</a:t>
                      </a:r>
                    </a:p>
                  </a:txBody>
                  <a:tcPr marL="54864" marR="54864" marT="27432" marB="27432" anchor="ctr">
                    <a:solidFill>
                      <a:srgbClr val="FFFFFF"/>
                    </a:solidFill>
                  </a:tcPr>
                </a:tc>
                <a:tc>
                  <a:txBody>
                    <a:bodyPr/>
                    <a:lstStyle/>
                    <a:p>
                      <a:pPr>
                        <a:defRPr sz="1000">
                          <a:solidFill>
                            <a:srgbClr val="03213F"/>
                          </a:solidFill>
                        </a:defRPr>
                      </a:pPr>
                      <a:r>
                        <a:t>Experts &amp; learning</a:t>
                      </a:r>
                    </a:p>
                  </a:txBody>
                  <a:tcPr marL="54864" marR="54864" marT="27432" marB="27432" anchor="ctr">
                    <a:solidFill>
                      <a:srgbClr val="FFFFFF"/>
                    </a:solidFill>
                  </a:tcPr>
                </a:tc>
              </a:tr>
            </a:tbl>
          </a:graphicData>
        </a:graphic>
      </p:graphicFrame>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Where Impact fits on the platform</a:t>
            </a:r>
          </a:p>
          <a:p>
            <a:pPr>
              <a:defRPr sz="1200">
                <a:solidFill>
                  <a:srgbClr val="C9D6E2"/>
                </a:solidFill>
              </a:defRPr>
            </a:pPr>
            <a:r>
              <a:t>Around and above the AI Platform — it does not replace our processes</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97280"/>
            <a:ext cx="3535680" cy="2331720"/>
          </a:xfrm>
          <a:prstGeom prst="roundRect">
            <a:avLst/>
          </a:prstGeom>
          <a:solidFill>
            <a:srgbClr val="0321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Your instance</a:t>
            </a:r>
          </a:p>
          <a:p>
            <a:pPr algn="ctr">
              <a:defRPr sz="1200">
                <a:solidFill>
                  <a:srgbClr val="FFFFFF"/>
                </a:solidFill>
              </a:defRPr>
            </a:pPr>
            <a:r>
              <a:t>Impact Store Application · Platform Health · Value Management packs · Instance Observer telemetry</a:t>
            </a:r>
          </a:p>
        </p:txBody>
      </p:sp>
      <p:sp>
        <p:nvSpPr>
          <p:cNvPr id="5" name="Rounded Rectangle 4"/>
          <p:cNvSpPr/>
          <p:nvPr/>
        </p:nvSpPr>
        <p:spPr>
          <a:xfrm>
            <a:off x="4312920" y="1097280"/>
            <a:ext cx="353568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Service Bridge</a:t>
            </a:r>
          </a:p>
          <a:p>
            <a:pPr algn="ctr">
              <a:defRPr sz="1200">
                <a:solidFill>
                  <a:srgbClr val="FFFFFF"/>
                </a:solidFill>
              </a:defRPr>
            </a:pPr>
            <a:r>
              <a:t>Secure, bi-directional sync — status must read Active replication</a:t>
            </a:r>
          </a:p>
        </p:txBody>
      </p:sp>
      <p:sp>
        <p:nvSpPr>
          <p:cNvPr id="6" name="Rounded Rectangle 5"/>
          <p:cNvSpPr/>
          <p:nvPr/>
        </p:nvSpPr>
        <p:spPr>
          <a:xfrm>
            <a:off x="8077200" y="1097280"/>
            <a:ext cx="353568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Impact Delivery Instance</a:t>
            </a:r>
          </a:p>
          <a:p>
            <a:pPr algn="ctr">
              <a:defRPr sz="1200">
                <a:solidFill>
                  <a:srgbClr val="FFFFFF"/>
                </a:solidFill>
              </a:defRPr>
            </a:pPr>
            <a:r>
              <a:t>Impact Squad · Activity Center · catalogues · value reporting · training insights</a:t>
            </a:r>
          </a:p>
        </p:txBody>
      </p:sp>
      <p:sp>
        <p:nvSpPr>
          <p:cNvPr id="7" name="Rounded Rectangle 6"/>
          <p:cNvSpPr/>
          <p:nvPr/>
        </p:nvSpPr>
        <p:spPr>
          <a:xfrm>
            <a:off x="548640" y="3657600"/>
            <a:ext cx="3535680" cy="2331720"/>
          </a:xfrm>
          <a:prstGeom prst="roundRect">
            <a:avLst/>
          </a:prstGeom>
          <a:solidFill>
            <a:srgbClr val="0321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Now Support</a:t>
            </a:r>
          </a:p>
          <a:p>
            <a:pPr algn="ctr">
              <a:defRPr sz="1200">
                <a:solidFill>
                  <a:srgbClr val="FFFFFF"/>
                </a:solidFill>
              </a:defRPr>
            </a:pPr>
            <a:r>
              <a:t>Standard case handling stays here — Impact adds enhanced P1/P2 targets, Developer Support and proactive engagements</a:t>
            </a:r>
          </a:p>
        </p:txBody>
      </p:sp>
      <p:sp>
        <p:nvSpPr>
          <p:cNvPr id="8" name="Rounded Rectangle 7"/>
          <p:cNvSpPr/>
          <p:nvPr/>
        </p:nvSpPr>
        <p:spPr>
          <a:xfrm>
            <a:off x="4312920" y="3657600"/>
            <a:ext cx="353568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AI stack</a:t>
            </a:r>
          </a:p>
          <a:p>
            <a:pPr algn="ctr">
              <a:defRPr sz="1200">
                <a:solidFill>
                  <a:srgbClr val="FFFFFF"/>
                </a:solidFill>
              </a:defRPr>
            </a:pPr>
            <a:r>
              <a:t>Now Assist / ServiceNow Otto: outcome and consumption summaries, AI code fixes, GenAI root-cause analysis</a:t>
            </a:r>
          </a:p>
        </p:txBody>
      </p:sp>
      <p:sp>
        <p:nvSpPr>
          <p:cNvPr id="9" name="Rounded Rectangle 8"/>
          <p:cNvSpPr/>
          <p:nvPr/>
        </p:nvSpPr>
        <p:spPr>
          <a:xfrm>
            <a:off x="8077200" y="3657600"/>
            <a:ext cx="353568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Business outcomes</a:t>
            </a:r>
          </a:p>
          <a:p>
            <a:pPr algn="ctr">
              <a:defRPr sz="1200">
                <a:solidFill>
                  <a:srgbClr val="FFFFFF"/>
                </a:solidFill>
              </a:defRPr>
            </a:pPr>
            <a:r>
              <a:t>Adoption · Platform health · Performance &amp; availability · Value realised · Upgrade readiness</a:t>
            </a:r>
          </a:p>
        </p:txBody>
      </p:sp>
      <p:sp>
        <p:nvSpPr>
          <p:cNvPr id="10" name="TextBox 9"/>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2. Why ServiceNow introduced it</a:t>
            </a:r>
          </a:p>
          <a:p>
            <a:pPr>
              <a:defRPr sz="1200">
                <a:solidFill>
                  <a:srgbClr val="C9D6E2"/>
                </a:solidFill>
              </a:defRPr>
            </a:pPr>
            <a:r>
              <a:t>Five market drivers behind the product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The platform outgrew ticket-based support. Customers stopped asking only “something is broken, fix it” and started asking “are we using what we bought?”</a:t>
            </a:r>
          </a:p>
          <a:p>
            <a:pPr>
              <a:spcAft>
                <a:spcPts val="753"/>
              </a:spcAft>
              <a:defRPr sz="1400" b="0">
                <a:solidFill>
                  <a:srgbClr val="03213F"/>
                </a:solidFill>
              </a:defRPr>
            </a:pPr>
            <a:r>
              <a:t>Value realisation became a board-level question — finance wants ROI evidence, not anecdotes.</a:t>
            </a:r>
          </a:p>
          <a:p>
            <a:pPr>
              <a:spcAft>
                <a:spcPts val="753"/>
              </a:spcAft>
              <a:defRPr sz="1400" b="0">
                <a:solidFill>
                  <a:srgbClr val="03213F"/>
                </a:solidFill>
              </a:defRPr>
            </a:pPr>
            <a:r>
              <a:t>Technical debt accumulated silently — leading practices were never measured continuously.</a:t>
            </a:r>
          </a:p>
          <a:p>
            <a:pPr>
              <a:spcAft>
                <a:spcPts val="753"/>
              </a:spcAft>
              <a:defRPr sz="1400" b="0">
                <a:solidFill>
                  <a:srgbClr val="03213F"/>
                </a:solidFill>
              </a:defRPr>
            </a:pPr>
            <a:r>
              <a:t>Expert capacity is scarce — advice had to be packaged as fixed-scope delivery, not documents.</a:t>
            </a:r>
          </a:p>
          <a:p>
            <a:pPr>
              <a:spcAft>
                <a:spcPts val="753"/>
              </a:spcAft>
              <a:defRPr sz="1400" b="0">
                <a:solidFill>
                  <a:srgbClr val="03213F"/>
                </a:solidFill>
              </a:defRPr>
            </a:pPr>
            <a:r>
              <a:t>Upgrade fatigue is real — the causes of broken upgrades needed to be attacked before the upgrade window.</a:t>
            </a:r>
          </a:p>
          <a:p>
            <a:pPr>
              <a:spcAft>
                <a:spcPts val="753"/>
              </a:spcAft>
              <a:defRPr sz="1400" b="0">
                <a:solidFill>
                  <a:srgbClr val="03213F"/>
                </a:solidFill>
              </a:defRPr>
            </a:pPr>
            <a:r>
              <a:t>The product response is a closed loop: instrument → interpret → recommend → measure → repeat.</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3. Architecture — components at a glance</a:t>
            </a:r>
          </a:p>
          <a:p>
            <a:pPr>
              <a:defRPr sz="1200">
                <a:solidFill>
                  <a:srgbClr val="C9D6E2"/>
                </a:solidFill>
              </a:defRPr>
            </a:pPr>
            <a:r>
              <a:t>What sits where, and what moves data</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2495169"/>
        </p:xfrm>
        <a:graphic>
          <a:graphicData uri="http://schemas.openxmlformats.org/drawingml/2006/table">
            <a:tbl>
              <a:tblPr firstRow="1" bandRow="1">
                <a:tableStyleId>{5C22544A-7EE6-4342-B048-85BDC9FD1C3A}</a:tableStyleId>
              </a:tblPr>
              <a:tblGrid>
                <a:gridCol w="2766060"/>
                <a:gridCol w="2766060"/>
                <a:gridCol w="2766060"/>
                <a:gridCol w="2766060"/>
              </a:tblGrid>
              <a:tr h="243459">
                <a:tc>
                  <a:txBody>
                    <a:bodyPr/>
                    <a:lstStyle/>
                    <a:p>
                      <a:pPr>
                        <a:defRPr sz="950" b="1">
                          <a:solidFill>
                            <a:srgbClr val="FFFFFF"/>
                          </a:solidFill>
                        </a:defRPr>
                      </a:pPr>
                      <a:r>
                        <a:t>Layer</a:t>
                      </a:r>
                    </a:p>
                  </a:txBody>
                  <a:tcPr marL="54864" marR="54864" marT="27432" marB="27432" anchor="ctr">
                    <a:solidFill>
                      <a:srgbClr val="1F4E79"/>
                    </a:solidFill>
                  </a:tcPr>
                </a:tc>
                <a:tc>
                  <a:txBody>
                    <a:bodyPr/>
                    <a:lstStyle/>
                    <a:p>
                      <a:pPr>
                        <a:defRPr sz="950" b="1">
                          <a:solidFill>
                            <a:srgbClr val="FFFFFF"/>
                          </a:solidFill>
                        </a:defRPr>
                      </a:pPr>
                      <a:r>
                        <a:t>Component</a:t>
                      </a:r>
                    </a:p>
                  </a:txBody>
                  <a:tcPr marL="54864" marR="54864" marT="27432" marB="27432" anchor="ctr">
                    <a:solidFill>
                      <a:srgbClr val="1F4E79"/>
                    </a:solidFill>
                  </a:tcPr>
                </a:tc>
                <a:tc>
                  <a:txBody>
                    <a:bodyPr/>
                    <a:lstStyle/>
                    <a:p>
                      <a:pPr>
                        <a:defRPr sz="950" b="1">
                          <a:solidFill>
                            <a:srgbClr val="FFFFFF"/>
                          </a:solidFill>
                        </a:defRPr>
                      </a:pPr>
                      <a:r>
                        <a:t>Where it lives</a:t>
                      </a:r>
                    </a:p>
                  </a:txBody>
                  <a:tcPr marL="54864" marR="54864" marT="27432" marB="27432" anchor="ctr">
                    <a:solidFill>
                      <a:srgbClr val="1F4E79"/>
                    </a:solidFill>
                  </a:tcPr>
                </a:tc>
                <a:tc>
                  <a:txBody>
                    <a:bodyPr/>
                    <a:lstStyle/>
                    <a:p>
                      <a:pPr>
                        <a:defRPr sz="950" b="1">
                          <a:solidFill>
                            <a:srgbClr val="FFFFFF"/>
                          </a:solidFill>
                        </a:defRPr>
                      </a:pPr>
                      <a:r>
                        <a:t>Moves data off-instance?</a:t>
                      </a:r>
                    </a:p>
                  </a:txBody>
                  <a:tcPr marL="54864" marR="54864" marT="27432" marB="27432" anchor="ctr">
                    <a:solidFill>
                      <a:srgbClr val="1F4E79"/>
                    </a:solidFill>
                  </a:tcPr>
                </a:tc>
              </a:tr>
              <a:tr h="243459">
                <a:tc>
                  <a:txBody>
                    <a:bodyPr/>
                    <a:lstStyle/>
                    <a:p>
                      <a:pPr>
                        <a:defRPr sz="950">
                          <a:solidFill>
                            <a:srgbClr val="03213F"/>
                          </a:solidFill>
                        </a:defRPr>
                      </a:pPr>
                      <a:r>
                        <a:t>Customer instance</a:t>
                      </a:r>
                    </a:p>
                  </a:txBody>
                  <a:tcPr marL="54864" marR="54864" marT="27432" marB="27432" anchor="ctr">
                    <a:solidFill>
                      <a:srgbClr val="FFFFFF"/>
                    </a:solidFill>
                  </a:tcPr>
                </a:tc>
                <a:tc>
                  <a:txBody>
                    <a:bodyPr/>
                    <a:lstStyle/>
                    <a:p>
                      <a:pPr>
                        <a:defRPr sz="950">
                          <a:solidFill>
                            <a:srgbClr val="03213F"/>
                          </a:solidFill>
                        </a:defRPr>
                      </a:pPr>
                      <a:r>
                        <a:t>Impact Store Application</a:t>
                      </a:r>
                    </a:p>
                  </a:txBody>
                  <a:tcPr marL="54864" marR="54864" marT="27432" marB="27432" anchor="ctr">
                    <a:solidFill>
                      <a:srgbClr val="FFFFFF"/>
                    </a:solidFill>
                  </a:tcPr>
                </a:tc>
                <a:tc>
                  <a:txBody>
                    <a:bodyPr/>
                    <a:lstStyle/>
                    <a:p>
                      <a:pPr>
                        <a:defRPr sz="950">
                          <a:solidFill>
                            <a:srgbClr val="03213F"/>
                          </a:solidFill>
                        </a:defRPr>
                      </a:pPr>
                      <a:r>
                        <a:t>Your instance — All → Impact</a:t>
                      </a:r>
                    </a:p>
                  </a:txBody>
                  <a:tcPr marL="54864" marR="54864" marT="27432" marB="27432" anchor="ctr">
                    <a:solidFill>
                      <a:srgbClr val="FFFFFF"/>
                    </a:solidFill>
                  </a:tcPr>
                </a:tc>
                <a:tc>
                  <a:txBody>
                    <a:bodyPr/>
                    <a:lstStyle/>
                    <a:p>
                      <a:pPr>
                        <a:defRPr sz="950">
                          <a:solidFill>
                            <a:srgbClr val="03213F"/>
                          </a:solidFill>
                        </a:defRPr>
                      </a:pPr>
                      <a:r>
                        <a:t>No</a:t>
                      </a:r>
                    </a:p>
                  </a:txBody>
                  <a:tcPr marL="54864" marR="54864" marT="27432" marB="27432" anchor="ctr">
                    <a:solidFill>
                      <a:srgbClr val="FFFFFF"/>
                    </a:solidFill>
                  </a:tcPr>
                </a:tc>
              </a:tr>
              <a:tr h="243459">
                <a:tc>
                  <a:txBody>
                    <a:bodyPr/>
                    <a:lstStyle/>
                    <a:p>
                      <a:pPr>
                        <a:defRPr sz="950">
                          <a:solidFill>
                            <a:srgbClr val="03213F"/>
                          </a:solidFill>
                        </a:defRPr>
                      </a:pPr>
                      <a:r>
                        <a:t>Customer instance</a:t>
                      </a:r>
                    </a:p>
                  </a:txBody>
                  <a:tcPr marL="54864" marR="54864" marT="27432" marB="27432" anchor="ctr">
                    <a:solidFill>
                      <a:srgbClr val="F2F4F7"/>
                    </a:solidFill>
                  </a:tcPr>
                </a:tc>
                <a:tc>
                  <a:txBody>
                    <a:bodyPr/>
                    <a:lstStyle/>
                    <a:p>
                      <a:pPr>
                        <a:defRPr sz="950">
                          <a:solidFill>
                            <a:srgbClr val="03213F"/>
                          </a:solidFill>
                        </a:defRPr>
                      </a:pPr>
                      <a:r>
                        <a:t>Impact Common / Content / Health</a:t>
                      </a:r>
                    </a:p>
                  </a:txBody>
                  <a:tcPr marL="54864" marR="54864" marT="27432" marB="27432" anchor="ctr">
                    <a:solidFill>
                      <a:srgbClr val="F2F4F7"/>
                    </a:solidFill>
                  </a:tcPr>
                </a:tc>
                <a:tc>
                  <a:txBody>
                    <a:bodyPr/>
                    <a:lstStyle/>
                    <a:p>
                      <a:pPr>
                        <a:defRPr sz="950">
                          <a:solidFill>
                            <a:srgbClr val="03213F"/>
                          </a:solidFill>
                        </a:defRPr>
                      </a:pPr>
                      <a:r>
                        <a:t>Dependent apps</a:t>
                      </a:r>
                    </a:p>
                  </a:txBody>
                  <a:tcPr marL="54864" marR="54864" marT="27432" marB="27432" anchor="ctr">
                    <a:solidFill>
                      <a:srgbClr val="F2F4F7"/>
                    </a:solidFill>
                  </a:tcPr>
                </a:tc>
                <a:tc>
                  <a:txBody>
                    <a:bodyPr/>
                    <a:lstStyle/>
                    <a:p>
                      <a:pPr>
                        <a:defRPr sz="950">
                          <a:solidFill>
                            <a:srgbClr val="03213F"/>
                          </a:solidFill>
                        </a:defRPr>
                      </a:pPr>
                      <a:r>
                        <a:t>No — findings stay local</a:t>
                      </a:r>
                    </a:p>
                  </a:txBody>
                  <a:tcPr marL="54864" marR="54864" marT="27432" marB="27432" anchor="ctr">
                    <a:solidFill>
                      <a:srgbClr val="F2F4F7"/>
                    </a:solidFill>
                  </a:tcPr>
                </a:tc>
              </a:tr>
              <a:tr h="395478">
                <a:tc>
                  <a:txBody>
                    <a:bodyPr/>
                    <a:lstStyle/>
                    <a:p>
                      <a:pPr>
                        <a:defRPr sz="950">
                          <a:solidFill>
                            <a:srgbClr val="03213F"/>
                          </a:solidFill>
                        </a:defRPr>
                      </a:pPr>
                      <a:r>
                        <a:t>Customer instance</a:t>
                      </a:r>
                    </a:p>
                  </a:txBody>
                  <a:tcPr marL="54864" marR="54864" marT="27432" marB="27432" anchor="ctr">
                    <a:solidFill>
                      <a:srgbClr val="FFFFFF"/>
                    </a:solidFill>
                  </a:tcPr>
                </a:tc>
                <a:tc>
                  <a:txBody>
                    <a:bodyPr/>
                    <a:lstStyle/>
                    <a:p>
                      <a:pPr>
                        <a:defRPr sz="950">
                          <a:solidFill>
                            <a:srgbClr val="03213F"/>
                          </a:solidFill>
                        </a:defRPr>
                      </a:pPr>
                      <a:r>
                        <a:t>Value Management data packs</a:t>
                      </a:r>
                    </a:p>
                  </a:txBody>
                  <a:tcPr marL="54864" marR="54864" marT="27432" marB="27432" anchor="ctr">
                    <a:solidFill>
                      <a:srgbClr val="FFFFFF"/>
                    </a:solidFill>
                  </a:tcPr>
                </a:tc>
                <a:tc>
                  <a:txBody>
                    <a:bodyPr/>
                    <a:lstStyle/>
                    <a:p>
                      <a:pPr>
                        <a:defRPr sz="950">
                          <a:solidFill>
                            <a:srgbClr val="03213F"/>
                          </a:solidFill>
                        </a:defRPr>
                      </a:pPr>
                      <a:r>
                        <a:t>Conditional per product; jobs must be enabled</a:t>
                      </a:r>
                    </a:p>
                  </a:txBody>
                  <a:tcPr marL="54864" marR="54864" marT="27432" marB="27432" anchor="ctr">
                    <a:solidFill>
                      <a:srgbClr val="FFFFFF"/>
                    </a:solidFill>
                  </a:tcPr>
                </a:tc>
                <a:tc>
                  <a:txBody>
                    <a:bodyPr/>
                    <a:lstStyle/>
                    <a:p>
                      <a:pPr>
                        <a:defRPr sz="950">
                          <a:solidFill>
                            <a:srgbClr val="03213F"/>
                          </a:solidFill>
                        </a:defRPr>
                      </a:pPr>
                      <a:r>
                        <a:t>Populates value metrics</a:t>
                      </a:r>
                    </a:p>
                  </a:txBody>
                  <a:tcPr marL="54864" marR="54864" marT="27432" marB="27432" anchor="ctr">
                    <a:solidFill>
                      <a:srgbClr val="FFFFFF"/>
                    </a:solidFill>
                  </a:tcPr>
                </a:tc>
              </a:tr>
              <a:tr h="243459">
                <a:tc>
                  <a:txBody>
                    <a:bodyPr/>
                    <a:lstStyle/>
                    <a:p>
                      <a:pPr>
                        <a:defRPr sz="950">
                          <a:solidFill>
                            <a:srgbClr val="03213F"/>
                          </a:solidFill>
                        </a:defRPr>
                      </a:pPr>
                      <a:r>
                        <a:t>Off-instance</a:t>
                      </a:r>
                    </a:p>
                  </a:txBody>
                  <a:tcPr marL="54864" marR="54864" marT="27432" marB="27432" anchor="ctr">
                    <a:solidFill>
                      <a:srgbClr val="F2F4F7"/>
                    </a:solidFill>
                  </a:tcPr>
                </a:tc>
                <a:tc>
                  <a:txBody>
                    <a:bodyPr/>
                    <a:lstStyle/>
                    <a:p>
                      <a:pPr>
                        <a:defRPr sz="950">
                          <a:solidFill>
                            <a:srgbClr val="03213F"/>
                          </a:solidFill>
                        </a:defRPr>
                      </a:pPr>
                      <a:r>
                        <a:t>Instance Observer</a:t>
                      </a:r>
                    </a:p>
                  </a:txBody>
                  <a:tcPr marL="54864" marR="54864" marT="27432" marB="27432" anchor="ctr">
                    <a:solidFill>
                      <a:srgbClr val="F2F4F7"/>
                    </a:solidFill>
                  </a:tcPr>
                </a:tc>
                <a:tc>
                  <a:txBody>
                    <a:bodyPr/>
                    <a:lstStyle/>
                    <a:p>
                      <a:pPr>
                        <a:defRPr sz="950">
                          <a:solidFill>
                            <a:srgbClr val="03213F"/>
                          </a:solidFill>
                        </a:defRPr>
                      </a:pPr>
                      <a:r>
                        <a:t>Off-instance cloud app (entitlement-tiered)</a:t>
                      </a:r>
                    </a:p>
                  </a:txBody>
                  <a:tcPr marL="54864" marR="54864" marT="27432" marB="27432" anchor="ctr">
                    <a:solidFill>
                      <a:srgbClr val="F2F4F7"/>
                    </a:solidFill>
                  </a:tcPr>
                </a:tc>
                <a:tc>
                  <a:txBody>
                    <a:bodyPr/>
                    <a:lstStyle/>
                    <a:p>
                      <a:pPr>
                        <a:defRPr sz="950">
                          <a:solidFill>
                            <a:srgbClr val="03213F"/>
                          </a:solidFill>
                        </a:defRPr>
                      </a:pPr>
                      <a:r>
                        <a:t>Telemetry collected off-instance</a:t>
                      </a:r>
                    </a:p>
                  </a:txBody>
                  <a:tcPr marL="54864" marR="54864" marT="27432" marB="27432" anchor="ctr">
                    <a:solidFill>
                      <a:srgbClr val="F2F4F7"/>
                    </a:solidFill>
                  </a:tcPr>
                </a:tc>
              </a:tr>
              <a:tr h="395478">
                <a:tc>
                  <a:txBody>
                    <a:bodyPr/>
                    <a:lstStyle/>
                    <a:p>
                      <a:pPr>
                        <a:defRPr sz="950">
                          <a:solidFill>
                            <a:srgbClr val="03213F"/>
                          </a:solidFill>
                        </a:defRPr>
                      </a:pPr>
                      <a:r>
                        <a:t>ServiceNow side</a:t>
                      </a:r>
                    </a:p>
                  </a:txBody>
                  <a:tcPr marL="54864" marR="54864" marT="27432" marB="27432" anchor="ctr">
                    <a:solidFill>
                      <a:srgbClr val="FFFFFF"/>
                    </a:solidFill>
                  </a:tcPr>
                </a:tc>
                <a:tc>
                  <a:txBody>
                    <a:bodyPr/>
                    <a:lstStyle/>
                    <a:p>
                      <a:pPr>
                        <a:defRPr sz="950">
                          <a:solidFill>
                            <a:srgbClr val="03213F"/>
                          </a:solidFill>
                        </a:defRPr>
                      </a:pPr>
                      <a:r>
                        <a:t>Impact Delivery Instance (IDI)</a:t>
                      </a:r>
                    </a:p>
                  </a:txBody>
                  <a:tcPr marL="54864" marR="54864" marT="27432" marB="27432" anchor="ctr">
                    <a:solidFill>
                      <a:srgbClr val="FFFFFF"/>
                    </a:solidFill>
                  </a:tcPr>
                </a:tc>
                <a:tc>
                  <a:txBody>
                    <a:bodyPr/>
                    <a:lstStyle/>
                    <a:p>
                      <a:pPr>
                        <a:defRPr sz="950">
                          <a:solidFill>
                            <a:srgbClr val="03213F"/>
                          </a:solidFill>
                        </a:defRPr>
                      </a:pPr>
                      <a:r>
                        <a:t>ServiceNow-hosted (impact.service-now.com)</a:t>
                      </a:r>
                    </a:p>
                  </a:txBody>
                  <a:tcPr marL="54864" marR="54864" marT="27432" marB="27432" anchor="ctr">
                    <a:solidFill>
                      <a:srgbClr val="FFFFFF"/>
                    </a:solidFill>
                  </a:tcPr>
                </a:tc>
                <a:tc>
                  <a:txBody>
                    <a:bodyPr/>
                    <a:lstStyle/>
                    <a:p>
                      <a:pPr>
                        <a:defRPr sz="950">
                          <a:solidFill>
                            <a:srgbClr val="03213F"/>
                          </a:solidFill>
                        </a:defRPr>
                      </a:pPr>
                      <a:r>
                        <a:t>Provider side</a:t>
                      </a:r>
                    </a:p>
                  </a:txBody>
                  <a:tcPr marL="54864" marR="54864" marT="27432" marB="27432" anchor="ctr">
                    <a:solidFill>
                      <a:srgbClr val="FFFFFF"/>
                    </a:solidFill>
                  </a:tcPr>
                </a:tc>
              </a:tr>
              <a:tr h="243459">
                <a:tc>
                  <a:txBody>
                    <a:bodyPr/>
                    <a:lstStyle/>
                    <a:p>
                      <a:pPr>
                        <a:defRPr sz="950">
                          <a:solidFill>
                            <a:srgbClr val="03213F"/>
                          </a:solidFill>
                        </a:defRPr>
                      </a:pPr>
                      <a:r>
                        <a:t>Integration</a:t>
                      </a:r>
                    </a:p>
                  </a:txBody>
                  <a:tcPr marL="54864" marR="54864" marT="27432" marB="27432" anchor="ctr">
                    <a:solidFill>
                      <a:srgbClr val="F2F4F7"/>
                    </a:solidFill>
                  </a:tcPr>
                </a:tc>
                <a:tc>
                  <a:txBody>
                    <a:bodyPr/>
                    <a:lstStyle/>
                    <a:p>
                      <a:pPr>
                        <a:defRPr sz="950">
                          <a:solidFill>
                            <a:srgbClr val="03213F"/>
                          </a:solidFill>
                        </a:defRPr>
                      </a:pPr>
                      <a:r>
                        <a:t>Service Bridge</a:t>
                      </a:r>
                    </a:p>
                  </a:txBody>
                  <a:tcPr marL="54864" marR="54864" marT="27432" marB="27432" anchor="ctr">
                    <a:solidFill>
                      <a:srgbClr val="F2F4F7"/>
                    </a:solidFill>
                  </a:tcPr>
                </a:tc>
                <a:tc>
                  <a:txBody>
                    <a:bodyPr/>
                    <a:lstStyle/>
                    <a:p>
                      <a:pPr>
                        <a:defRPr sz="950">
                          <a:solidFill>
                            <a:srgbClr val="03213F"/>
                          </a:solidFill>
                        </a:defRPr>
                      </a:pPr>
                      <a:r>
                        <a:t>Platform capability + dependent apps</a:t>
                      </a:r>
                    </a:p>
                  </a:txBody>
                  <a:tcPr marL="54864" marR="54864" marT="27432" marB="27432" anchor="ctr">
                    <a:solidFill>
                      <a:srgbClr val="F2F4F7"/>
                    </a:solidFill>
                  </a:tcPr>
                </a:tc>
                <a:tc>
                  <a:txBody>
                    <a:bodyPr/>
                    <a:lstStyle/>
                    <a:p>
                      <a:pPr>
                        <a:defRPr sz="950">
                          <a:solidFill>
                            <a:srgbClr val="03213F"/>
                          </a:solidFill>
                        </a:defRPr>
                      </a:pPr>
                      <a:r>
                        <a:t>Yes — bi-directional sync</a:t>
                      </a:r>
                    </a:p>
                  </a:txBody>
                  <a:tcPr marL="54864" marR="54864" marT="27432" marB="27432" anchor="ctr">
                    <a:solidFill>
                      <a:srgbClr val="F2F4F7"/>
                    </a:solidFill>
                  </a:tcPr>
                </a:tc>
              </a:tr>
              <a:tr h="243459">
                <a:tc>
                  <a:txBody>
                    <a:bodyPr/>
                    <a:lstStyle/>
                    <a:p>
                      <a:pPr>
                        <a:defRPr sz="950">
                          <a:solidFill>
                            <a:srgbClr val="03213F"/>
                          </a:solidFill>
                        </a:defRPr>
                      </a:pPr>
                      <a:r>
                        <a:t>Integration</a:t>
                      </a:r>
                    </a:p>
                  </a:txBody>
                  <a:tcPr marL="54864" marR="54864" marT="27432" marB="27432" anchor="ctr">
                    <a:solidFill>
                      <a:srgbClr val="FFFFFF"/>
                    </a:solidFill>
                  </a:tcPr>
                </a:tc>
                <a:tc>
                  <a:txBody>
                    <a:bodyPr/>
                    <a:lstStyle/>
                    <a:p>
                      <a:pPr>
                        <a:defRPr sz="950">
                          <a:solidFill>
                            <a:srgbClr val="03213F"/>
                          </a:solidFill>
                        </a:defRPr>
                      </a:pPr>
                      <a:r>
                        <a:t>Cloud Storage · Licensing Engine · MIF</a:t>
                      </a:r>
                    </a:p>
                  </a:txBody>
                  <a:tcPr marL="54864" marR="54864" marT="27432" marB="27432" anchor="ctr">
                    <a:solidFill>
                      <a:srgbClr val="FFFFFF"/>
                    </a:solidFill>
                  </a:tcPr>
                </a:tc>
                <a:tc>
                  <a:txBody>
                    <a:bodyPr/>
                    <a:lstStyle/>
                    <a:p>
                      <a:pPr>
                        <a:defRPr sz="950">
                          <a:solidFill>
                            <a:srgbClr val="03213F"/>
                          </a:solidFill>
                        </a:defRPr>
                      </a:pPr>
                      <a:r>
                        <a:t>Dependent apps</a:t>
                      </a:r>
                    </a:p>
                  </a:txBody>
                  <a:tcPr marL="54864" marR="54864" marT="27432" marB="27432" anchor="ctr">
                    <a:solidFill>
                      <a:srgbClr val="FFFFFF"/>
                    </a:solidFill>
                  </a:tcPr>
                </a:tc>
                <a:tc>
                  <a:txBody>
                    <a:bodyPr/>
                    <a:lstStyle/>
                    <a:p>
                      <a:pPr>
                        <a:defRPr sz="950">
                          <a:solidFill>
                            <a:srgbClr val="03213F"/>
                          </a:solidFill>
                        </a:defRPr>
                      </a:pPr>
                      <a:r>
                        <a:t>Yes — for the security review</a:t>
                      </a:r>
                    </a:p>
                  </a:txBody>
                  <a:tcPr marL="54864" marR="54864" marT="27432" marB="27432" anchor="ctr">
                    <a:solidFill>
                      <a:srgbClr val="FFFFFF"/>
                    </a:solidFill>
                  </a:tcPr>
                </a:tc>
              </a:tr>
              <a:tr h="243459">
                <a:tc>
                  <a:txBody>
                    <a:bodyPr/>
                    <a:lstStyle/>
                    <a:p>
                      <a:pPr>
                        <a:defRPr sz="950">
                          <a:solidFill>
                            <a:srgbClr val="03213F"/>
                          </a:solidFill>
                        </a:defRPr>
                      </a:pPr>
                      <a:r>
                        <a:t>AI</a:t>
                      </a:r>
                    </a:p>
                  </a:txBody>
                  <a:tcPr marL="54864" marR="54864" marT="27432" marB="27432" anchor="ctr">
                    <a:solidFill>
                      <a:srgbClr val="F2F4F7"/>
                    </a:solidFill>
                  </a:tcPr>
                </a:tc>
                <a:tc>
                  <a:txBody>
                    <a:bodyPr/>
                    <a:lstStyle/>
                    <a:p>
                      <a:pPr>
                        <a:defRPr sz="950">
                          <a:solidFill>
                            <a:srgbClr val="03213F"/>
                          </a:solidFill>
                        </a:defRPr>
                      </a:pPr>
                      <a:r>
                        <a:t>Now Assist / ServiceNow Otto skills</a:t>
                      </a:r>
                    </a:p>
                  </a:txBody>
                  <a:tcPr marL="54864" marR="54864" marT="27432" marB="27432" anchor="ctr">
                    <a:solidFill>
                      <a:srgbClr val="F2F4F7"/>
                    </a:solidFill>
                  </a:tcPr>
                </a:tc>
                <a:tc>
                  <a:txBody>
                    <a:bodyPr/>
                    <a:lstStyle/>
                    <a:p>
                      <a:pPr>
                        <a:defRPr sz="950">
                          <a:solidFill>
                            <a:srgbClr val="03213F"/>
                          </a:solidFill>
                        </a:defRPr>
                      </a:pPr>
                      <a:r>
                        <a:t>Your instance + Now Assist Admin</a:t>
                      </a:r>
                    </a:p>
                  </a:txBody>
                  <a:tcPr marL="54864" marR="54864" marT="27432" marB="27432" anchor="ctr">
                    <a:solidFill>
                      <a:srgbClr val="F2F4F7"/>
                    </a:solidFill>
                  </a:tcPr>
                </a:tc>
                <a:tc>
                  <a:txBody>
                    <a:bodyPr/>
                    <a:lstStyle/>
                    <a:p>
                      <a:pPr>
                        <a:defRPr sz="950">
                          <a:solidFill>
                            <a:srgbClr val="03213F"/>
                          </a:solidFill>
                        </a:defRPr>
                      </a:pPr>
                      <a:r>
                        <a:t>Governed by Now Assist terms</a:t>
                      </a:r>
                    </a:p>
                  </a:txBody>
                  <a:tcPr marL="54864" marR="54864" marT="27432" marB="27432" anchor="ctr">
                    <a:solidFill>
                      <a:srgbClr val="F2F4F7"/>
                    </a:solidFill>
                  </a:tcPr>
                </a:tc>
              </a:tr>
            </a:tbl>
          </a:graphicData>
        </a:graphic>
      </p:graphicFrame>
      <p:sp>
        <p:nvSpPr>
          <p:cNvPr id="5" name="TextBox 4"/>
          <p:cNvSpPr txBox="1"/>
          <p:nvPr/>
        </p:nvSpPr>
        <p:spPr>
          <a:xfrm>
            <a:off x="548640" y="5029200"/>
            <a:ext cx="11064240" cy="822960"/>
          </a:xfrm>
          <a:prstGeom prst="rect">
            <a:avLst/>
          </a:prstGeom>
          <a:noFill/>
        </p:spPr>
        <p:txBody>
          <a:bodyPr wrap="square">
            <a:spAutoFit/>
          </a:bodyPr>
          <a:lstStyle/>
          <a:p>
            <a:pPr>
              <a:defRPr sz="1050">
                <a:solidFill>
                  <a:srgbClr val="5C6B7A"/>
                </a:solidFill>
              </a:defRPr>
            </a:pPr>
            <a:r>
              <a:t>Security review shortlist: Service Bridge, Cloud Storage, Licensing Engine and MIF move data. Impact Common, Content and Health do not.</a:t>
            </a:r>
          </a:p>
        </p:txBody>
      </p:sp>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3. Architecture — how Impact works</a:t>
            </a:r>
          </a:p>
          <a:p>
            <a:pPr>
              <a:defRPr sz="1200">
                <a:solidFill>
                  <a:srgbClr val="C9D6E2"/>
                </a:solidFill>
              </a:defRPr>
            </a:pPr>
            <a:r>
              <a:t>Instrument → interpret → recommend → measure → repeat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320040" y="1051560"/>
            <a:ext cx="3200400" cy="457200"/>
          </a:xfrm>
          <a:prstGeom prst="roundRect">
            <a:avLst/>
          </a:prstGeom>
          <a:solidFill>
            <a:srgbClr val="0321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200" b="1">
                <a:solidFill>
                  <a:srgbClr val="FFFFFF"/>
                </a:solidFill>
              </a:defRPr>
            </a:pPr>
            <a:r>
              <a:t>1. Your estate</a:t>
            </a:r>
          </a:p>
        </p:txBody>
      </p:sp>
      <p:sp>
        <p:nvSpPr>
          <p:cNvPr id="5" name="Rounded Rectangle 4"/>
          <p:cNvSpPr/>
          <p:nvPr/>
        </p:nvSpPr>
        <p:spPr>
          <a:xfrm>
            <a:off x="3977639" y="1051560"/>
            <a:ext cx="2011680" cy="45720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200" b="1">
                <a:solidFill>
                  <a:srgbClr val="FFFFFF"/>
                </a:solidFill>
              </a:defRPr>
            </a:pPr>
            <a:r>
              <a:t>2. Sync layer</a:t>
            </a:r>
          </a:p>
        </p:txBody>
      </p:sp>
      <p:sp>
        <p:nvSpPr>
          <p:cNvPr id="6" name="Rounded Rectangle 5"/>
          <p:cNvSpPr/>
          <p:nvPr/>
        </p:nvSpPr>
        <p:spPr>
          <a:xfrm>
            <a:off x="6446520" y="1051560"/>
            <a:ext cx="3840480" cy="45720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200" b="1">
                <a:solidFill>
                  <a:srgbClr val="FFFFFF"/>
                </a:solidFill>
              </a:defRPr>
            </a:pPr>
            <a:r>
              <a:t>3. ServiceNow side</a:t>
            </a:r>
          </a:p>
        </p:txBody>
      </p:sp>
      <p:sp>
        <p:nvSpPr>
          <p:cNvPr id="7" name="Rounded Rectangle 6"/>
          <p:cNvSpPr/>
          <p:nvPr/>
        </p:nvSpPr>
        <p:spPr>
          <a:xfrm>
            <a:off x="10607040" y="1051560"/>
            <a:ext cx="1280160" cy="457200"/>
          </a:xfrm>
          <a:prstGeom prst="roundRect">
            <a:avLst/>
          </a:prstGeom>
          <a:solidFill>
            <a:srgbClr val="0321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128" b="1">
                <a:solidFill>
                  <a:srgbClr val="FFFFFF"/>
                </a:solidFill>
              </a:defRPr>
            </a:pPr>
            <a:r>
              <a:t>4. Outcomes</a:t>
            </a:r>
          </a:p>
        </p:txBody>
      </p:sp>
      <p:sp>
        <p:nvSpPr>
          <p:cNvPr id="8" name="Rounded Rectangle 7"/>
          <p:cNvSpPr/>
          <p:nvPr/>
        </p:nvSpPr>
        <p:spPr>
          <a:xfrm>
            <a:off x="320040" y="1645920"/>
            <a:ext cx="3200400" cy="3246120"/>
          </a:xfrm>
          <a:prstGeom prst="roundRect">
            <a:avLst/>
          </a:prstGeom>
          <a:solidFill>
            <a:srgbClr val="F2F4F7"/>
          </a:solidFill>
          <a:ln>
            <a:solidFill>
              <a:srgbClr val="5C6B7A"/>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spcAft>
                <a:spcPts val="400"/>
              </a:spcAft>
              <a:defRPr sz="950" b="1">
                <a:solidFill>
                  <a:srgbClr val="03213F"/>
                </a:solidFill>
              </a:defRPr>
            </a:pPr>
            <a:r>
              <a:t>ServiceNow instances (Prod / Test / Dev)</a:t>
            </a:r>
          </a:p>
          <a:p>
            <a:pPr>
              <a:spcAft>
                <a:spcPts val="400"/>
              </a:spcAft>
              <a:defRPr sz="950" b="0">
                <a:solidFill>
                  <a:srgbClr val="03213F"/>
                </a:solidFill>
              </a:defRPr>
            </a:pPr>
            <a:r>
              <a:t>• Impact Store Application</a:t>
            </a:r>
            <a:br/>
            <a:r>
              <a:t>  (Common, Content, Health)</a:t>
            </a:r>
          </a:p>
          <a:p>
            <a:pPr>
              <a:spcAft>
                <a:spcPts val="400"/>
              </a:spcAft>
              <a:defRPr sz="950" b="0">
                <a:solidFill>
                  <a:srgbClr val="03213F"/>
                </a:solidFill>
              </a:defRPr>
            </a:pPr>
            <a:r>
              <a:t>• Scan Engine + HealthScan</a:t>
            </a:r>
            <a:br/>
            <a:r>
              <a:t>  + real-time prevention</a:t>
            </a:r>
          </a:p>
          <a:p>
            <a:pPr>
              <a:spcAft>
                <a:spcPts val="400"/>
              </a:spcAft>
              <a:defRPr sz="950" b="0">
                <a:solidFill>
                  <a:srgbClr val="03213F"/>
                </a:solidFill>
              </a:defRPr>
            </a:pPr>
            <a:r>
              <a:t>• Value data collection</a:t>
            </a:r>
            <a:br/>
            <a:r>
              <a:t>  (PA packs per product)</a:t>
            </a:r>
          </a:p>
          <a:p>
            <a:pPr>
              <a:spcAft>
                <a:spcPts val="400"/>
              </a:spcAft>
              <a:defRPr sz="950" b="0">
                <a:solidFill>
                  <a:srgbClr val="03213F"/>
                </a:solidFill>
              </a:defRPr>
            </a:pPr>
            <a:r>
              <a:t>• Users &amp; roles by persona</a:t>
            </a:r>
          </a:p>
          <a:p>
            <a:pPr>
              <a:spcAft>
                <a:spcPts val="400"/>
              </a:spcAft>
              <a:defRPr sz="950" b="0">
                <a:solidFill>
                  <a:srgbClr val="03213F"/>
                </a:solidFill>
              </a:defRPr>
            </a:pPr>
            <a:r>
              <a:t>• Instance Observer</a:t>
            </a:r>
            <a:br/>
            <a:r>
              <a:t>  (off-instance telemetry)</a:t>
            </a:r>
          </a:p>
        </p:txBody>
      </p:sp>
      <p:sp>
        <p:nvSpPr>
          <p:cNvPr id="9" name="Right Arrow 8"/>
          <p:cNvSpPr/>
          <p:nvPr/>
        </p:nvSpPr>
        <p:spPr>
          <a:xfrm>
            <a:off x="3584448" y="2880360"/>
            <a:ext cx="347472" cy="457200"/>
          </a:xfrm>
          <a:prstGeom prst="rightArrow">
            <a:avLst/>
          </a:prstGeom>
          <a:solidFill>
            <a:srgbClr val="037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77639" y="2331720"/>
            <a:ext cx="2011680" cy="146304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200" b="1">
                <a:solidFill>
                  <a:srgbClr val="FFFFFF"/>
                </a:solidFill>
              </a:defRPr>
            </a:pPr>
            <a:r>
              <a:t>Service Bridge</a:t>
            </a:r>
          </a:p>
          <a:p>
            <a:pPr algn="ctr">
              <a:defRPr sz="900">
                <a:solidFill>
                  <a:srgbClr val="FFFFFF"/>
                </a:solidFill>
              </a:defRPr>
            </a:pPr>
            <a:r>
              <a:t>Automated registration (preferred) or manual (regulated / GCC). Inbound + outbound payloads.</a:t>
            </a:r>
          </a:p>
        </p:txBody>
      </p:sp>
      <p:sp>
        <p:nvSpPr>
          <p:cNvPr id="11" name="Right Arrow 10"/>
          <p:cNvSpPr/>
          <p:nvPr/>
        </p:nvSpPr>
        <p:spPr>
          <a:xfrm>
            <a:off x="6053328" y="2880360"/>
            <a:ext cx="347472" cy="457200"/>
          </a:xfrm>
          <a:prstGeom prst="rightArrow">
            <a:avLst/>
          </a:prstGeom>
          <a:solidFill>
            <a:srgbClr val="037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1645920"/>
            <a:ext cx="3840480" cy="3246120"/>
          </a:xfrm>
          <a:prstGeom prst="roundRect">
            <a:avLst/>
          </a:prstGeom>
          <a:solidFill>
            <a:srgbClr val="E6F4EE"/>
          </a:solidFill>
          <a:ln>
            <a:solidFill>
              <a:srgbClr val="03754D"/>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spcAft>
                <a:spcPts val="500"/>
              </a:spcAft>
              <a:defRPr sz="950" b="1">
                <a:solidFill>
                  <a:srgbClr val="03213F"/>
                </a:solidFill>
              </a:defRPr>
            </a:pPr>
            <a:r>
              <a:t>Impact Delivery Instance (provider)</a:t>
            </a:r>
          </a:p>
          <a:p>
            <a:pPr>
              <a:spcAft>
                <a:spcPts val="500"/>
              </a:spcAft>
              <a:defRPr sz="950" b="0">
                <a:solidFill>
                  <a:srgbClr val="03213F"/>
                </a:solidFill>
              </a:defRPr>
            </a:pPr>
            <a:r>
              <a:t>• Impact Squad (CSM, CSE, Platform Architect, SAM)</a:t>
            </a:r>
          </a:p>
          <a:p>
            <a:pPr>
              <a:spcAft>
                <a:spcPts val="500"/>
              </a:spcAft>
              <a:defRPr sz="950" b="0">
                <a:solidFill>
                  <a:srgbClr val="03213F"/>
                </a:solidFill>
              </a:defRPr>
            </a:pPr>
            <a:r>
              <a:t>• Activity Center (conversations, tasks, files)</a:t>
            </a:r>
          </a:p>
          <a:p>
            <a:pPr>
              <a:spcAft>
                <a:spcPts val="500"/>
              </a:spcAft>
              <a:defRPr sz="950" b="0">
                <a:solidFill>
                  <a:srgbClr val="03213F"/>
                </a:solidFill>
              </a:defRPr>
            </a:pPr>
            <a:r>
              <a:t>• Value management (objectives, outcomes, reports)</a:t>
            </a:r>
          </a:p>
          <a:p>
            <a:pPr>
              <a:spcAft>
                <a:spcPts val="500"/>
              </a:spcAft>
              <a:defRPr sz="950" b="0">
                <a:solidFill>
                  <a:srgbClr val="03213F"/>
                </a:solidFill>
              </a:defRPr>
            </a:pPr>
            <a:r>
              <a:t>• Catalogues (Accelerators, PARs, capability maps)</a:t>
            </a:r>
          </a:p>
          <a:p>
            <a:pPr>
              <a:spcAft>
                <a:spcPts val="500"/>
              </a:spcAft>
              <a:defRPr sz="950" b="0">
                <a:solidFill>
                  <a:srgbClr val="03213F"/>
                </a:solidFill>
              </a:defRPr>
            </a:pPr>
            <a:r>
              <a:t>• Training Insights &amp; learning credits</a:t>
            </a:r>
          </a:p>
        </p:txBody>
      </p:sp>
      <p:sp>
        <p:nvSpPr>
          <p:cNvPr id="13" name="Rounded Rectangle 12"/>
          <p:cNvSpPr/>
          <p:nvPr/>
        </p:nvSpPr>
        <p:spPr>
          <a:xfrm>
            <a:off x="10607040" y="1645920"/>
            <a:ext cx="1280160"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900" b="1">
                <a:solidFill>
                  <a:srgbClr val="FFFFFF"/>
                </a:solidFill>
              </a:defRPr>
            </a:pPr>
            <a:r>
              <a:t>Adoption</a:t>
            </a:r>
          </a:p>
        </p:txBody>
      </p:sp>
      <p:sp>
        <p:nvSpPr>
          <p:cNvPr id="14" name="Rounded Rectangle 13"/>
          <p:cNvSpPr/>
          <p:nvPr/>
        </p:nvSpPr>
        <p:spPr>
          <a:xfrm>
            <a:off x="10607040" y="2295144"/>
            <a:ext cx="1280160" cy="54864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900" b="1">
                <a:solidFill>
                  <a:srgbClr val="FFFFFF"/>
                </a:solidFill>
              </a:defRPr>
            </a:pPr>
            <a:r>
              <a:t>Platform health</a:t>
            </a:r>
          </a:p>
        </p:txBody>
      </p:sp>
      <p:sp>
        <p:nvSpPr>
          <p:cNvPr id="15" name="Rounded Rectangle 14"/>
          <p:cNvSpPr/>
          <p:nvPr/>
        </p:nvSpPr>
        <p:spPr>
          <a:xfrm>
            <a:off x="10607040" y="2944368"/>
            <a:ext cx="1280160"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900" b="1">
                <a:solidFill>
                  <a:srgbClr val="FFFFFF"/>
                </a:solidFill>
              </a:defRPr>
            </a:pPr>
            <a:r>
              <a:t>Performance</a:t>
            </a:r>
          </a:p>
        </p:txBody>
      </p:sp>
      <p:sp>
        <p:nvSpPr>
          <p:cNvPr id="16" name="Rounded Rectangle 15"/>
          <p:cNvSpPr/>
          <p:nvPr/>
        </p:nvSpPr>
        <p:spPr>
          <a:xfrm>
            <a:off x="10607040" y="3593591"/>
            <a:ext cx="1280160"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900" b="1">
                <a:solidFill>
                  <a:srgbClr val="FFFFFF"/>
                </a:solidFill>
              </a:defRPr>
            </a:pPr>
            <a:r>
              <a:t>Value realised</a:t>
            </a:r>
          </a:p>
        </p:txBody>
      </p:sp>
      <p:sp>
        <p:nvSpPr>
          <p:cNvPr id="17" name="Rounded Rectangle 16"/>
          <p:cNvSpPr/>
          <p:nvPr/>
        </p:nvSpPr>
        <p:spPr>
          <a:xfrm>
            <a:off x="10607040" y="4242816"/>
            <a:ext cx="1280160" cy="54864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900" b="1">
                <a:solidFill>
                  <a:srgbClr val="FFFFFF"/>
                </a:solidFill>
              </a:defRPr>
            </a:pPr>
            <a:r>
              <a:t>Upgrade readiness</a:t>
            </a:r>
          </a:p>
        </p:txBody>
      </p:sp>
      <p:sp>
        <p:nvSpPr>
          <p:cNvPr id="18" name="Left Arrow 17"/>
          <p:cNvSpPr/>
          <p:nvPr/>
        </p:nvSpPr>
        <p:spPr>
          <a:xfrm>
            <a:off x="320040" y="5138928"/>
            <a:ext cx="9966960" cy="457200"/>
          </a:xfrm>
          <a:prstGeom prst="leftArrow">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3213F"/>
                </a:solidFill>
              </a:defRPr>
            </a:pPr>
            <a:r>
              <a:t>Foundations → Steady State cadence: monthly operational &amp; health reviews · quarterly outcome, support and executive reviews</a:t>
            </a:r>
          </a:p>
        </p:txBody>
      </p:sp>
      <p:sp>
        <p:nvSpPr>
          <p:cNvPr id="19" name="TextBox 18"/>
          <p:cNvSpPr txBox="1"/>
          <p:nvPr/>
        </p:nvSpPr>
        <p:spPr>
          <a:xfrm>
            <a:off x="320040" y="5742432"/>
            <a:ext cx="11521440" cy="548640"/>
          </a:xfrm>
          <a:prstGeom prst="rect">
            <a:avLst/>
          </a:prstGeom>
          <a:noFill/>
        </p:spPr>
        <p:txBody>
          <a:bodyPr wrap="none">
            <a:spAutoFit/>
          </a:bodyPr>
          <a:lstStyle/>
          <a:p>
            <a:pPr>
              <a:defRPr sz="1000">
                <a:solidFill>
                  <a:srgbClr val="5C6B7A"/>
                </a:solidFill>
              </a:defRPr>
            </a:pPr>
            <a:r>
              <a:t>Callouts: Scan Engine findings are NOT transmitted to IDI  ·  Feature availability depends on package, add-ons, roles and plugins</a:t>
            </a:r>
          </a:p>
        </p:txBody>
      </p:sp>
      <p:sp>
        <p:nvSpPr>
          <p:cNvPr id="20" name="TextBox 19"/>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4. Feature catalogue — the five pillars</a:t>
            </a:r>
          </a:p>
          <a:p>
            <a:pPr>
              <a:defRPr sz="1200">
                <a:solidFill>
                  <a:srgbClr val="C9D6E2"/>
                </a:solidFill>
              </a:defRPr>
            </a:pPr>
            <a:r>
              <a:t>Each pillar maps to a client problem and a measurable output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2308855"/>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Pillar</a:t>
                      </a:r>
                    </a:p>
                  </a:txBody>
                  <a:tcPr marL="54864" marR="54864" marT="27432" marB="27432" anchor="ctr">
                    <a:solidFill>
                      <a:srgbClr val="1F4E79"/>
                    </a:solidFill>
                  </a:tcPr>
                </a:tc>
                <a:tc>
                  <a:txBody>
                    <a:bodyPr/>
                    <a:lstStyle/>
                    <a:p>
                      <a:pPr>
                        <a:defRPr sz="1000" b="1">
                          <a:solidFill>
                            <a:srgbClr val="FFFFFF"/>
                          </a:solidFill>
                        </a:defRPr>
                      </a:pPr>
                      <a:r>
                        <a:t>What it includes</a:t>
                      </a:r>
                    </a:p>
                  </a:txBody>
                  <a:tcPr marL="54864" marR="54864" marT="27432" marB="27432" anchor="ctr">
                    <a:solidFill>
                      <a:srgbClr val="1F4E79"/>
                    </a:solidFill>
                  </a:tcPr>
                </a:tc>
                <a:tc>
                  <a:txBody>
                    <a:bodyPr/>
                    <a:lstStyle/>
                    <a:p>
                      <a:pPr>
                        <a:defRPr sz="1000" b="1">
                          <a:solidFill>
                            <a:srgbClr val="FFFFFF"/>
                          </a:solidFill>
                        </a:defRPr>
                      </a:pPr>
                      <a:r>
                        <a:t>The output the client sees</a:t>
                      </a:r>
                    </a:p>
                  </a:txBody>
                  <a:tcPr marL="54864" marR="54864" marT="27432" marB="27432" anchor="ctr">
                    <a:solidFill>
                      <a:srgbClr val="1F4E79"/>
                    </a:solidFill>
                  </a:tcPr>
                </a:tc>
              </a:tr>
              <a:tr h="411479">
                <a:tc>
                  <a:txBody>
                    <a:bodyPr/>
                    <a:lstStyle/>
                    <a:p>
                      <a:pPr>
                        <a:defRPr sz="1000">
                          <a:solidFill>
                            <a:srgbClr val="03213F"/>
                          </a:solidFill>
                        </a:defRPr>
                      </a:pPr>
                      <a:r>
                        <a:t>Platform Health</a:t>
                      </a:r>
                    </a:p>
                  </a:txBody>
                  <a:tcPr marL="54864" marR="54864" marT="27432" marB="27432" anchor="ctr">
                    <a:solidFill>
                      <a:srgbClr val="FFFFFF"/>
                    </a:solidFill>
                  </a:tcPr>
                </a:tc>
                <a:tc>
                  <a:txBody>
                    <a:bodyPr/>
                    <a:lstStyle/>
                    <a:p>
                      <a:pPr>
                        <a:defRPr sz="1000">
                          <a:solidFill>
                            <a:srgbClr val="03213F"/>
                          </a:solidFill>
                        </a:defRPr>
                      </a:pPr>
                      <a:r>
                        <a:t>HealthScan definitions, Scan Engine, Real-Time Prevention, Proactive Code Check, AI fixes</a:t>
                      </a:r>
                    </a:p>
                  </a:txBody>
                  <a:tcPr marL="54864" marR="54864" marT="27432" marB="27432" anchor="ctr">
                    <a:solidFill>
                      <a:srgbClr val="FFFFFF"/>
                    </a:solidFill>
                  </a:tcPr>
                </a:tc>
                <a:tc>
                  <a:txBody>
                    <a:bodyPr/>
                    <a:lstStyle/>
                    <a:p>
                      <a:pPr>
                        <a:defRPr sz="1000">
                          <a:solidFill>
                            <a:srgbClr val="03213F"/>
                          </a:solidFill>
                        </a:defRPr>
                      </a:pPr>
                      <a:r>
                        <a:t>Health scores by category, findings, remediation plans, upgrade readiness</a:t>
                      </a:r>
                    </a:p>
                  </a:txBody>
                  <a:tcPr marL="54864" marR="54864" marT="27432" marB="27432" anchor="ctr">
                    <a:solidFill>
                      <a:srgbClr val="FFFFFF"/>
                    </a:solidFill>
                  </a:tcPr>
                </a:tc>
              </a:tr>
              <a:tr h="411479">
                <a:tc>
                  <a:txBody>
                    <a:bodyPr/>
                    <a:lstStyle/>
                    <a:p>
                      <a:pPr>
                        <a:defRPr sz="1000">
                          <a:solidFill>
                            <a:srgbClr val="03213F"/>
                          </a:solidFill>
                        </a:defRPr>
                      </a:pPr>
                      <a:r>
                        <a:t>Instance Observer</a:t>
                      </a:r>
                    </a:p>
                  </a:txBody>
                  <a:tcPr marL="54864" marR="54864" marT="27432" marB="27432" anchor="ctr">
                    <a:solidFill>
                      <a:srgbClr val="F2F4F7"/>
                    </a:solidFill>
                  </a:tcPr>
                </a:tc>
                <a:tc>
                  <a:txBody>
                    <a:bodyPr/>
                    <a:lstStyle/>
                    <a:p>
                      <a:pPr>
                        <a:defRPr sz="1000">
                          <a:solidFill>
                            <a:srgbClr val="03213F"/>
                          </a:solidFill>
                        </a:defRPr>
                      </a:pPr>
                      <a:r>
                        <a:t>Performance and availability monitoring, alerts, triage, root-cause correlation, user experience</a:t>
                      </a:r>
                    </a:p>
                  </a:txBody>
                  <a:tcPr marL="54864" marR="54864" marT="27432" marB="27432" anchor="ctr">
                    <a:solidFill>
                      <a:srgbClr val="F2F4F7"/>
                    </a:solidFill>
                  </a:tcPr>
                </a:tc>
                <a:tc>
                  <a:txBody>
                    <a:bodyPr/>
                    <a:lstStyle/>
                    <a:p>
                      <a:pPr>
                        <a:defRPr sz="1000">
                          <a:solidFill>
                            <a:srgbClr val="03213F"/>
                          </a:solidFill>
                        </a:defRPr>
                      </a:pPr>
                      <a:r>
                        <a:t>Alerts before users notice, faster MTTR, capacity evidence</a:t>
                      </a:r>
                    </a:p>
                  </a:txBody>
                  <a:tcPr marL="54864" marR="54864" marT="27432" marB="27432" anchor="ctr">
                    <a:solidFill>
                      <a:srgbClr val="F2F4F7"/>
                    </a:solidFill>
                  </a:tcPr>
                </a:tc>
              </a:tr>
              <a:tr h="411479">
                <a:tc>
                  <a:txBody>
                    <a:bodyPr/>
                    <a:lstStyle/>
                    <a:p>
                      <a:pPr>
                        <a:defRPr sz="1000">
                          <a:solidFill>
                            <a:srgbClr val="03213F"/>
                          </a:solidFill>
                        </a:defRPr>
                      </a:pPr>
                      <a:r>
                        <a:t>Value Management</a:t>
                      </a:r>
                    </a:p>
                  </a:txBody>
                  <a:tcPr marL="54864" marR="54864" marT="27432" marB="27432" anchor="ctr">
                    <a:solidFill>
                      <a:srgbClr val="FFFFFF"/>
                    </a:solidFill>
                  </a:tcPr>
                </a:tc>
                <a:tc>
                  <a:txBody>
                    <a:bodyPr/>
                    <a:lstStyle/>
                    <a:p>
                      <a:pPr>
                        <a:defRPr sz="1000">
                          <a:solidFill>
                            <a:srgbClr val="03213F"/>
                          </a:solidFill>
                        </a:defRPr>
                      </a:pPr>
                      <a:r>
                        <a:t>Objectives, outcomes, success metrics, Outcome Insights, Value Reports, Technical KPIs</a:t>
                      </a:r>
                    </a:p>
                  </a:txBody>
                  <a:tcPr marL="54864" marR="54864" marT="27432" marB="27432" anchor="ctr">
                    <a:solidFill>
                      <a:srgbClr val="FFFFFF"/>
                    </a:solidFill>
                  </a:tcPr>
                </a:tc>
                <a:tc>
                  <a:txBody>
                    <a:bodyPr/>
                    <a:lstStyle/>
                    <a:p>
                      <a:pPr>
                        <a:defRPr sz="1000">
                          <a:solidFill>
                            <a:srgbClr val="03213F"/>
                          </a:solidFill>
                        </a:defRPr>
                      </a:pPr>
                      <a:r>
                        <a:t>Monetised value reporting with visible assumptions</a:t>
                      </a:r>
                    </a:p>
                  </a:txBody>
                  <a:tcPr marL="54864" marR="54864" marT="27432" marB="27432" anchor="ctr">
                    <a:solidFill>
                      <a:srgbClr val="FFFFFF"/>
                    </a:solidFill>
                  </a:tcPr>
                </a:tc>
              </a:tr>
              <a:tr h="411479">
                <a:tc>
                  <a:txBody>
                    <a:bodyPr/>
                    <a:lstStyle/>
                    <a:p>
                      <a:pPr>
                        <a:defRPr sz="1000">
                          <a:solidFill>
                            <a:srgbClr val="03213F"/>
                          </a:solidFill>
                        </a:defRPr>
                      </a:pPr>
                      <a:r>
                        <a:t>Product Adoption</a:t>
                      </a:r>
                    </a:p>
                  </a:txBody>
                  <a:tcPr marL="54864" marR="54864" marT="27432" marB="27432" anchor="ctr">
                    <a:solidFill>
                      <a:srgbClr val="F2F4F7"/>
                    </a:solidFill>
                  </a:tcPr>
                </a:tc>
                <a:tc>
                  <a:txBody>
                    <a:bodyPr/>
                    <a:lstStyle/>
                    <a:p>
                      <a:pPr>
                        <a:defRPr sz="1000">
                          <a:solidFill>
                            <a:srgbClr val="03213F"/>
                          </a:solidFill>
                        </a:defRPr>
                      </a:pPr>
                      <a:r>
                        <a:t>Capability Maps, Product Adoption Roadmaps, recommendations, Subscriptions</a:t>
                      </a:r>
                    </a:p>
                  </a:txBody>
                  <a:tcPr marL="54864" marR="54864" marT="27432" marB="27432" anchor="ctr">
                    <a:solidFill>
                      <a:srgbClr val="F2F4F7"/>
                    </a:solidFill>
                  </a:tcPr>
                </a:tc>
                <a:tc>
                  <a:txBody>
                    <a:bodyPr/>
                    <a:lstStyle/>
                    <a:p>
                      <a:pPr>
                        <a:defRPr sz="1000">
                          <a:solidFill>
                            <a:srgbClr val="03213F"/>
                          </a:solidFill>
                        </a:defRPr>
                      </a:pPr>
                      <a:r>
                        <a:t>A sequenced adoption plan grounded in what we own</a:t>
                      </a:r>
                    </a:p>
                  </a:txBody>
                  <a:tcPr marL="54864" marR="54864" marT="27432" marB="27432" anchor="ctr">
                    <a:solidFill>
                      <a:srgbClr val="F2F4F7"/>
                    </a:solidFill>
                  </a:tcPr>
                </a:tc>
              </a:tr>
              <a:tr h="411479">
                <a:tc>
                  <a:txBody>
                    <a:bodyPr/>
                    <a:lstStyle/>
                    <a:p>
                      <a:pPr>
                        <a:defRPr sz="1000">
                          <a:solidFill>
                            <a:srgbClr val="03213F"/>
                          </a:solidFill>
                        </a:defRPr>
                      </a:pPr>
                      <a:r>
                        <a:t>Experts &amp; learning</a:t>
                      </a:r>
                    </a:p>
                  </a:txBody>
                  <a:tcPr marL="54864" marR="54864" marT="27432" marB="27432" anchor="ctr">
                    <a:solidFill>
                      <a:srgbClr val="FFFFFF"/>
                    </a:solidFill>
                  </a:tcPr>
                </a:tc>
                <a:tc>
                  <a:txBody>
                    <a:bodyPr/>
                    <a:lstStyle/>
                    <a:p>
                      <a:pPr>
                        <a:defRPr sz="1000">
                          <a:solidFill>
                            <a:srgbClr val="03213F"/>
                          </a:solidFill>
                        </a:defRPr>
                      </a:pPr>
                      <a:r>
                        <a:t>Impact Squad, Developer Support, Accelerators, Initiatives, training insights, learning credits</a:t>
                      </a:r>
                    </a:p>
                  </a:txBody>
                  <a:tcPr marL="54864" marR="54864" marT="27432" marB="27432" anchor="ctr">
                    <a:solidFill>
                      <a:srgbClr val="FFFFFF"/>
                    </a:solidFill>
                  </a:tcPr>
                </a:tc>
                <a:tc>
                  <a:txBody>
                    <a:bodyPr/>
                    <a:lstStyle/>
                    <a:p>
                      <a:pPr>
                        <a:defRPr sz="1000">
                          <a:solidFill>
                            <a:srgbClr val="03213F"/>
                          </a:solidFill>
                        </a:defRPr>
                      </a:pPr>
                      <a:r>
                        <a:t>Delivered artefacts and funded skills uplift</a:t>
                      </a:r>
                    </a:p>
                  </a:txBody>
                  <a:tcPr marL="54864" marR="54864" marT="27432" marB="27432" anchor="ctr">
                    <a:solidFill>
                      <a:srgbClr val="FFFFFF"/>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Platform Health — insight, prevention, remediation</a:t>
            </a:r>
          </a:p>
          <a:p>
            <a:pPr>
              <a:defRPr sz="1200">
                <a:solidFill>
                  <a:srgbClr val="C9D6E2"/>
                </a:solidFill>
              </a:defRPr>
            </a:pPr>
            <a:r>
              <a:t>Thousands of leading-practice checks, run continuously</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HealthScan definitions: the checks. Scan Engine: the runner. Findings: the output — and they stay in our instance.</a:t>
            </a:r>
          </a:p>
          <a:p>
            <a:pPr>
              <a:spcAft>
                <a:spcPts val="753"/>
              </a:spcAft>
              <a:defRPr sz="1400" b="0">
                <a:solidFill>
                  <a:srgbClr val="03213F"/>
                </a:solidFill>
              </a:defRPr>
            </a:pPr>
            <a:r>
              <a:t>Persona dashboards mean each role sees what it owns: executive, platform owner, team lead, development team.</a:t>
            </a:r>
          </a:p>
          <a:p>
            <a:pPr>
              <a:spcAft>
                <a:spcPts val="753"/>
              </a:spcAft>
              <a:defRPr sz="1400" b="0">
                <a:solidFill>
                  <a:srgbClr val="03213F"/>
                </a:solidFill>
              </a:defRPr>
            </a:pPr>
            <a:r>
              <a:t>Custom definitions let us encode our own standards; definition suites group them; exception reasons give an approved escape hatch.</a:t>
            </a:r>
          </a:p>
          <a:p>
            <a:pPr>
              <a:spcAft>
                <a:spcPts val="753"/>
              </a:spcAft>
              <a:defRPr sz="1400" b="0">
                <a:solidFill>
                  <a:srgbClr val="03213F"/>
                </a:solidFill>
              </a:defRPr>
            </a:pPr>
            <a:r>
              <a:t>Real-Time Prevention validates changes as they are made rather than after the fact.</a:t>
            </a:r>
          </a:p>
          <a:p>
            <a:pPr>
              <a:spcAft>
                <a:spcPts val="753"/>
              </a:spcAft>
              <a:defRPr sz="1400" b="0">
                <a:solidFill>
                  <a:srgbClr val="03213F"/>
                </a:solidFill>
              </a:defRPr>
            </a:pPr>
            <a:r>
              <a:t>Integration: findings can be routed into Jira, Azure DevOps, SPM or CWM so remediation lands in the team's existing backlog.</a:t>
            </a:r>
          </a:p>
          <a:p>
            <a:pPr>
              <a:spcAft>
                <a:spcPts val="753"/>
              </a:spcAft>
              <a:defRPr sz="1400" b="0">
                <a:solidFill>
                  <a:srgbClr val="03213F"/>
                </a:solidFill>
              </a:defRPr>
            </a:pPr>
            <a:r>
              <a:t>AI: batch remediation with AI proposes fixes for review (needs Now Assist for Impact 3.03+, Now Assist for Platform 11.01+, the skill activated and sn_impact_gen_ai.ai_fix.enabled = true).</a:t>
            </a:r>
          </a:p>
          <a:p>
            <a:pPr>
              <a:spcAft>
                <a:spcPts val="753"/>
              </a:spcAft>
              <a:defRPr sz="1400" b="0">
                <a:solidFill>
                  <a:srgbClr val="03213F"/>
                </a:solidFill>
              </a:defRPr>
            </a:pPr>
            <a:r>
              <a:t>First full scan can take hours — ServiceNow recommends running it overnight, especially in production.</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Instance Observer — performance, availability, user experience</a:t>
            </a:r>
          </a:p>
          <a:p>
            <a:pPr>
              <a:defRPr sz="1200">
                <a:solidFill>
                  <a:srgbClr val="C9D6E2"/>
                </a:solidFill>
              </a:defRPr>
            </a:pPr>
            <a:r>
              <a:t>Monitoring from outside the instance — including when the instance is unwell</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Off-instance observability: if the instance degrades, its own monitoring is often the first casualty — Observer keeps working.</a:t>
            </a:r>
          </a:p>
          <a:p>
            <a:pPr>
              <a:spcAft>
                <a:spcPts val="753"/>
              </a:spcAft>
              <a:defRPr sz="1400" b="0">
                <a:solidFill>
                  <a:srgbClr val="03213F"/>
                </a:solidFill>
              </a:defRPr>
            </a:pPr>
            <a:r>
              <a:t>Coverage includes core performance, database, ECC queue, email, events, host health, jobs, load balancer, node health, replicas, schedulers and semaphores.</a:t>
            </a:r>
          </a:p>
          <a:p>
            <a:pPr>
              <a:spcAft>
                <a:spcPts val="753"/>
              </a:spcAft>
              <a:defRPr sz="1400" b="0">
                <a:solidFill>
                  <a:srgbClr val="03213F"/>
                </a:solidFill>
              </a:defRPr>
            </a:pPr>
            <a:r>
              <a:t>Alerting: popular and custom alerts, anomaly-based thresholds, RCC alerts and long-pending-job alert cards, with webhook notifications into our existing channels.</a:t>
            </a:r>
          </a:p>
          <a:p>
            <a:pPr>
              <a:spcAft>
                <a:spcPts val="753"/>
              </a:spcAft>
              <a:defRPr sz="1400" b="0">
                <a:solidFill>
                  <a:srgbClr val="03213F"/>
                </a:solidFill>
              </a:defRPr>
            </a:pPr>
            <a:r>
              <a:t>Triage and root-cause correlation turn an alert into an investigation with evidence attached.</a:t>
            </a:r>
          </a:p>
          <a:p>
            <a:pPr>
              <a:spcAft>
                <a:spcPts val="753"/>
              </a:spcAft>
              <a:defRPr sz="1400" b="0">
                <a:solidFill>
                  <a:srgbClr val="03213F"/>
                </a:solidFill>
              </a:defRPr>
            </a:pPr>
            <a:r>
              <a:t>User-experience insights require an admin to accept Terms &amp; Conditions via Manage Permissions; user IDs are anonymised by default with an opt-in for non-anonymised collection.</a:t>
            </a:r>
          </a:p>
          <a:p>
            <a:pPr>
              <a:spcAft>
                <a:spcPts val="753"/>
              </a:spcAft>
              <a:defRPr sz="1400" b="0">
                <a:solidFill>
                  <a:srgbClr val="03213F"/>
                </a:solidFill>
              </a:defRPr>
            </a:pPr>
            <a:r>
              <a:t>Entitlement-tiered: seats, look-back window, alert counts and analytics differ between Guided and Total — verify. Not available in the mobile app.</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Value management — proving ROI, not asserting it</a:t>
            </a:r>
          </a:p>
          <a:p>
            <a:pPr>
              <a:defRPr sz="1200">
                <a:solidFill>
                  <a:srgbClr val="C9D6E2"/>
                </a:solidFill>
              </a:defRPr>
            </a:pPr>
            <a:r>
              <a:t>Every outcome carries a metric, a baseline and a target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51560"/>
            <a:ext cx="11064240" cy="91440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Caveat to state upfront</a:t>
            </a:r>
          </a:p>
          <a:p>
            <a:pPr algn="ctr">
              <a:defRPr sz="1200">
                <a:solidFill>
                  <a:srgbClr val="FFFFFF"/>
                </a:solidFill>
              </a:defRPr>
            </a:pPr>
            <a:r>
              <a:t>A meaningful Value Report needs at least two years of product data — start collecting early.</a:t>
            </a:r>
          </a:p>
        </p:txBody>
      </p:sp>
      <p:graphicFrame>
        <p:nvGraphicFramePr>
          <p:cNvPr id="5" name="Table 4"/>
          <p:cNvGraphicFramePr>
            <a:graphicFrameLocks noGrp="1"/>
          </p:cNvGraphicFramePr>
          <p:nvPr/>
        </p:nvGraphicFramePr>
        <p:xfrm>
          <a:off x="548640" y="2148839"/>
          <a:ext cx="11064240" cy="2651756"/>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Element</a:t>
                      </a:r>
                    </a:p>
                  </a:txBody>
                  <a:tcPr marL="54864" marR="54864" marT="27432" marB="27432" anchor="ctr">
                    <a:solidFill>
                      <a:srgbClr val="1F4E79"/>
                    </a:solidFill>
                  </a:tcPr>
                </a:tc>
                <a:tc>
                  <a:txBody>
                    <a:bodyPr/>
                    <a:lstStyle/>
                    <a:p>
                      <a:pPr>
                        <a:defRPr sz="1000" b="1">
                          <a:solidFill>
                            <a:srgbClr val="FFFFFF"/>
                          </a:solidFill>
                        </a:defRPr>
                      </a:pPr>
                      <a:r>
                        <a:t>What it is</a:t>
                      </a:r>
                    </a:p>
                  </a:txBody>
                  <a:tcPr marL="54864" marR="54864" marT="27432" marB="27432" anchor="ctr">
                    <a:solidFill>
                      <a:srgbClr val="1F4E79"/>
                    </a:solidFill>
                  </a:tcPr>
                </a:tc>
                <a:tc>
                  <a:txBody>
                    <a:bodyPr/>
                    <a:lstStyle/>
                    <a:p>
                      <a:pPr>
                        <a:defRPr sz="1000" b="1">
                          <a:solidFill>
                            <a:srgbClr val="FFFFFF"/>
                          </a:solidFill>
                        </a:defRPr>
                      </a:pPr>
                      <a:r>
                        <a:t>Why it matters to the client</a:t>
                      </a:r>
                    </a:p>
                  </a:txBody>
                  <a:tcPr marL="54864" marR="54864" marT="27432" marB="27432" anchor="ctr">
                    <a:solidFill>
                      <a:srgbClr val="1F4E79"/>
                    </a:solidFill>
                  </a:tcPr>
                </a:tc>
              </a:tr>
              <a:tr h="411479">
                <a:tc>
                  <a:txBody>
                    <a:bodyPr/>
                    <a:lstStyle/>
                    <a:p>
                      <a:pPr>
                        <a:defRPr sz="1000">
                          <a:solidFill>
                            <a:srgbClr val="03213F"/>
                          </a:solidFill>
                        </a:defRPr>
                      </a:pPr>
                      <a:r>
                        <a:t>Business objective</a:t>
                      </a:r>
                    </a:p>
                  </a:txBody>
                  <a:tcPr marL="54864" marR="54864" marT="27432" marB="27432" anchor="ctr">
                    <a:solidFill>
                      <a:srgbClr val="FFFFFF"/>
                    </a:solidFill>
                  </a:tcPr>
                </a:tc>
                <a:tc>
                  <a:txBody>
                    <a:bodyPr/>
                    <a:lstStyle/>
                    <a:p>
                      <a:pPr>
                        <a:defRPr sz="1000">
                          <a:solidFill>
                            <a:srgbClr val="03213F"/>
                          </a:solidFill>
                        </a:defRPr>
                      </a:pPr>
                      <a:r>
                        <a:t>High-level business statement, e.g. reduce cost to serve</a:t>
                      </a:r>
                    </a:p>
                  </a:txBody>
                  <a:tcPr marL="54864" marR="54864" marT="27432" marB="27432" anchor="ctr">
                    <a:solidFill>
                      <a:srgbClr val="FFFFFF"/>
                    </a:solidFill>
                  </a:tcPr>
                </a:tc>
                <a:tc>
                  <a:txBody>
                    <a:bodyPr/>
                    <a:lstStyle/>
                    <a:p>
                      <a:pPr>
                        <a:defRPr sz="1000">
                          <a:solidFill>
                            <a:srgbClr val="03213F"/>
                          </a:solidFill>
                        </a:defRPr>
                      </a:pPr>
                      <a:r>
                        <a:t>Speaks the language of the executive sponsor, not IT</a:t>
                      </a:r>
                    </a:p>
                  </a:txBody>
                  <a:tcPr marL="54864" marR="54864" marT="27432" marB="27432" anchor="ctr">
                    <a:solidFill>
                      <a:srgbClr val="FFFFFF"/>
                    </a:solidFill>
                  </a:tcPr>
                </a:tc>
              </a:tr>
              <a:tr h="251460">
                <a:tc>
                  <a:txBody>
                    <a:bodyPr/>
                    <a:lstStyle/>
                    <a:p>
                      <a:pPr>
                        <a:defRPr sz="1000">
                          <a:solidFill>
                            <a:srgbClr val="03213F"/>
                          </a:solidFill>
                        </a:defRPr>
                      </a:pPr>
                      <a:r>
                        <a:t>Business outcome</a:t>
                      </a:r>
                    </a:p>
                  </a:txBody>
                  <a:tcPr marL="54864" marR="54864" marT="27432" marB="27432" anchor="ctr">
                    <a:solidFill>
                      <a:srgbClr val="F2F4F7"/>
                    </a:solidFill>
                  </a:tcPr>
                </a:tc>
                <a:tc>
                  <a:txBody>
                    <a:bodyPr/>
                    <a:lstStyle/>
                    <a:p>
                      <a:pPr>
                        <a:defRPr sz="1000">
                          <a:solidFill>
                            <a:srgbClr val="03213F"/>
                          </a:solidFill>
                        </a:defRPr>
                      </a:pPr>
                      <a:r>
                        <a:t>Measurable result connected to an objective</a:t>
                      </a:r>
                    </a:p>
                  </a:txBody>
                  <a:tcPr marL="54864" marR="54864" marT="27432" marB="27432" anchor="ctr">
                    <a:solidFill>
                      <a:srgbClr val="F2F4F7"/>
                    </a:solidFill>
                  </a:tcPr>
                </a:tc>
                <a:tc>
                  <a:txBody>
                    <a:bodyPr/>
                    <a:lstStyle/>
                    <a:p>
                      <a:pPr>
                        <a:defRPr sz="1000">
                          <a:solidFill>
                            <a:srgbClr val="03213F"/>
                          </a:solidFill>
                        </a:defRPr>
                      </a:pPr>
                      <a:r>
                        <a:t>Makes the objective falsifiable</a:t>
                      </a:r>
                    </a:p>
                  </a:txBody>
                  <a:tcPr marL="54864" marR="54864" marT="27432" marB="27432" anchor="ctr">
                    <a:solidFill>
                      <a:srgbClr val="F2F4F7"/>
                    </a:solidFill>
                  </a:tcPr>
                </a:tc>
              </a:tr>
              <a:tr h="251460">
                <a:tc>
                  <a:txBody>
                    <a:bodyPr/>
                    <a:lstStyle/>
                    <a:p>
                      <a:pPr>
                        <a:defRPr sz="1000">
                          <a:solidFill>
                            <a:srgbClr val="03213F"/>
                          </a:solidFill>
                        </a:defRPr>
                      </a:pPr>
                      <a:r>
                        <a:t>Success metric</a:t>
                      </a:r>
                    </a:p>
                  </a:txBody>
                  <a:tcPr marL="54864" marR="54864" marT="27432" marB="27432" anchor="ctr">
                    <a:solidFill>
                      <a:srgbClr val="FFFFFF"/>
                    </a:solidFill>
                  </a:tcPr>
                </a:tc>
                <a:tc>
                  <a:txBody>
                    <a:bodyPr/>
                    <a:lstStyle/>
                    <a:p>
                      <a:pPr>
                        <a:defRPr sz="1000">
                          <a:solidFill>
                            <a:srgbClr val="03213F"/>
                          </a:solidFill>
                        </a:defRPr>
                      </a:pPr>
                      <a:r>
                        <a:t>The specific measure that moves</a:t>
                      </a:r>
                    </a:p>
                  </a:txBody>
                  <a:tcPr marL="54864" marR="54864" marT="27432" marB="27432" anchor="ctr">
                    <a:solidFill>
                      <a:srgbClr val="FFFFFF"/>
                    </a:solidFill>
                  </a:tcPr>
                </a:tc>
                <a:tc>
                  <a:txBody>
                    <a:bodyPr/>
                    <a:lstStyle/>
                    <a:p>
                      <a:pPr>
                        <a:defRPr sz="1000">
                          <a:solidFill>
                            <a:srgbClr val="03213F"/>
                          </a:solidFill>
                        </a:defRPr>
                      </a:pPr>
                      <a:r>
                        <a:t>Removes ambiguity about what 'success' means</a:t>
                      </a:r>
                    </a:p>
                  </a:txBody>
                  <a:tcPr marL="54864" marR="54864" marT="27432" marB="27432" anchor="ctr">
                    <a:solidFill>
                      <a:srgbClr val="FFFFFF"/>
                    </a:solidFill>
                  </a:tcPr>
                </a:tc>
              </a:tr>
              <a:tr h="251460">
                <a:tc>
                  <a:txBody>
                    <a:bodyPr/>
                    <a:lstStyle/>
                    <a:p>
                      <a:pPr>
                        <a:defRPr sz="1000">
                          <a:solidFill>
                            <a:srgbClr val="03213F"/>
                          </a:solidFill>
                        </a:defRPr>
                      </a:pPr>
                      <a:r>
                        <a:t>Reference quarter + goal</a:t>
                      </a:r>
                    </a:p>
                  </a:txBody>
                  <a:tcPr marL="54864" marR="54864" marT="27432" marB="27432" anchor="ctr">
                    <a:solidFill>
                      <a:srgbClr val="F2F4F7"/>
                    </a:solidFill>
                  </a:tcPr>
                </a:tc>
                <a:tc>
                  <a:txBody>
                    <a:bodyPr/>
                    <a:lstStyle/>
                    <a:p>
                      <a:pPr>
                        <a:defRPr sz="1000">
                          <a:solidFill>
                            <a:srgbClr val="03213F"/>
                          </a:solidFill>
                        </a:defRPr>
                      </a:pPr>
                      <a:r>
                        <a:t>Baseline period and target</a:t>
                      </a:r>
                    </a:p>
                  </a:txBody>
                  <a:tcPr marL="54864" marR="54864" marT="27432" marB="27432" anchor="ctr">
                    <a:solidFill>
                      <a:srgbClr val="F2F4F7"/>
                    </a:solidFill>
                  </a:tcPr>
                </a:tc>
                <a:tc>
                  <a:txBody>
                    <a:bodyPr/>
                    <a:lstStyle/>
                    <a:p>
                      <a:pPr>
                        <a:defRPr sz="1000">
                          <a:solidFill>
                            <a:srgbClr val="03213F"/>
                          </a:solidFill>
                        </a:defRPr>
                      </a:pPr>
                      <a:r>
                        <a:t>Enables trend reporting and comparison</a:t>
                      </a:r>
                    </a:p>
                  </a:txBody>
                  <a:tcPr marL="54864" marR="54864" marT="27432" marB="27432" anchor="ctr">
                    <a:solidFill>
                      <a:srgbClr val="F2F4F7"/>
                    </a:solidFill>
                  </a:tcPr>
                </a:tc>
              </a:tr>
              <a:tr h="411479">
                <a:tc>
                  <a:txBody>
                    <a:bodyPr/>
                    <a:lstStyle/>
                    <a:p>
                      <a:pPr>
                        <a:defRPr sz="1000">
                          <a:solidFill>
                            <a:srgbClr val="03213F"/>
                          </a:solidFill>
                        </a:defRPr>
                      </a:pPr>
                      <a:r>
                        <a:t>Outcome Insights</a:t>
                      </a:r>
                    </a:p>
                  </a:txBody>
                  <a:tcPr marL="54864" marR="54864" marT="27432" marB="27432" anchor="ctr">
                    <a:solidFill>
                      <a:srgbClr val="FFFFFF"/>
                    </a:solidFill>
                  </a:tcPr>
                </a:tc>
                <a:tc>
                  <a:txBody>
                    <a:bodyPr/>
                    <a:lstStyle/>
                    <a:p>
                      <a:pPr>
                        <a:defRPr sz="1000">
                          <a:solidFill>
                            <a:srgbClr val="03213F"/>
                          </a:solidFill>
                        </a:defRPr>
                      </a:pPr>
                      <a:r>
                        <a:t>On-track analysis against benchmark and goal</a:t>
                      </a:r>
                    </a:p>
                  </a:txBody>
                  <a:tcPr marL="54864" marR="54864" marT="27432" marB="27432" anchor="ctr">
                    <a:solidFill>
                      <a:srgbClr val="FFFFFF"/>
                    </a:solidFill>
                  </a:tcPr>
                </a:tc>
                <a:tc>
                  <a:txBody>
                    <a:bodyPr/>
                    <a:lstStyle/>
                    <a:p>
                      <a:pPr>
                        <a:defRPr sz="1000">
                          <a:solidFill>
                            <a:srgbClr val="03213F"/>
                          </a:solidFill>
                        </a:defRPr>
                      </a:pPr>
                      <a:r>
                        <a:t>Tells us where to intervene, and recommends the capability or course</a:t>
                      </a:r>
                    </a:p>
                  </a:txBody>
                  <a:tcPr marL="54864" marR="54864" marT="27432" marB="27432" anchor="ctr">
                    <a:solidFill>
                      <a:srgbClr val="FFFFFF"/>
                    </a:solidFill>
                  </a:tcPr>
                </a:tc>
              </a:tr>
              <a:tr h="411479">
                <a:tc>
                  <a:txBody>
                    <a:bodyPr/>
                    <a:lstStyle/>
                    <a:p>
                      <a:pPr>
                        <a:defRPr sz="1000">
                          <a:solidFill>
                            <a:srgbClr val="03213F"/>
                          </a:solidFill>
                        </a:defRPr>
                      </a:pPr>
                      <a:r>
                        <a:t>Value Reports</a:t>
                      </a:r>
                    </a:p>
                  </a:txBody>
                  <a:tcPr marL="54864" marR="54864" marT="27432" marB="27432" anchor="ctr">
                    <a:solidFill>
                      <a:srgbClr val="F2F4F7"/>
                    </a:solidFill>
                  </a:tcPr>
                </a:tc>
                <a:tc>
                  <a:txBody>
                    <a:bodyPr/>
                    <a:lstStyle/>
                    <a:p>
                      <a:pPr>
                        <a:defRPr sz="1000">
                          <a:solidFill>
                            <a:srgbClr val="03213F"/>
                          </a:solidFill>
                        </a:defRPr>
                      </a:pPr>
                      <a:r>
                        <a:t>Monetised aggregation with visible assumptions</a:t>
                      </a:r>
                    </a:p>
                  </a:txBody>
                  <a:tcPr marL="54864" marR="54864" marT="27432" marB="27432" anchor="ctr">
                    <a:solidFill>
                      <a:srgbClr val="F2F4F7"/>
                    </a:solidFill>
                  </a:tcPr>
                </a:tc>
                <a:tc>
                  <a:txBody>
                    <a:bodyPr/>
                    <a:lstStyle/>
                    <a:p>
                      <a:pPr>
                        <a:defRPr sz="1000">
                          <a:solidFill>
                            <a:srgbClr val="03213F"/>
                          </a:solidFill>
                        </a:defRPr>
                      </a:pPr>
                      <a:r>
                        <a:t>The artefact finance will challenge — so the assumptions are shown</a:t>
                      </a:r>
                    </a:p>
                  </a:txBody>
                  <a:tcPr marL="54864" marR="54864" marT="27432" marB="27432" anchor="ctr">
                    <a:solidFill>
                      <a:srgbClr val="F2F4F7"/>
                    </a:solidFill>
                  </a:tcPr>
                </a:tc>
              </a:tr>
              <a:tr h="411479">
                <a:tc>
                  <a:txBody>
                    <a:bodyPr/>
                    <a:lstStyle/>
                    <a:p>
                      <a:pPr>
                        <a:defRPr sz="1000">
                          <a:solidFill>
                            <a:srgbClr val="03213F"/>
                          </a:solidFill>
                        </a:defRPr>
                      </a:pPr>
                      <a:r>
                        <a:t>Technical KPIs</a:t>
                      </a:r>
                    </a:p>
                  </a:txBody>
                  <a:tcPr marL="54864" marR="54864" marT="27432" marB="27432" anchor="ctr">
                    <a:solidFill>
                      <a:srgbClr val="FFFFFF"/>
                    </a:solidFill>
                  </a:tcPr>
                </a:tc>
                <a:tc>
                  <a:txBody>
                    <a:bodyPr/>
                    <a:lstStyle/>
                    <a:p>
                      <a:pPr>
                        <a:defRPr sz="1000">
                          <a:solidFill>
                            <a:srgbClr val="03213F"/>
                          </a:solidFill>
                        </a:defRPr>
                      </a:pPr>
                      <a:r>
                        <a:t>Standardised technical measures with peer comparison</a:t>
                      </a:r>
                    </a:p>
                  </a:txBody>
                  <a:tcPr marL="54864" marR="54864" marT="27432" marB="27432" anchor="ctr">
                    <a:solidFill>
                      <a:srgbClr val="FFFFFF"/>
                    </a:solidFill>
                  </a:tcPr>
                </a:tc>
                <a:tc>
                  <a:txBody>
                    <a:bodyPr/>
                    <a:lstStyle/>
                    <a:p>
                      <a:pPr>
                        <a:defRPr sz="1000">
                          <a:solidFill>
                            <a:srgbClr val="03213F"/>
                          </a:solidFill>
                        </a:defRPr>
                      </a:pPr>
                      <a:r>
                        <a:t>Answers 'how good are we?' with context</a:t>
                      </a:r>
                    </a:p>
                  </a:txBody>
                  <a:tcPr marL="54864" marR="54864" marT="27432" marB="27432" anchor="ctr">
                    <a:solidFill>
                      <a:srgbClr val="FFFFFF"/>
                    </a:solidFill>
                  </a:tcPr>
                </a:tc>
              </a:tr>
            </a:tbl>
          </a:graphicData>
        </a:graphic>
      </p:graphicFrame>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Product adoption and recommendations</a:t>
            </a:r>
          </a:p>
          <a:p>
            <a:pPr>
              <a:defRPr sz="1200">
                <a:solidFill>
                  <a:srgbClr val="C9D6E2"/>
                </a:solidFill>
              </a:defRPr>
            </a:pPr>
            <a:r>
              <a:t>Closing the gap between what we own and what we use</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Capability Maps show entitlements and adoption status, generated per instance — so we can see the gap between purchased and used.</a:t>
            </a:r>
          </a:p>
          <a:p>
            <a:pPr>
              <a:spcAft>
                <a:spcPts val="753"/>
              </a:spcAft>
              <a:defRPr sz="1400" b="0">
                <a:solidFill>
                  <a:srgbClr val="03213F"/>
                </a:solidFill>
              </a:defRPr>
            </a:pPr>
            <a:r>
              <a:t>Product Adoption Roadmaps sequence capabilities into phases aligned to objectives, published and date-targeted.</a:t>
            </a:r>
          </a:p>
          <a:p>
            <a:pPr>
              <a:spcAft>
                <a:spcPts val="753"/>
              </a:spcAft>
              <a:defRPr sz="1400" b="0">
                <a:solidFill>
                  <a:srgbClr val="03213F"/>
                </a:solidFill>
              </a:defRPr>
            </a:pPr>
            <a:r>
              <a:t>The recommendation engine surfaces the next best action on the Impact home page and in the IDI, each with rationale.</a:t>
            </a:r>
          </a:p>
          <a:p>
            <a:pPr>
              <a:spcAft>
                <a:spcPts val="753"/>
              </a:spcAft>
              <a:defRPr sz="1400" b="0">
                <a:solidFill>
                  <a:srgbClr val="03213F"/>
                </a:solidFill>
              </a:defRPr>
            </a:pPr>
            <a:r>
              <a:t>Recommendations can be converted into work items in SPM or CWM (or Jira/Azure DevOps via integration) so they enter governed delivery.</a:t>
            </a:r>
          </a:p>
          <a:p>
            <a:pPr>
              <a:spcAft>
                <a:spcPts val="753"/>
              </a:spcAft>
              <a:defRPr sz="1400" b="0">
                <a:solidFill>
                  <a:srgbClr val="03213F"/>
                </a:solidFill>
              </a:defRPr>
            </a:pPr>
            <a:r>
              <a:t>Accelerators and Initiatives are the delivery mechanism: fixed-scope expert engagements against the catalog.</a:t>
            </a:r>
          </a:p>
          <a:p>
            <a:pPr>
              <a:spcAft>
                <a:spcPts val="753"/>
              </a:spcAft>
              <a:defRPr sz="1400" b="0">
                <a:solidFill>
                  <a:srgbClr val="03213F"/>
                </a:solidFill>
              </a:defRPr>
            </a:pPr>
            <a:r>
              <a:t>Concurrency governs how many can run at once — documented as 1 at a time for Guided and 7 concurrent for Total, plus Add-on concurrency.</a:t>
            </a:r>
          </a:p>
          <a:p>
            <a:pPr>
              <a:spcAft>
                <a:spcPts val="753"/>
              </a:spcAft>
              <a:defRPr sz="1400" b="0">
                <a:solidFill>
                  <a:srgbClr val="03213F"/>
                </a:solidFill>
              </a:defRPr>
            </a:pPr>
            <a:r>
              <a:t>Subscriptions and the Consumption Report give transparent visibility of what was purchased and what was actually consumed.</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Experts, learning and governance</a:t>
            </a:r>
          </a:p>
          <a:p>
            <a:pPr>
              <a:defRPr sz="1200">
                <a:solidFill>
                  <a:srgbClr val="C9D6E2"/>
                </a:solidFill>
              </a:defRPr>
            </a:pPr>
            <a:r>
              <a:t>The human layer that makes the tooling stick</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2560315"/>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Element</a:t>
                      </a:r>
                    </a:p>
                  </a:txBody>
                  <a:tcPr marL="54864" marR="54864" marT="27432" marB="27432" anchor="ctr">
                    <a:solidFill>
                      <a:srgbClr val="1F4E79"/>
                    </a:solidFill>
                  </a:tcPr>
                </a:tc>
                <a:tc>
                  <a:txBody>
                    <a:bodyPr/>
                    <a:lstStyle/>
                    <a:p>
                      <a:pPr>
                        <a:defRPr sz="1000" b="1">
                          <a:solidFill>
                            <a:srgbClr val="FFFFFF"/>
                          </a:solidFill>
                        </a:defRPr>
                      </a:pPr>
                      <a:r>
                        <a:t>What it provides</a:t>
                      </a:r>
                    </a:p>
                  </a:txBody>
                  <a:tcPr marL="54864" marR="54864" marT="27432" marB="27432" anchor="ctr">
                    <a:solidFill>
                      <a:srgbClr val="1F4E79"/>
                    </a:solidFill>
                  </a:tcPr>
                </a:tc>
                <a:tc>
                  <a:txBody>
                    <a:bodyPr/>
                    <a:lstStyle/>
                    <a:p>
                      <a:pPr>
                        <a:defRPr sz="1000" b="1">
                          <a:solidFill>
                            <a:srgbClr val="FFFFFF"/>
                          </a:solidFill>
                        </a:defRPr>
                      </a:pPr>
                      <a:r>
                        <a:t>How we consume it</a:t>
                      </a:r>
                    </a:p>
                  </a:txBody>
                  <a:tcPr marL="54864" marR="54864" marT="27432" marB="27432" anchor="ctr">
                    <a:solidFill>
                      <a:srgbClr val="1F4E79"/>
                    </a:solidFill>
                  </a:tcPr>
                </a:tc>
              </a:tr>
              <a:tr h="411479">
                <a:tc>
                  <a:txBody>
                    <a:bodyPr/>
                    <a:lstStyle/>
                    <a:p>
                      <a:pPr>
                        <a:defRPr sz="1000">
                          <a:solidFill>
                            <a:srgbClr val="03213F"/>
                          </a:solidFill>
                        </a:defRPr>
                      </a:pPr>
                      <a:r>
                        <a:t>Impact Squad</a:t>
                      </a:r>
                    </a:p>
                  </a:txBody>
                  <a:tcPr marL="54864" marR="54864" marT="27432" marB="27432" anchor="ctr">
                    <a:solidFill>
                      <a:srgbClr val="FFFFFF"/>
                    </a:solidFill>
                  </a:tcPr>
                </a:tc>
                <a:tc>
                  <a:txBody>
                    <a:bodyPr/>
                    <a:lstStyle/>
                    <a:p>
                      <a:pPr>
                        <a:defRPr sz="1000">
                          <a:solidFill>
                            <a:srgbClr val="03213F"/>
                          </a:solidFill>
                        </a:defRPr>
                      </a:pPr>
                      <a:r>
                        <a:t>Customer Success Manager, plus CSE / Platform Architect / SAM in higher packages</a:t>
                      </a:r>
                    </a:p>
                  </a:txBody>
                  <a:tcPr marL="54864" marR="54864" marT="27432" marB="27432" anchor="ctr">
                    <a:solidFill>
                      <a:srgbClr val="FFFFFF"/>
                    </a:solidFill>
                  </a:tcPr>
                </a:tc>
                <a:tc>
                  <a:txBody>
                    <a:bodyPr/>
                    <a:lstStyle/>
                    <a:p>
                      <a:pPr>
                        <a:defRPr sz="1000">
                          <a:solidFill>
                            <a:srgbClr val="03213F"/>
                          </a:solidFill>
                        </a:defRPr>
                      </a:pPr>
                      <a:r>
                        <a:t>Activity Center conversations, tasks, calendar, files</a:t>
                      </a:r>
                    </a:p>
                  </a:txBody>
                  <a:tcPr marL="54864" marR="54864" marT="27432" marB="27432" anchor="ctr">
                    <a:solidFill>
                      <a:srgbClr val="FFFFFF"/>
                    </a:solidFill>
                  </a:tcPr>
                </a:tc>
              </a:tr>
              <a:tr h="411479">
                <a:tc>
                  <a:txBody>
                    <a:bodyPr/>
                    <a:lstStyle/>
                    <a:p>
                      <a:pPr>
                        <a:defRPr sz="1000">
                          <a:solidFill>
                            <a:srgbClr val="03213F"/>
                          </a:solidFill>
                        </a:defRPr>
                      </a:pPr>
                      <a:r>
                        <a:t>Developer Support</a:t>
                      </a:r>
                    </a:p>
                  </a:txBody>
                  <a:tcPr marL="54864" marR="54864" marT="27432" marB="27432" anchor="ctr">
                    <a:solidFill>
                      <a:srgbClr val="F2F4F7"/>
                    </a:solidFill>
                  </a:tcPr>
                </a:tc>
                <a:tc>
                  <a:txBody>
                    <a:bodyPr/>
                    <a:lstStyle/>
                    <a:p>
                      <a:pPr>
                        <a:defRPr sz="1000">
                          <a:solidFill>
                            <a:srgbClr val="03213F"/>
                          </a:solidFill>
                        </a:defRPr>
                      </a:pPr>
                      <a:r>
                        <a:t>Named engineers who help troubleshoot our existing customisations</a:t>
                      </a:r>
                    </a:p>
                  </a:txBody>
                  <a:tcPr marL="54864" marR="54864" marT="27432" marB="27432" anchor="ctr">
                    <a:solidFill>
                      <a:srgbClr val="F2F4F7"/>
                    </a:solidFill>
                  </a:tcPr>
                </a:tc>
                <a:tc>
                  <a:txBody>
                    <a:bodyPr/>
                    <a:lstStyle/>
                    <a:p>
                      <a:pPr>
                        <a:defRPr sz="1000">
                          <a:solidFill>
                            <a:srgbClr val="03213F"/>
                          </a:solidFill>
                        </a:defRPr>
                      </a:pPr>
                      <a:r>
                        <a:t>Named individuals raise cases; documented as 5 seats Guided / 10 Total — verify</a:t>
                      </a:r>
                    </a:p>
                  </a:txBody>
                  <a:tcPr marL="54864" marR="54864" marT="27432" marB="27432" anchor="ctr">
                    <a:solidFill>
                      <a:srgbClr val="F2F4F7"/>
                    </a:solidFill>
                  </a:tcPr>
                </a:tc>
              </a:tr>
              <a:tr h="411479">
                <a:tc>
                  <a:txBody>
                    <a:bodyPr/>
                    <a:lstStyle/>
                    <a:p>
                      <a:pPr>
                        <a:defRPr sz="1000">
                          <a:solidFill>
                            <a:srgbClr val="03213F"/>
                          </a:solidFill>
                        </a:defRPr>
                      </a:pPr>
                      <a:r>
                        <a:t>Accelerators</a:t>
                      </a:r>
                    </a:p>
                  </a:txBody>
                  <a:tcPr marL="54864" marR="54864" marT="27432" marB="27432" anchor="ctr">
                    <a:solidFill>
                      <a:srgbClr val="FFFFFF"/>
                    </a:solidFill>
                  </a:tcPr>
                </a:tc>
                <a:tc>
                  <a:txBody>
                    <a:bodyPr/>
                    <a:lstStyle/>
                    <a:p>
                      <a:pPr>
                        <a:defRPr sz="1000">
                          <a:solidFill>
                            <a:srgbClr val="03213F"/>
                          </a:solidFill>
                        </a:defRPr>
                      </a:pPr>
                      <a:r>
                        <a:t>Fixed-scope, expert-led engagements against four sub-catalogs</a:t>
                      </a:r>
                    </a:p>
                  </a:txBody>
                  <a:tcPr marL="54864" marR="54864" marT="27432" marB="27432" anchor="ctr">
                    <a:solidFill>
                      <a:srgbClr val="FFFFFF"/>
                    </a:solidFill>
                  </a:tcPr>
                </a:tc>
                <a:tc>
                  <a:txBody>
                    <a:bodyPr/>
                    <a:lstStyle/>
                    <a:p>
                      <a:pPr>
                        <a:defRPr sz="1000">
                          <a:solidFill>
                            <a:srgbClr val="03213F"/>
                          </a:solidFill>
                        </a:defRPr>
                      </a:pPr>
                      <a:r>
                        <a:t>Requested from the app or IDI, consumed against concurrency</a:t>
                      </a:r>
                    </a:p>
                  </a:txBody>
                  <a:tcPr marL="54864" marR="54864" marT="27432" marB="27432" anchor="ctr">
                    <a:solidFill>
                      <a:srgbClr val="FFFFFF"/>
                    </a:solidFill>
                  </a:tcPr>
                </a:tc>
              </a:tr>
              <a:tr h="251460">
                <a:tc>
                  <a:txBody>
                    <a:bodyPr/>
                    <a:lstStyle/>
                    <a:p>
                      <a:pPr>
                        <a:defRPr sz="1000">
                          <a:solidFill>
                            <a:srgbClr val="03213F"/>
                          </a:solidFill>
                        </a:defRPr>
                      </a:pPr>
                      <a:r>
                        <a:t>Initiatives</a:t>
                      </a:r>
                    </a:p>
                  </a:txBody>
                  <a:tcPr marL="54864" marR="54864" marT="27432" marB="27432" anchor="ctr">
                    <a:solidFill>
                      <a:srgbClr val="F2F4F7"/>
                    </a:solidFill>
                  </a:tcPr>
                </a:tc>
                <a:tc>
                  <a:txBody>
                    <a:bodyPr/>
                    <a:lstStyle/>
                    <a:p>
                      <a:pPr>
                        <a:defRPr sz="1000">
                          <a:solidFill>
                            <a:srgbClr val="03213F"/>
                          </a:solidFill>
                        </a:defRPr>
                      </a:pPr>
                      <a:r>
                        <a:t>Multi-Accelerator programs towards a larger goal</a:t>
                      </a:r>
                    </a:p>
                  </a:txBody>
                  <a:tcPr marL="54864" marR="54864" marT="27432" marB="27432" anchor="ctr">
                    <a:solidFill>
                      <a:srgbClr val="F2F4F7"/>
                    </a:solidFill>
                  </a:tcPr>
                </a:tc>
                <a:tc>
                  <a:txBody>
                    <a:bodyPr/>
                    <a:lstStyle/>
                    <a:p>
                      <a:pPr>
                        <a:defRPr sz="1000">
                          <a:solidFill>
                            <a:srgbClr val="03213F"/>
                          </a:solidFill>
                        </a:defRPr>
                      </a:pPr>
                      <a:r>
                        <a:t>Planned with the squad across quarters</a:t>
                      </a:r>
                    </a:p>
                  </a:txBody>
                  <a:tcPr marL="54864" marR="54864" marT="27432" marB="27432" anchor="ctr">
                    <a:solidFill>
                      <a:srgbClr val="F2F4F7"/>
                    </a:solidFill>
                  </a:tcPr>
                </a:tc>
              </a:tr>
              <a:tr h="411479">
                <a:tc>
                  <a:txBody>
                    <a:bodyPr/>
                    <a:lstStyle/>
                    <a:p>
                      <a:pPr>
                        <a:defRPr sz="1000">
                          <a:solidFill>
                            <a:srgbClr val="03213F"/>
                          </a:solidFill>
                        </a:defRPr>
                      </a:pPr>
                      <a:r>
                        <a:t>Learning</a:t>
                      </a:r>
                    </a:p>
                  </a:txBody>
                  <a:tcPr marL="54864" marR="54864" marT="27432" marB="27432" anchor="ctr">
                    <a:solidFill>
                      <a:srgbClr val="FFFFFF"/>
                    </a:solidFill>
                  </a:tcPr>
                </a:tc>
                <a:tc>
                  <a:txBody>
                    <a:bodyPr/>
                    <a:lstStyle/>
                    <a:p>
                      <a:pPr>
                        <a:defRPr sz="1000">
                          <a:solidFill>
                            <a:srgbClr val="03213F"/>
                          </a:solidFill>
                        </a:defRPr>
                      </a:pPr>
                      <a:r>
                        <a:t>Training Insights, contextual course recommendations, learning credits</a:t>
                      </a:r>
                    </a:p>
                  </a:txBody>
                  <a:tcPr marL="54864" marR="54864" marT="27432" marB="27432" anchor="ctr">
                    <a:solidFill>
                      <a:srgbClr val="FFFFFF"/>
                    </a:solidFill>
                  </a:tcPr>
                </a:tc>
                <a:tc>
                  <a:txBody>
                    <a:bodyPr/>
                    <a:lstStyle/>
                    <a:p>
                      <a:pPr>
                        <a:defRPr sz="1000">
                          <a:solidFill>
                            <a:srgbClr val="03213F"/>
                          </a:solidFill>
                        </a:defRPr>
                      </a:pPr>
                      <a:r>
                        <a:t>Credits allocated against under-performing outcomes</a:t>
                      </a:r>
                    </a:p>
                  </a:txBody>
                  <a:tcPr marL="54864" marR="54864" marT="27432" marB="27432" anchor="ctr">
                    <a:solidFill>
                      <a:srgbClr val="FFFFFF"/>
                    </a:solidFill>
                  </a:tcPr>
                </a:tc>
              </a:tr>
              <a:tr h="411479">
                <a:tc>
                  <a:txBody>
                    <a:bodyPr/>
                    <a:lstStyle/>
                    <a:p>
                      <a:pPr>
                        <a:defRPr sz="1000">
                          <a:solidFill>
                            <a:srgbClr val="03213F"/>
                          </a:solidFill>
                        </a:defRPr>
                      </a:pPr>
                      <a:r>
                        <a:t>Operating model</a:t>
                      </a:r>
                    </a:p>
                  </a:txBody>
                  <a:tcPr marL="54864" marR="54864" marT="27432" marB="27432" anchor="ctr">
                    <a:solidFill>
                      <a:srgbClr val="F2F4F7"/>
                    </a:solidFill>
                  </a:tcPr>
                </a:tc>
                <a:tc>
                  <a:txBody>
                    <a:bodyPr/>
                    <a:lstStyle/>
                    <a:p>
                      <a:pPr>
                        <a:defRPr sz="1000">
                          <a:solidFill>
                            <a:srgbClr val="03213F"/>
                          </a:solidFill>
                        </a:defRPr>
                      </a:pPr>
                      <a:r>
                        <a:t>Foundations phase, then monthly and quarterly Steady State reviews</a:t>
                      </a:r>
                    </a:p>
                  </a:txBody>
                  <a:tcPr marL="54864" marR="54864" marT="27432" marB="27432" anchor="ctr">
                    <a:solidFill>
                      <a:srgbClr val="F2F4F7"/>
                    </a:solidFill>
                  </a:tcPr>
                </a:tc>
                <a:tc>
                  <a:txBody>
                    <a:bodyPr/>
                    <a:lstStyle/>
                    <a:p>
                      <a:pPr>
                        <a:defRPr sz="1000">
                          <a:solidFill>
                            <a:srgbClr val="03213F"/>
                          </a:solidFill>
                        </a:defRPr>
                      </a:pPr>
                      <a:r>
                        <a:t>Calendarised governance with named attendees</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5. Client scenarios — problem → capability → outcome (1/3)</a:t>
            </a:r>
          </a:p>
          <a:p>
            <a:pPr>
              <a:defRPr sz="1200">
                <a:solidFill>
                  <a:srgbClr val="C9D6E2"/>
                </a:solidFill>
              </a:defRPr>
            </a:pPr>
            <a:r>
              <a:t>Twelve worked scenarios from Australian enterprise and government programs</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1897376"/>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Problem</a:t>
                      </a:r>
                    </a:p>
                  </a:txBody>
                  <a:tcPr marL="54864" marR="54864" marT="27432" marB="27432" anchor="ctr">
                    <a:solidFill>
                      <a:srgbClr val="1F4E79"/>
                    </a:solidFill>
                  </a:tcPr>
                </a:tc>
                <a:tc>
                  <a:txBody>
                    <a:bodyPr/>
                    <a:lstStyle/>
                    <a:p>
                      <a:pPr>
                        <a:defRPr sz="1000" b="1">
                          <a:solidFill>
                            <a:srgbClr val="FFFFFF"/>
                          </a:solidFill>
                        </a:defRPr>
                      </a:pPr>
                      <a:r>
                        <a:t>Impact capability</a:t>
                      </a:r>
                    </a:p>
                  </a:txBody>
                  <a:tcPr marL="54864" marR="54864" marT="27432" marB="27432" anchor="ctr">
                    <a:solidFill>
                      <a:srgbClr val="1F4E79"/>
                    </a:solidFill>
                  </a:tcPr>
                </a:tc>
                <a:tc>
                  <a:txBody>
                    <a:bodyPr/>
                    <a:lstStyle/>
                    <a:p>
                      <a:pPr>
                        <a:defRPr sz="1000" b="1">
                          <a:solidFill>
                            <a:srgbClr val="FFFFFF"/>
                          </a:solidFill>
                        </a:defRPr>
                      </a:pPr>
                      <a:r>
                        <a:t>Measurable outcome</a:t>
                      </a:r>
                    </a:p>
                  </a:txBody>
                  <a:tcPr marL="54864" marR="54864" marT="27432" marB="27432" anchor="ctr">
                    <a:solidFill>
                      <a:srgbClr val="1F4E79"/>
                    </a:solidFill>
                  </a:tcPr>
                </a:tc>
              </a:tr>
              <a:tr h="411479">
                <a:tc>
                  <a:txBody>
                    <a:bodyPr/>
                    <a:lstStyle/>
                    <a:p>
                      <a:pPr>
                        <a:defRPr sz="1000">
                          <a:solidFill>
                            <a:srgbClr val="03213F"/>
                          </a:solidFill>
                        </a:defRPr>
                      </a:pPr>
                      <a:r>
                        <a:t>Renewal conversation you cannot support</a:t>
                      </a:r>
                    </a:p>
                  </a:txBody>
                  <a:tcPr marL="54864" marR="54864" marT="27432" marB="27432" anchor="ctr">
                    <a:solidFill>
                      <a:srgbClr val="FFFFFF"/>
                    </a:solidFill>
                  </a:tcPr>
                </a:tc>
                <a:tc>
                  <a:txBody>
                    <a:bodyPr/>
                    <a:lstStyle/>
                    <a:p>
                      <a:pPr>
                        <a:defRPr sz="1000">
                          <a:solidFill>
                            <a:srgbClr val="03213F"/>
                          </a:solidFill>
                        </a:defRPr>
                      </a:pPr>
                      <a:r>
                        <a:t>Value Management: objectives → outcomes → success metrics → Value Reports</a:t>
                      </a:r>
                    </a:p>
                  </a:txBody>
                  <a:tcPr marL="54864" marR="54864" marT="27432" marB="27432" anchor="ctr">
                    <a:solidFill>
                      <a:srgbClr val="FFFFFF"/>
                    </a:solidFill>
                  </a:tcPr>
                </a:tc>
                <a:tc>
                  <a:txBody>
                    <a:bodyPr/>
                    <a:lstStyle/>
                    <a:p>
                      <a:pPr>
                        <a:defRPr sz="1000">
                          <a:solidFill>
                            <a:srgbClr val="03213F"/>
                          </a:solidFill>
                        </a:defRPr>
                      </a:pPr>
                      <a:r>
                        <a:t>Defensible ROI at renewal — but start early; Value Reports need ~2 years of data</a:t>
                      </a:r>
                    </a:p>
                  </a:txBody>
                  <a:tcPr marL="54864" marR="54864" marT="27432" marB="27432" anchor="ctr">
                    <a:solidFill>
                      <a:srgbClr val="FFFFFF"/>
                    </a:solidFill>
                  </a:tcPr>
                </a:tc>
              </a:tr>
              <a:tr h="411479">
                <a:tc>
                  <a:txBody>
                    <a:bodyPr/>
                    <a:lstStyle/>
                    <a:p>
                      <a:pPr>
                        <a:defRPr sz="1000">
                          <a:solidFill>
                            <a:srgbClr val="03213F"/>
                          </a:solidFill>
                        </a:defRPr>
                      </a:pPr>
                      <a:r>
                        <a:t>Shelf-ware we keep paying for</a:t>
                      </a:r>
                    </a:p>
                  </a:txBody>
                  <a:tcPr marL="54864" marR="54864" marT="27432" marB="27432" anchor="ctr">
                    <a:solidFill>
                      <a:srgbClr val="F2F4F7"/>
                    </a:solidFill>
                  </a:tcPr>
                </a:tc>
                <a:tc>
                  <a:txBody>
                    <a:bodyPr/>
                    <a:lstStyle/>
                    <a:p>
                      <a:pPr>
                        <a:defRPr sz="1000">
                          <a:solidFill>
                            <a:srgbClr val="03213F"/>
                          </a:solidFill>
                        </a:defRPr>
                      </a:pPr>
                      <a:r>
                        <a:t>Capability Maps, Product Adoption Roadmaps, Subscriptions</a:t>
                      </a:r>
                    </a:p>
                  </a:txBody>
                  <a:tcPr marL="54864" marR="54864" marT="27432" marB="27432" anchor="ctr">
                    <a:solidFill>
                      <a:srgbClr val="F2F4F7"/>
                    </a:solidFill>
                  </a:tcPr>
                </a:tc>
                <a:tc>
                  <a:txBody>
                    <a:bodyPr/>
                    <a:lstStyle/>
                    <a:p>
                      <a:pPr>
                        <a:defRPr sz="1000">
                          <a:solidFill>
                            <a:srgbClr val="03213F"/>
                          </a:solidFill>
                        </a:defRPr>
                      </a:pPr>
                      <a:r>
                        <a:t>Reduced shelf-ware, sequenced adoption instead of a wish list</a:t>
                      </a:r>
                    </a:p>
                  </a:txBody>
                  <a:tcPr marL="54864" marR="54864" marT="27432" marB="27432" anchor="ctr">
                    <a:solidFill>
                      <a:srgbClr val="F2F4F7"/>
                    </a:solidFill>
                  </a:tcPr>
                </a:tc>
              </a:tr>
              <a:tr h="411479">
                <a:tc>
                  <a:txBody>
                    <a:bodyPr/>
                    <a:lstStyle/>
                    <a:p>
                      <a:pPr>
                        <a:defRPr sz="1000">
                          <a:solidFill>
                            <a:srgbClr val="03213F"/>
                          </a:solidFill>
                        </a:defRPr>
                      </a:pPr>
                      <a:r>
                        <a:t>Technical debt found too late</a:t>
                      </a:r>
                    </a:p>
                  </a:txBody>
                  <a:tcPr marL="54864" marR="54864" marT="27432" marB="27432" anchor="ctr">
                    <a:solidFill>
                      <a:srgbClr val="FFFFFF"/>
                    </a:solidFill>
                  </a:tcPr>
                </a:tc>
                <a:tc>
                  <a:txBody>
                    <a:bodyPr/>
                    <a:lstStyle/>
                    <a:p>
                      <a:pPr>
                        <a:defRPr sz="1000">
                          <a:solidFill>
                            <a:srgbClr val="03213F"/>
                          </a:solidFill>
                        </a:defRPr>
                      </a:pPr>
                      <a:r>
                        <a:t>HealthScan, Scan Engine, update-set scans, Proactive Code Check, AI fixes</a:t>
                      </a:r>
                    </a:p>
                  </a:txBody>
                  <a:tcPr marL="54864" marR="54864" marT="27432" marB="27432" anchor="ctr">
                    <a:solidFill>
                      <a:srgbClr val="FFFFFF"/>
                    </a:solidFill>
                  </a:tcPr>
                </a:tc>
                <a:tc>
                  <a:txBody>
                    <a:bodyPr/>
                    <a:lstStyle/>
                    <a:p>
                      <a:pPr>
                        <a:defRPr sz="1000">
                          <a:solidFill>
                            <a:srgbClr val="03213F"/>
                          </a:solidFill>
                        </a:defRPr>
                      </a:pPr>
                      <a:r>
                        <a:t>Fewer upgrade defects and a documented pre-upgrade health baseline</a:t>
                      </a:r>
                    </a:p>
                  </a:txBody>
                  <a:tcPr marL="54864" marR="54864" marT="27432" marB="27432" anchor="ctr">
                    <a:solidFill>
                      <a:srgbClr val="FFFFFF"/>
                    </a:solidFill>
                  </a:tcPr>
                </a:tc>
              </a:tr>
              <a:tr h="411479">
                <a:tc>
                  <a:txBody>
                    <a:bodyPr/>
                    <a:lstStyle/>
                    <a:p>
                      <a:pPr>
                        <a:defRPr sz="1000">
                          <a:solidFill>
                            <a:srgbClr val="03213F"/>
                          </a:solidFill>
                        </a:defRPr>
                      </a:pPr>
                      <a:r>
                        <a:t>Performance reported by users, not monitoring</a:t>
                      </a:r>
                    </a:p>
                  </a:txBody>
                  <a:tcPr marL="54864" marR="54864" marT="27432" marB="27432" anchor="ctr">
                    <a:solidFill>
                      <a:srgbClr val="F2F4F7"/>
                    </a:solidFill>
                  </a:tcPr>
                </a:tc>
                <a:tc>
                  <a:txBody>
                    <a:bodyPr/>
                    <a:lstStyle/>
                    <a:p>
                      <a:pPr>
                        <a:defRPr sz="1000">
                          <a:solidFill>
                            <a:srgbClr val="03213F"/>
                          </a:solidFill>
                        </a:defRPr>
                      </a:pPr>
                      <a:r>
                        <a:t>Instance Observer: anomaly alerts, triage, root-cause correlation</a:t>
                      </a:r>
                    </a:p>
                  </a:txBody>
                  <a:tcPr marL="54864" marR="54864" marT="27432" marB="27432" anchor="ctr">
                    <a:solidFill>
                      <a:srgbClr val="F2F4F7"/>
                    </a:solidFill>
                  </a:tcPr>
                </a:tc>
                <a:tc>
                  <a:txBody>
                    <a:bodyPr/>
                    <a:lstStyle/>
                    <a:p>
                      <a:pPr>
                        <a:defRPr sz="1000">
                          <a:solidFill>
                            <a:srgbClr val="03213F"/>
                          </a:solidFill>
                        </a:defRPr>
                      </a:pPr>
                      <a:r>
                        <a:t>Detection before user reports; shorter MTTR with evidence attached</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5. Client scenarios — problem → capability → outcome (2/3)</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1897376"/>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Problem</a:t>
                      </a:r>
                    </a:p>
                  </a:txBody>
                  <a:tcPr marL="54864" marR="54864" marT="27432" marB="27432" anchor="ctr">
                    <a:solidFill>
                      <a:srgbClr val="1F4E79"/>
                    </a:solidFill>
                  </a:tcPr>
                </a:tc>
                <a:tc>
                  <a:txBody>
                    <a:bodyPr/>
                    <a:lstStyle/>
                    <a:p>
                      <a:pPr>
                        <a:defRPr sz="1000" b="1">
                          <a:solidFill>
                            <a:srgbClr val="FFFFFF"/>
                          </a:solidFill>
                        </a:defRPr>
                      </a:pPr>
                      <a:r>
                        <a:t>Impact capability</a:t>
                      </a:r>
                    </a:p>
                  </a:txBody>
                  <a:tcPr marL="54864" marR="54864" marT="27432" marB="27432" anchor="ctr">
                    <a:solidFill>
                      <a:srgbClr val="1F4E79"/>
                    </a:solidFill>
                  </a:tcPr>
                </a:tc>
                <a:tc>
                  <a:txBody>
                    <a:bodyPr/>
                    <a:lstStyle/>
                    <a:p>
                      <a:pPr>
                        <a:defRPr sz="1000" b="1">
                          <a:solidFill>
                            <a:srgbClr val="FFFFFF"/>
                          </a:solidFill>
                        </a:defRPr>
                      </a:pPr>
                      <a:r>
                        <a:t>Measurable outcome</a:t>
                      </a:r>
                    </a:p>
                  </a:txBody>
                  <a:tcPr marL="54864" marR="54864" marT="27432" marB="27432" anchor="ctr">
                    <a:solidFill>
                      <a:srgbClr val="1F4E79"/>
                    </a:solidFill>
                  </a:tcPr>
                </a:tc>
              </a:tr>
              <a:tr h="411479">
                <a:tc>
                  <a:txBody>
                    <a:bodyPr/>
                    <a:lstStyle/>
                    <a:p>
                      <a:pPr>
                        <a:defRPr sz="1000">
                          <a:solidFill>
                            <a:srgbClr val="03213F"/>
                          </a:solidFill>
                        </a:defRPr>
                      </a:pPr>
                      <a:r>
                        <a:t>New platform owner inherits an undocumented program</a:t>
                      </a:r>
                    </a:p>
                  </a:txBody>
                  <a:tcPr marL="54864" marR="54864" marT="27432" marB="27432" anchor="ctr">
                    <a:solidFill>
                      <a:srgbClr val="FFFFFF"/>
                    </a:solidFill>
                  </a:tcPr>
                </a:tc>
                <a:tc>
                  <a:txBody>
                    <a:bodyPr/>
                    <a:lstStyle/>
                    <a:p>
                      <a:pPr>
                        <a:defRPr sz="1000">
                          <a:solidFill>
                            <a:srgbClr val="03213F"/>
                          </a:solidFill>
                        </a:defRPr>
                      </a:pPr>
                      <a:r>
                        <a:t>Impact Squad, home page, Digest, Activity Center, roadmaps, training</a:t>
                      </a:r>
                    </a:p>
                  </a:txBody>
                  <a:tcPr marL="54864" marR="54864" marT="27432" marB="27432" anchor="ctr">
                    <a:solidFill>
                      <a:srgbClr val="FFFFFF"/>
                    </a:solidFill>
                  </a:tcPr>
                </a:tc>
                <a:tc>
                  <a:txBody>
                    <a:bodyPr/>
                    <a:lstStyle/>
                    <a:p>
                      <a:pPr>
                        <a:defRPr sz="1000">
                          <a:solidFill>
                            <a:srgbClr val="03213F"/>
                          </a:solidFill>
                        </a:defRPr>
                      </a:pPr>
                      <a:r>
                        <a:t>Continuity of the value narrative within the first quarter</a:t>
                      </a:r>
                    </a:p>
                  </a:txBody>
                  <a:tcPr marL="54864" marR="54864" marT="27432" marB="27432" anchor="ctr">
                    <a:solidFill>
                      <a:srgbClr val="FFFFFF"/>
                    </a:solidFill>
                  </a:tcPr>
                </a:tc>
              </a:tr>
              <a:tr h="411479">
                <a:tc>
                  <a:txBody>
                    <a:bodyPr/>
                    <a:lstStyle/>
                    <a:p>
                      <a:pPr>
                        <a:defRPr sz="1000">
                          <a:solidFill>
                            <a:srgbClr val="03213F"/>
                          </a:solidFill>
                        </a:defRPr>
                      </a:pPr>
                      <a:r>
                        <a:t>Change management is reactive</a:t>
                      </a:r>
                    </a:p>
                  </a:txBody>
                  <a:tcPr marL="54864" marR="54864" marT="27432" marB="27432" anchor="ctr">
                    <a:solidFill>
                      <a:srgbClr val="F2F4F7"/>
                    </a:solidFill>
                  </a:tcPr>
                </a:tc>
                <a:tc>
                  <a:txBody>
                    <a:bodyPr/>
                    <a:lstStyle/>
                    <a:p>
                      <a:pPr>
                        <a:defRPr sz="1000">
                          <a:solidFill>
                            <a:srgbClr val="03213F"/>
                          </a:solidFill>
                        </a:defRPr>
                      </a:pPr>
                      <a:r>
                        <a:t>Real-Time Prevention, custom definitions and suites, exception reasons</a:t>
                      </a:r>
                    </a:p>
                  </a:txBody>
                  <a:tcPr marL="54864" marR="54864" marT="27432" marB="27432" anchor="ctr">
                    <a:solidFill>
                      <a:srgbClr val="F2F4F7"/>
                    </a:solidFill>
                  </a:tcPr>
                </a:tc>
                <a:tc>
                  <a:txBody>
                    <a:bodyPr/>
                    <a:lstStyle/>
                    <a:p>
                      <a:pPr>
                        <a:defRPr sz="1000">
                          <a:solidFill>
                            <a:srgbClr val="03213F"/>
                          </a:solidFill>
                        </a:defRPr>
                      </a:pPr>
                      <a:r>
                        <a:t>Fewer change-related production incidents, with evidence of enforcement</a:t>
                      </a:r>
                    </a:p>
                  </a:txBody>
                  <a:tcPr marL="54864" marR="54864" marT="27432" marB="27432" anchor="ctr">
                    <a:solidFill>
                      <a:srgbClr val="F2F4F7"/>
                    </a:solidFill>
                  </a:tcPr>
                </a:tc>
              </a:tr>
              <a:tr h="411479">
                <a:tc>
                  <a:txBody>
                    <a:bodyPr/>
                    <a:lstStyle/>
                    <a:p>
                      <a:pPr>
                        <a:defRPr sz="1000">
                          <a:solidFill>
                            <a:srgbClr val="03213F"/>
                          </a:solidFill>
                        </a:defRPr>
                      </a:pPr>
                      <a:r>
                        <a:t>Skills gap blocks adoption</a:t>
                      </a:r>
                    </a:p>
                  </a:txBody>
                  <a:tcPr marL="54864" marR="54864" marT="27432" marB="27432" anchor="ctr">
                    <a:solidFill>
                      <a:srgbClr val="FFFFFF"/>
                    </a:solidFill>
                  </a:tcPr>
                </a:tc>
                <a:tc>
                  <a:txBody>
                    <a:bodyPr/>
                    <a:lstStyle/>
                    <a:p>
                      <a:pPr>
                        <a:defRPr sz="1000">
                          <a:solidFill>
                            <a:srgbClr val="03213F"/>
                          </a:solidFill>
                        </a:defRPr>
                      </a:pPr>
                      <a:r>
                        <a:t>Training Insights, contextual learning, learning credits</a:t>
                      </a:r>
                    </a:p>
                  </a:txBody>
                  <a:tcPr marL="54864" marR="54864" marT="27432" marB="27432" anchor="ctr">
                    <a:solidFill>
                      <a:srgbClr val="FFFFFF"/>
                    </a:solidFill>
                  </a:tcPr>
                </a:tc>
                <a:tc>
                  <a:txBody>
                    <a:bodyPr/>
                    <a:lstStyle/>
                    <a:p>
                      <a:pPr>
                        <a:defRPr sz="1000">
                          <a:solidFill>
                            <a:srgbClr val="03213F"/>
                          </a:solidFill>
                        </a:defRPr>
                      </a:pPr>
                      <a:r>
                        <a:t>Measurable improvement on the linked outcome metric</a:t>
                      </a:r>
                    </a:p>
                  </a:txBody>
                  <a:tcPr marL="54864" marR="54864" marT="27432" marB="27432" anchor="ctr">
                    <a:solidFill>
                      <a:srgbClr val="FFFFFF"/>
                    </a:solidFill>
                  </a:tcPr>
                </a:tc>
              </a:tr>
              <a:tr h="411479">
                <a:tc>
                  <a:txBody>
                    <a:bodyPr/>
                    <a:lstStyle/>
                    <a:p>
                      <a:pPr>
                        <a:defRPr sz="1000">
                          <a:solidFill>
                            <a:srgbClr val="03213F"/>
                          </a:solidFill>
                        </a:defRPr>
                      </a:pPr>
                      <a:r>
                        <a:t>Remediation work never gets prioritised</a:t>
                      </a:r>
                    </a:p>
                  </a:txBody>
                  <a:tcPr marL="54864" marR="54864" marT="27432" marB="27432" anchor="ctr">
                    <a:solidFill>
                      <a:srgbClr val="F2F4F7"/>
                    </a:solidFill>
                  </a:tcPr>
                </a:tc>
                <a:tc>
                  <a:txBody>
                    <a:bodyPr/>
                    <a:lstStyle/>
                    <a:p>
                      <a:pPr>
                        <a:defRPr sz="1000">
                          <a:solidFill>
                            <a:srgbClr val="03213F"/>
                          </a:solidFill>
                        </a:defRPr>
                      </a:pPr>
                      <a:r>
                        <a:t>Recommendation → work item conversion (SPM/CWM/Jira/ADO), Accelerators</a:t>
                      </a:r>
                    </a:p>
                  </a:txBody>
                  <a:tcPr marL="54864" marR="54864" marT="27432" marB="27432" anchor="ctr">
                    <a:solidFill>
                      <a:srgbClr val="F2F4F7"/>
                    </a:solidFill>
                  </a:tcPr>
                </a:tc>
                <a:tc>
                  <a:txBody>
                    <a:bodyPr/>
                    <a:lstStyle/>
                    <a:p>
                      <a:pPr>
                        <a:defRPr sz="1000">
                          <a:solidFill>
                            <a:srgbClr val="03213F"/>
                          </a:solidFill>
                        </a:defRPr>
                      </a:pPr>
                      <a:r>
                        <a:t>Rising remediation completion; no dual-tracking of platform work</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5. Client scenarios — problem → capability → outcome (3/3)</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1897376"/>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Problem</a:t>
                      </a:r>
                    </a:p>
                  </a:txBody>
                  <a:tcPr marL="54864" marR="54864" marT="27432" marB="27432" anchor="ctr">
                    <a:solidFill>
                      <a:srgbClr val="1F4E79"/>
                    </a:solidFill>
                  </a:tcPr>
                </a:tc>
                <a:tc>
                  <a:txBody>
                    <a:bodyPr/>
                    <a:lstStyle/>
                    <a:p>
                      <a:pPr>
                        <a:defRPr sz="1000" b="1">
                          <a:solidFill>
                            <a:srgbClr val="FFFFFF"/>
                          </a:solidFill>
                        </a:defRPr>
                      </a:pPr>
                      <a:r>
                        <a:t>Impact capability</a:t>
                      </a:r>
                    </a:p>
                  </a:txBody>
                  <a:tcPr marL="54864" marR="54864" marT="27432" marB="27432" anchor="ctr">
                    <a:solidFill>
                      <a:srgbClr val="1F4E79"/>
                    </a:solidFill>
                  </a:tcPr>
                </a:tc>
                <a:tc>
                  <a:txBody>
                    <a:bodyPr/>
                    <a:lstStyle/>
                    <a:p>
                      <a:pPr>
                        <a:defRPr sz="1000" b="1">
                          <a:solidFill>
                            <a:srgbClr val="FFFFFF"/>
                          </a:solidFill>
                        </a:defRPr>
                      </a:pPr>
                      <a:r>
                        <a:t>Measurable outcome</a:t>
                      </a:r>
                    </a:p>
                  </a:txBody>
                  <a:tcPr marL="54864" marR="54864" marT="27432" marB="27432" anchor="ctr">
                    <a:solidFill>
                      <a:srgbClr val="1F4E79"/>
                    </a:solidFill>
                  </a:tcPr>
                </a:tc>
              </a:tr>
              <a:tr h="411479">
                <a:tc>
                  <a:txBody>
                    <a:bodyPr/>
                    <a:lstStyle/>
                    <a:p>
                      <a:pPr>
                        <a:defRPr sz="1000">
                          <a:solidFill>
                            <a:srgbClr val="03213F"/>
                          </a:solidFill>
                        </a:defRPr>
                      </a:pPr>
                      <a:r>
                        <a:t>Multiple business units, competing priorities</a:t>
                      </a:r>
                    </a:p>
                  </a:txBody>
                  <a:tcPr marL="54864" marR="54864" marT="27432" marB="27432" anchor="ctr">
                    <a:solidFill>
                      <a:srgbClr val="FFFFFF"/>
                    </a:solidFill>
                  </a:tcPr>
                </a:tc>
                <a:tc>
                  <a:txBody>
                    <a:bodyPr/>
                    <a:lstStyle/>
                    <a:p>
                      <a:pPr>
                        <a:defRPr sz="1000">
                          <a:solidFill>
                            <a:srgbClr val="03213F"/>
                          </a:solidFill>
                        </a:defRPr>
                      </a:pPr>
                      <a:r>
                        <a:t>Stakeholder Groups (Group Views), per-group objectives, instance filters</a:t>
                      </a:r>
                    </a:p>
                  </a:txBody>
                  <a:tcPr marL="54864" marR="54864" marT="27432" marB="27432" anchor="ctr">
                    <a:solidFill>
                      <a:srgbClr val="FFFFFF"/>
                    </a:solidFill>
                  </a:tcPr>
                </a:tc>
                <a:tc>
                  <a:txBody>
                    <a:bodyPr/>
                    <a:lstStyle/>
                    <a:p>
                      <a:pPr>
                        <a:defRPr sz="1000">
                          <a:solidFill>
                            <a:srgbClr val="03213F"/>
                          </a:solidFill>
                        </a:defRPr>
                      </a:pPr>
                      <a:r>
                        <a:t>Higher executive engagement; cleaner value attribution per function</a:t>
                      </a:r>
                    </a:p>
                  </a:txBody>
                  <a:tcPr marL="54864" marR="54864" marT="27432" marB="27432" anchor="ctr">
                    <a:solidFill>
                      <a:srgbClr val="FFFFFF"/>
                    </a:solidFill>
                  </a:tcPr>
                </a:tc>
              </a:tr>
              <a:tr h="411479">
                <a:tc>
                  <a:txBody>
                    <a:bodyPr/>
                    <a:lstStyle/>
                    <a:p>
                      <a:pPr>
                        <a:defRPr sz="1000">
                          <a:solidFill>
                            <a:srgbClr val="03213F"/>
                          </a:solidFill>
                        </a:defRPr>
                      </a:pPr>
                      <a:r>
                        <a:t>Controlled environment, constrained feature set</a:t>
                      </a:r>
                    </a:p>
                  </a:txBody>
                  <a:tcPr marL="54864" marR="54864" marT="27432" marB="27432" anchor="ctr">
                    <a:solidFill>
                      <a:srgbClr val="F2F4F7"/>
                    </a:solidFill>
                  </a:tcPr>
                </a:tc>
                <a:tc>
                  <a:txBody>
                    <a:bodyPr/>
                    <a:lstStyle/>
                    <a:p>
                      <a:pPr>
                        <a:defRPr sz="1000">
                          <a:solidFill>
                            <a:srgbClr val="03213F"/>
                          </a:solidFill>
                        </a:defRPr>
                      </a:pPr>
                      <a:r>
                        <a:t>Documented availability restrictions; squad guidance; no domain separation</a:t>
                      </a:r>
                    </a:p>
                  </a:txBody>
                  <a:tcPr marL="54864" marR="54864" marT="27432" marB="27432" anchor="ctr">
                    <a:solidFill>
                      <a:srgbClr val="F2F4F7"/>
                    </a:solidFill>
                  </a:tcPr>
                </a:tc>
                <a:tc>
                  <a:txBody>
                    <a:bodyPr/>
                    <a:lstStyle/>
                    <a:p>
                      <a:pPr>
                        <a:defRPr sz="1000">
                          <a:solidFill>
                            <a:srgbClr val="03213F"/>
                          </a:solidFill>
                        </a:defRPr>
                      </a:pPr>
                      <a:r>
                        <a:t>No late-stage design rework from an entitlement or environment constraint</a:t>
                      </a:r>
                    </a:p>
                  </a:txBody>
                  <a:tcPr marL="54864" marR="54864" marT="27432" marB="27432" anchor="ctr">
                    <a:solidFill>
                      <a:srgbClr val="F2F4F7"/>
                    </a:solidFill>
                  </a:tcPr>
                </a:tc>
              </a:tr>
              <a:tr h="411479">
                <a:tc>
                  <a:txBody>
                    <a:bodyPr/>
                    <a:lstStyle/>
                    <a:p>
                      <a:pPr>
                        <a:defRPr sz="1000">
                          <a:solidFill>
                            <a:srgbClr val="03213F"/>
                          </a:solidFill>
                        </a:defRPr>
                      </a:pPr>
                      <a:r>
                        <a:t>Consumption and entitlement governance</a:t>
                      </a:r>
                    </a:p>
                  </a:txBody>
                  <a:tcPr marL="54864" marR="54864" marT="27432" marB="27432" anchor="ctr">
                    <a:solidFill>
                      <a:srgbClr val="FFFFFF"/>
                    </a:solidFill>
                  </a:tcPr>
                </a:tc>
                <a:tc>
                  <a:txBody>
                    <a:bodyPr/>
                    <a:lstStyle/>
                    <a:p>
                      <a:pPr>
                        <a:defRPr sz="1000">
                          <a:solidFill>
                            <a:srgbClr val="03213F"/>
                          </a:solidFill>
                        </a:defRPr>
                      </a:pPr>
                      <a:r>
                        <a:t>Consumption Report / Benefits &amp; Usage, Accelerator and Developer Support usage</a:t>
                      </a:r>
                    </a:p>
                  </a:txBody>
                  <a:tcPr marL="54864" marR="54864" marT="27432" marB="27432" anchor="ctr">
                    <a:solidFill>
                      <a:srgbClr val="FFFFFF"/>
                    </a:solidFill>
                  </a:tcPr>
                </a:tc>
                <a:tc>
                  <a:txBody>
                    <a:bodyPr/>
                    <a:lstStyle/>
                    <a:p>
                      <a:pPr>
                        <a:defRPr sz="1000">
                          <a:solidFill>
                            <a:srgbClr val="03213F"/>
                          </a:solidFill>
                        </a:defRPr>
                      </a:pPr>
                      <a:r>
                        <a:t>Higher entitlement utilisation; evidence-based position at renewal</a:t>
                      </a:r>
                    </a:p>
                  </a:txBody>
                  <a:tcPr marL="54864" marR="54864" marT="27432" marB="27432" anchor="ctr">
                    <a:solidFill>
                      <a:srgbClr val="FFFFFF"/>
                    </a:solidFill>
                  </a:tcPr>
                </a:tc>
              </a:tr>
              <a:tr h="411479">
                <a:tc>
                  <a:txBody>
                    <a:bodyPr/>
                    <a:lstStyle/>
                    <a:p>
                      <a:pPr>
                        <a:defRPr sz="1000">
                          <a:solidFill>
                            <a:srgbClr val="03213F"/>
                          </a:solidFill>
                        </a:defRPr>
                      </a:pPr>
                      <a:r>
                        <a:t>Regulated onboarding: manual registration</a:t>
                      </a:r>
                    </a:p>
                  </a:txBody>
                  <a:tcPr marL="54864" marR="54864" marT="27432" marB="27432" anchor="ctr">
                    <a:solidFill>
                      <a:srgbClr val="F2F4F7"/>
                    </a:solidFill>
                  </a:tcPr>
                </a:tc>
                <a:tc>
                  <a:txBody>
                    <a:bodyPr/>
                    <a:lstStyle/>
                    <a:p>
                      <a:pPr>
                        <a:defRPr sz="1000">
                          <a:solidFill>
                            <a:srgbClr val="03213F"/>
                          </a:solidFill>
                        </a:defRPr>
                      </a:pPr>
                      <a:r>
                        <a:t>Manual registration path, Service Bridge, connection verification</a:t>
                      </a:r>
                    </a:p>
                  </a:txBody>
                  <a:tcPr marL="54864" marR="54864" marT="27432" marB="27432" anchor="ctr">
                    <a:solidFill>
                      <a:srgbClr val="F2F4F7"/>
                    </a:solidFill>
                  </a:tcPr>
                </a:tc>
                <a:tc>
                  <a:txBody>
                    <a:bodyPr/>
                    <a:lstStyle/>
                    <a:p>
                      <a:pPr>
                        <a:defRPr sz="1000">
                          <a:solidFill>
                            <a:srgbClr val="03213F"/>
                          </a:solidFill>
                        </a:defRPr>
                      </a:pPr>
                      <a:r>
                        <a:t>Compliant verified connection showing Active replication — the gate for everything else</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6. Business benefits by stakeholder</a:t>
            </a:r>
          </a:p>
          <a:p>
            <a:pPr>
              <a:defRPr sz="1200">
                <a:solidFill>
                  <a:srgbClr val="C9D6E2"/>
                </a:solidFill>
              </a:defRPr>
            </a:pPr>
            <a:r>
              <a:t>What each role gets — and the evidence they can point to</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3543292"/>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Stakeholder</a:t>
                      </a:r>
                    </a:p>
                  </a:txBody>
                  <a:tcPr marL="54864" marR="54864" marT="27432" marB="27432" anchor="ctr">
                    <a:solidFill>
                      <a:srgbClr val="1F4E79"/>
                    </a:solidFill>
                  </a:tcPr>
                </a:tc>
                <a:tc>
                  <a:txBody>
                    <a:bodyPr/>
                    <a:lstStyle/>
                    <a:p>
                      <a:pPr>
                        <a:defRPr sz="1000" b="1">
                          <a:solidFill>
                            <a:srgbClr val="FFFFFF"/>
                          </a:solidFill>
                        </a:defRPr>
                      </a:pPr>
                      <a:r>
                        <a:t>What they get</a:t>
                      </a:r>
                    </a:p>
                  </a:txBody>
                  <a:tcPr marL="54864" marR="54864" marT="27432" marB="27432" anchor="ctr">
                    <a:solidFill>
                      <a:srgbClr val="1F4E79"/>
                    </a:solidFill>
                  </a:tcPr>
                </a:tc>
                <a:tc>
                  <a:txBody>
                    <a:bodyPr/>
                    <a:lstStyle/>
                    <a:p>
                      <a:pPr>
                        <a:defRPr sz="1000" b="1">
                          <a:solidFill>
                            <a:srgbClr val="FFFFFF"/>
                          </a:solidFill>
                        </a:defRPr>
                      </a:pPr>
                      <a:r>
                        <a:t>Evidence</a:t>
                      </a:r>
                    </a:p>
                  </a:txBody>
                  <a:tcPr marL="54864" marR="54864" marT="27432" marB="27432" anchor="ctr">
                    <a:solidFill>
                      <a:srgbClr val="1F4E79"/>
                    </a:solidFill>
                  </a:tcPr>
                </a:tc>
              </a:tr>
              <a:tr h="411479">
                <a:tc>
                  <a:txBody>
                    <a:bodyPr/>
                    <a:lstStyle/>
                    <a:p>
                      <a:pPr>
                        <a:defRPr sz="1000">
                          <a:solidFill>
                            <a:srgbClr val="03213F"/>
                          </a:solidFill>
                        </a:defRPr>
                      </a:pPr>
                      <a:r>
                        <a:t>CIO / CDIO</a:t>
                      </a:r>
                    </a:p>
                  </a:txBody>
                  <a:tcPr marL="54864" marR="54864" marT="27432" marB="27432" anchor="ctr">
                    <a:solidFill>
                      <a:srgbClr val="FFFFFF"/>
                    </a:solidFill>
                  </a:tcPr>
                </a:tc>
                <a:tc>
                  <a:txBody>
                    <a:bodyPr/>
                    <a:lstStyle/>
                    <a:p>
                      <a:pPr>
                        <a:defRPr sz="1000">
                          <a:solidFill>
                            <a:srgbClr val="03213F"/>
                          </a:solidFill>
                        </a:defRPr>
                      </a:pPr>
                      <a:r>
                        <a:t>Confidence the platform delivers intended outcomes; defensible ROI position</a:t>
                      </a:r>
                    </a:p>
                  </a:txBody>
                  <a:tcPr marL="54864" marR="54864" marT="27432" marB="27432" anchor="ctr">
                    <a:solidFill>
                      <a:srgbClr val="FFFFFF"/>
                    </a:solidFill>
                  </a:tcPr>
                </a:tc>
                <a:tc>
                  <a:txBody>
                    <a:bodyPr/>
                    <a:lstStyle/>
                    <a:p>
                      <a:pPr>
                        <a:defRPr sz="1000">
                          <a:solidFill>
                            <a:srgbClr val="03213F"/>
                          </a:solidFill>
                        </a:defRPr>
                      </a:pPr>
                      <a:r>
                        <a:t>Value Reports, Outcome Insights, quarterly executive reviews</a:t>
                      </a:r>
                    </a:p>
                  </a:txBody>
                  <a:tcPr marL="54864" marR="54864" marT="27432" marB="27432" anchor="ctr">
                    <a:solidFill>
                      <a:srgbClr val="FFFFFF"/>
                    </a:solidFill>
                  </a:tcPr>
                </a:tc>
              </a:tr>
              <a:tr h="411479">
                <a:tc>
                  <a:txBody>
                    <a:bodyPr/>
                    <a:lstStyle/>
                    <a:p>
                      <a:pPr>
                        <a:defRPr sz="1000">
                          <a:solidFill>
                            <a:srgbClr val="03213F"/>
                          </a:solidFill>
                        </a:defRPr>
                      </a:pPr>
                      <a:r>
                        <a:t>CFO / Finance</a:t>
                      </a:r>
                    </a:p>
                  </a:txBody>
                  <a:tcPr marL="54864" marR="54864" marT="27432" marB="27432" anchor="ctr">
                    <a:solidFill>
                      <a:srgbClr val="F2F4F7"/>
                    </a:solidFill>
                  </a:tcPr>
                </a:tc>
                <a:tc>
                  <a:txBody>
                    <a:bodyPr/>
                    <a:lstStyle/>
                    <a:p>
                      <a:pPr>
                        <a:defRPr sz="1000">
                          <a:solidFill>
                            <a:srgbClr val="03213F"/>
                          </a:solidFill>
                        </a:defRPr>
                      </a:pPr>
                      <a:r>
                        <a:t>Visible return on existing spend; reduced shelf-ware; assumption-transparent monetisation</a:t>
                      </a:r>
                    </a:p>
                  </a:txBody>
                  <a:tcPr marL="54864" marR="54864" marT="27432" marB="27432" anchor="ctr">
                    <a:solidFill>
                      <a:srgbClr val="F2F4F7"/>
                    </a:solidFill>
                  </a:tcPr>
                </a:tc>
                <a:tc>
                  <a:txBody>
                    <a:bodyPr/>
                    <a:lstStyle/>
                    <a:p>
                      <a:pPr>
                        <a:defRPr sz="1000">
                          <a:solidFill>
                            <a:srgbClr val="03213F"/>
                          </a:solidFill>
                        </a:defRPr>
                      </a:pPr>
                      <a:r>
                        <a:t>Value Reports, Capability Maps, Consumption Report</a:t>
                      </a:r>
                    </a:p>
                  </a:txBody>
                  <a:tcPr marL="54864" marR="54864" marT="27432" marB="27432" anchor="ctr">
                    <a:solidFill>
                      <a:srgbClr val="F2F4F7"/>
                    </a:solidFill>
                  </a:tcPr>
                </a:tc>
              </a:tr>
              <a:tr h="411479">
                <a:tc>
                  <a:txBody>
                    <a:bodyPr/>
                    <a:lstStyle/>
                    <a:p>
                      <a:pPr>
                        <a:defRPr sz="1000">
                          <a:solidFill>
                            <a:srgbClr val="03213F"/>
                          </a:solidFill>
                        </a:defRPr>
                      </a:pPr>
                      <a:r>
                        <a:t>CIO office / Strategy</a:t>
                      </a:r>
                    </a:p>
                  </a:txBody>
                  <a:tcPr marL="54864" marR="54864" marT="27432" marB="27432" anchor="ctr">
                    <a:solidFill>
                      <a:srgbClr val="FFFFFF"/>
                    </a:solidFill>
                  </a:tcPr>
                </a:tc>
                <a:tc>
                  <a:txBody>
                    <a:bodyPr/>
                    <a:lstStyle/>
                    <a:p>
                      <a:pPr>
                        <a:defRPr sz="1000">
                          <a:solidFill>
                            <a:srgbClr val="03213F"/>
                          </a:solidFill>
                        </a:defRPr>
                      </a:pPr>
                      <a:r>
                        <a:t>Prioritised roadmap aligned to objectives; recommendations converted to governed work</a:t>
                      </a:r>
                    </a:p>
                  </a:txBody>
                  <a:tcPr marL="54864" marR="54864" marT="27432" marB="27432" anchor="ctr">
                    <a:solidFill>
                      <a:srgbClr val="FFFFFF"/>
                    </a:solidFill>
                  </a:tcPr>
                </a:tc>
                <a:tc>
                  <a:txBody>
                    <a:bodyPr/>
                    <a:lstStyle/>
                    <a:p>
                      <a:pPr>
                        <a:defRPr sz="1000">
                          <a:solidFill>
                            <a:srgbClr val="03213F"/>
                          </a:solidFill>
                        </a:defRPr>
                      </a:pPr>
                      <a:r>
                        <a:t>Roadmaps, SPM/CWM work items, Accelerator outcomes</a:t>
                      </a:r>
                    </a:p>
                  </a:txBody>
                  <a:tcPr marL="54864" marR="54864" marT="27432" marB="27432" anchor="ctr">
                    <a:solidFill>
                      <a:srgbClr val="FFFFFF"/>
                    </a:solidFill>
                  </a:tcPr>
                </a:tc>
              </a:tr>
              <a:tr h="411479">
                <a:tc>
                  <a:txBody>
                    <a:bodyPr/>
                    <a:lstStyle/>
                    <a:p>
                      <a:pPr>
                        <a:defRPr sz="1000">
                          <a:solidFill>
                            <a:srgbClr val="03213F"/>
                          </a:solidFill>
                        </a:defRPr>
                      </a:pPr>
                      <a:r>
                        <a:t>Platform Owner</a:t>
                      </a:r>
                    </a:p>
                  </a:txBody>
                  <a:tcPr marL="54864" marR="54864" marT="27432" marB="27432" anchor="ctr">
                    <a:solidFill>
                      <a:srgbClr val="F2F4F7"/>
                    </a:solidFill>
                  </a:tcPr>
                </a:tc>
                <a:tc>
                  <a:txBody>
                    <a:bodyPr/>
                    <a:lstStyle/>
                    <a:p>
                      <a:pPr>
                        <a:defRPr sz="1000">
                          <a:solidFill>
                            <a:srgbClr val="03213F"/>
                          </a:solidFill>
                        </a:defRPr>
                      </a:pPr>
                      <a:r>
                        <a:t>Continuous health and performance visibility; defined cadence; expert escalation path</a:t>
                      </a:r>
                    </a:p>
                  </a:txBody>
                  <a:tcPr marL="54864" marR="54864" marT="27432" marB="27432" anchor="ctr">
                    <a:solidFill>
                      <a:srgbClr val="F2F4F7"/>
                    </a:solidFill>
                  </a:tcPr>
                </a:tc>
                <a:tc>
                  <a:txBody>
                    <a:bodyPr/>
                    <a:lstStyle/>
                    <a:p>
                      <a:pPr>
                        <a:defRPr sz="1000">
                          <a:solidFill>
                            <a:srgbClr val="03213F"/>
                          </a:solidFill>
                        </a:defRPr>
                      </a:pPr>
                      <a:r>
                        <a:t>Health scores, Observer alerts, Monthly Health Assessment, Tech KPIs</a:t>
                      </a:r>
                    </a:p>
                  </a:txBody>
                  <a:tcPr marL="54864" marR="54864" marT="27432" marB="27432" anchor="ctr">
                    <a:solidFill>
                      <a:srgbClr val="F2F4F7"/>
                    </a:solidFill>
                  </a:tcPr>
                </a:tc>
              </a:tr>
              <a:tr h="411479">
                <a:tc>
                  <a:txBody>
                    <a:bodyPr/>
                    <a:lstStyle/>
                    <a:p>
                      <a:pPr>
                        <a:defRPr sz="1000">
                          <a:solidFill>
                            <a:srgbClr val="03213F"/>
                          </a:solidFill>
                        </a:defRPr>
                      </a:pPr>
                      <a:r>
                        <a:t>Platform Architect</a:t>
                      </a:r>
                    </a:p>
                  </a:txBody>
                  <a:tcPr marL="54864" marR="54864" marT="27432" marB="27432" anchor="ctr">
                    <a:solidFill>
                      <a:srgbClr val="FFFFFF"/>
                    </a:solidFill>
                  </a:tcPr>
                </a:tc>
                <a:tc>
                  <a:txBody>
                    <a:bodyPr/>
                    <a:lstStyle/>
                    <a:p>
                      <a:pPr>
                        <a:defRPr sz="1000">
                          <a:solidFill>
                            <a:srgbClr val="03213F"/>
                          </a:solidFill>
                        </a:defRPr>
                      </a:pPr>
                      <a:r>
                        <a:t>Engineering-quality evidence for design decisions; upgrade readiness</a:t>
                      </a:r>
                    </a:p>
                  </a:txBody>
                  <a:tcPr marL="54864" marR="54864" marT="27432" marB="27432" anchor="ctr">
                    <a:solidFill>
                      <a:srgbClr val="FFFFFF"/>
                    </a:solidFill>
                  </a:tcPr>
                </a:tc>
                <a:tc>
                  <a:txBody>
                    <a:bodyPr/>
                    <a:lstStyle/>
                    <a:p>
                      <a:pPr>
                        <a:defRPr sz="1000">
                          <a:solidFill>
                            <a:srgbClr val="03213F"/>
                          </a:solidFill>
                        </a:defRPr>
                      </a:pPr>
                      <a:r>
                        <a:t>Scan findings, custom definitions, Proactive Code Check, peer KPI comparison</a:t>
                      </a:r>
                    </a:p>
                  </a:txBody>
                  <a:tcPr marL="54864" marR="54864" marT="27432" marB="27432" anchor="ctr">
                    <a:solidFill>
                      <a:srgbClr val="FFFFFF"/>
                    </a:solidFill>
                  </a:tcPr>
                </a:tc>
              </a:tr>
              <a:tr h="411479">
                <a:tc>
                  <a:txBody>
                    <a:bodyPr/>
                    <a:lstStyle/>
                    <a:p>
                      <a:pPr>
                        <a:defRPr sz="1000">
                          <a:solidFill>
                            <a:srgbClr val="03213F"/>
                          </a:solidFill>
                        </a:defRPr>
                      </a:pPr>
                      <a:r>
                        <a:t>Service Ops Manager</a:t>
                      </a:r>
                    </a:p>
                  </a:txBody>
                  <a:tcPr marL="54864" marR="54864" marT="27432" marB="27432" anchor="ctr">
                    <a:solidFill>
                      <a:srgbClr val="F2F4F7"/>
                    </a:solidFill>
                  </a:tcPr>
                </a:tc>
                <a:tc>
                  <a:txBody>
                    <a:bodyPr/>
                    <a:lstStyle/>
                    <a:p>
                      <a:pPr>
                        <a:defRPr sz="1000">
                          <a:solidFill>
                            <a:srgbClr val="03213F"/>
                          </a:solidFill>
                        </a:defRPr>
                      </a:pPr>
                      <a:r>
                        <a:t>Fewer user-reported incidents; faster resolution of hard cases</a:t>
                      </a:r>
                    </a:p>
                  </a:txBody>
                  <a:tcPr marL="54864" marR="54864" marT="27432" marB="27432" anchor="ctr">
                    <a:solidFill>
                      <a:srgbClr val="F2F4F7"/>
                    </a:solidFill>
                  </a:tcPr>
                </a:tc>
                <a:tc>
                  <a:txBody>
                    <a:bodyPr/>
                    <a:lstStyle/>
                    <a:p>
                      <a:pPr>
                        <a:defRPr sz="1000">
                          <a:solidFill>
                            <a:srgbClr val="03213F"/>
                          </a:solidFill>
                        </a:defRPr>
                      </a:pPr>
                      <a:r>
                        <a:t>Alert-to-resolution history, Developer Support outcomes</a:t>
                      </a:r>
                    </a:p>
                  </a:txBody>
                  <a:tcPr marL="54864" marR="54864" marT="27432" marB="27432" anchor="ctr">
                    <a:solidFill>
                      <a:srgbClr val="F2F4F7"/>
                    </a:solidFill>
                  </a:tcPr>
                </a:tc>
              </a:tr>
              <a:tr h="411479">
                <a:tc>
                  <a:txBody>
                    <a:bodyPr/>
                    <a:lstStyle/>
                    <a:p>
                      <a:pPr>
                        <a:defRPr sz="1000">
                          <a:solidFill>
                            <a:srgbClr val="03213F"/>
                          </a:solidFill>
                        </a:defRPr>
                      </a:pPr>
                      <a:r>
                        <a:t>Developers</a:t>
                      </a:r>
                    </a:p>
                  </a:txBody>
                  <a:tcPr marL="54864" marR="54864" marT="27432" marB="27432" anchor="ctr">
                    <a:solidFill>
                      <a:srgbClr val="FFFFFF"/>
                    </a:solidFill>
                  </a:tcPr>
                </a:tc>
                <a:tc>
                  <a:txBody>
                    <a:bodyPr/>
                    <a:lstStyle/>
                    <a:p>
                      <a:pPr>
                        <a:defRPr sz="1000">
                          <a:solidFill>
                            <a:srgbClr val="03213F"/>
                          </a:solidFill>
                        </a:defRPr>
                      </a:pPr>
                      <a:r>
                        <a:t>Specific actionable findings; fast paths to fixes</a:t>
                      </a:r>
                    </a:p>
                  </a:txBody>
                  <a:tcPr marL="54864" marR="54864" marT="27432" marB="27432" anchor="ctr">
                    <a:solidFill>
                      <a:srgbClr val="FFFFFF"/>
                    </a:solidFill>
                  </a:tcPr>
                </a:tc>
                <a:tc>
                  <a:txBody>
                    <a:bodyPr/>
                    <a:lstStyle/>
                    <a:p>
                      <a:pPr>
                        <a:defRPr sz="1000">
                          <a:solidFill>
                            <a:srgbClr val="03213F"/>
                          </a:solidFill>
                        </a:defRPr>
                      </a:pPr>
                      <a:r>
                        <a:t>Team Lead dashboards, AI fix proposals, Jira/ADO integration</a:t>
                      </a:r>
                    </a:p>
                  </a:txBody>
                  <a:tcPr marL="54864" marR="54864" marT="27432" marB="27432" anchor="ctr">
                    <a:solidFill>
                      <a:srgbClr val="FFFFFF"/>
                    </a:solidFill>
                  </a:tcPr>
                </a:tc>
              </a:tr>
              <a:tr h="411479">
                <a:tc>
                  <a:txBody>
                    <a:bodyPr/>
                    <a:lstStyle/>
                    <a:p>
                      <a:pPr>
                        <a:defRPr sz="1000">
                          <a:solidFill>
                            <a:srgbClr val="03213F"/>
                          </a:solidFill>
                        </a:defRPr>
                      </a:pPr>
                      <a:r>
                        <a:t>Security &amp; Risk</a:t>
                      </a:r>
                    </a:p>
                  </a:txBody>
                  <a:tcPr marL="54864" marR="54864" marT="27432" marB="27432" anchor="ctr">
                    <a:solidFill>
                      <a:srgbClr val="F2F4F7"/>
                    </a:solidFill>
                  </a:tcPr>
                </a:tc>
                <a:tc>
                  <a:txBody>
                    <a:bodyPr/>
                    <a:lstStyle/>
                    <a:p>
                      <a:pPr>
                        <a:defRPr sz="1000">
                          <a:solidFill>
                            <a:srgbClr val="03213F"/>
                          </a:solidFill>
                        </a:defRPr>
                      </a:pPr>
                      <a:r>
                        <a:t>Documented data flows, consent controls, environment limitations</a:t>
                      </a:r>
                    </a:p>
                  </a:txBody>
                  <a:tcPr marL="54864" marR="54864" marT="27432" marB="27432" anchor="ctr">
                    <a:solidFill>
                      <a:srgbClr val="F2F4F7"/>
                    </a:solidFill>
                  </a:tcPr>
                </a:tc>
                <a:tc>
                  <a:txBody>
                    <a:bodyPr/>
                    <a:lstStyle/>
                    <a:p>
                      <a:pPr>
                        <a:defRPr sz="1000">
                          <a:solidFill>
                            <a:srgbClr val="03213F"/>
                          </a:solidFill>
                        </a:defRPr>
                      </a:pPr>
                      <a:r>
                        <a:t>Consent records, data-egress component list, availability restrictions</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Business benefits by category</a:t>
            </a:r>
          </a:p>
          <a:p>
            <a:pPr>
              <a:defRPr sz="1200">
                <a:solidFill>
                  <a:srgbClr val="C9D6E2"/>
                </a:solidFill>
              </a:defRPr>
            </a:pPr>
            <a:r>
              <a:t>Eight lenses for the business case</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97280"/>
            <a:ext cx="259461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Financial</a:t>
            </a:r>
          </a:p>
          <a:p>
            <a:pPr algn="ctr">
              <a:defRPr sz="1050">
                <a:solidFill>
                  <a:srgbClr val="FFFFFF"/>
                </a:solidFill>
              </a:defRPr>
            </a:pPr>
            <a:r>
              <a:t>Return on existing licence spend; avoided re-purchase; monetised value reporting</a:t>
            </a:r>
          </a:p>
        </p:txBody>
      </p:sp>
      <p:sp>
        <p:nvSpPr>
          <p:cNvPr id="5" name="Rounded Rectangle 4"/>
          <p:cNvSpPr/>
          <p:nvPr/>
        </p:nvSpPr>
        <p:spPr>
          <a:xfrm>
            <a:off x="3371850" y="1097280"/>
            <a:ext cx="259461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Risk reduction</a:t>
            </a:r>
          </a:p>
          <a:p>
            <a:pPr algn="ctr">
              <a:defRPr sz="1050">
                <a:solidFill>
                  <a:srgbClr val="FFFFFF"/>
                </a:solidFill>
              </a:defRPr>
            </a:pPr>
            <a:r>
              <a:t>Technical debt measured continuously; upgrade and change risk found pre-production</a:t>
            </a:r>
          </a:p>
        </p:txBody>
      </p:sp>
      <p:sp>
        <p:nvSpPr>
          <p:cNvPr id="6" name="Rounded Rectangle 5"/>
          <p:cNvSpPr/>
          <p:nvPr/>
        </p:nvSpPr>
        <p:spPr>
          <a:xfrm>
            <a:off x="6195059" y="1097280"/>
            <a:ext cx="259461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Operational efficiency</a:t>
            </a:r>
          </a:p>
          <a:p>
            <a:pPr algn="ctr">
              <a:defRPr sz="1050">
                <a:solidFill>
                  <a:srgbClr val="FFFFFF"/>
                </a:solidFill>
              </a:defRPr>
            </a:pPr>
            <a:r>
              <a:t>Remediation routed into existing backlogs; faster triage and root cause</a:t>
            </a:r>
          </a:p>
        </p:txBody>
      </p:sp>
      <p:sp>
        <p:nvSpPr>
          <p:cNvPr id="7" name="Rounded Rectangle 6"/>
          <p:cNvSpPr/>
          <p:nvPr/>
        </p:nvSpPr>
        <p:spPr>
          <a:xfrm>
            <a:off x="9018269" y="1097280"/>
            <a:ext cx="259461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Adoption &amp; enablement</a:t>
            </a:r>
          </a:p>
          <a:p>
            <a:pPr algn="ctr">
              <a:defRPr sz="1050">
                <a:solidFill>
                  <a:srgbClr val="FFFFFF"/>
                </a:solidFill>
              </a:defRPr>
            </a:pPr>
            <a:r>
              <a:t>Capability maps and roadmaps turn entitlements into used capability</a:t>
            </a:r>
          </a:p>
        </p:txBody>
      </p:sp>
      <p:sp>
        <p:nvSpPr>
          <p:cNvPr id="8" name="Rounded Rectangle 7"/>
          <p:cNvSpPr/>
          <p:nvPr/>
        </p:nvSpPr>
        <p:spPr>
          <a:xfrm>
            <a:off x="548640" y="3657600"/>
            <a:ext cx="259461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Governance &amp; assurance</a:t>
            </a:r>
          </a:p>
          <a:p>
            <a:pPr algn="ctr">
              <a:defRPr sz="1050">
                <a:solidFill>
                  <a:srgbClr val="FFFFFF"/>
                </a:solidFill>
              </a:defRPr>
            </a:pPr>
            <a:r>
              <a:t>Foundations → Steady State cadence with auditable artefacts</a:t>
            </a:r>
          </a:p>
        </p:txBody>
      </p:sp>
      <p:sp>
        <p:nvSpPr>
          <p:cNvPr id="9" name="Rounded Rectangle 8"/>
          <p:cNvSpPr/>
          <p:nvPr/>
        </p:nvSpPr>
        <p:spPr>
          <a:xfrm>
            <a:off x="3371850" y="3657600"/>
            <a:ext cx="259461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Decision quality</a:t>
            </a:r>
          </a:p>
          <a:p>
            <a:pPr algn="ctr">
              <a:defRPr sz="1050">
                <a:solidFill>
                  <a:srgbClr val="FFFFFF"/>
                </a:solidFill>
              </a:defRPr>
            </a:pPr>
            <a:r>
              <a:t>Recommendations with rationale, peer context and expert validation</a:t>
            </a:r>
          </a:p>
        </p:txBody>
      </p:sp>
      <p:sp>
        <p:nvSpPr>
          <p:cNvPr id="10" name="Rounded Rectangle 9"/>
          <p:cNvSpPr/>
          <p:nvPr/>
        </p:nvSpPr>
        <p:spPr>
          <a:xfrm>
            <a:off x="6195059" y="3657600"/>
            <a:ext cx="259461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Predictability</a:t>
            </a:r>
          </a:p>
          <a:p>
            <a:pPr algn="ctr">
              <a:defRPr sz="1050">
                <a:solidFill>
                  <a:srgbClr val="FFFFFF"/>
                </a:solidFill>
              </a:defRPr>
            </a:pPr>
            <a:r>
              <a:t>Managed upgrade readiness instead of emergency response</a:t>
            </a:r>
          </a:p>
        </p:txBody>
      </p:sp>
      <p:sp>
        <p:nvSpPr>
          <p:cNvPr id="11" name="Rounded Rectangle 10"/>
          <p:cNvSpPr/>
          <p:nvPr/>
        </p:nvSpPr>
        <p:spPr>
          <a:xfrm>
            <a:off x="9018269" y="3657600"/>
            <a:ext cx="259461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350" b="1">
                <a:solidFill>
                  <a:srgbClr val="FFFFFF"/>
                </a:solidFill>
              </a:defRPr>
            </a:pPr>
            <a:r>
              <a:t>Scalability &amp; continuity</a:t>
            </a:r>
          </a:p>
          <a:p>
            <a:pPr algn="ctr">
              <a:defRPr sz="1050">
                <a:solidFill>
                  <a:srgbClr val="FFFFFF"/>
                </a:solidFill>
              </a:defRPr>
            </a:pPr>
            <a:r>
              <a:t>Expert capacity without permanent headcount; knowledge retained in the platform</a:t>
            </a:r>
          </a:p>
        </p:txBody>
      </p:sp>
      <p:sp>
        <p:nvSpPr>
          <p:cNvPr id="12" name="TextBox 11"/>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7. Impact versus traditional support</a:t>
            </a:r>
          </a:p>
          <a:p>
            <a:pPr>
              <a:defRPr sz="1200">
                <a:solidFill>
                  <a:srgbClr val="C9D6E2"/>
                </a:solidFill>
              </a:defRPr>
            </a:pPr>
            <a:r>
              <a:t>Reactive assurance versus proactive value creation — and how they coexist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3131813"/>
        </p:xfrm>
        <a:graphic>
          <a:graphicData uri="http://schemas.openxmlformats.org/drawingml/2006/table">
            <a:tbl>
              <a:tblPr firstRow="1" bandRow="1">
                <a:tableStyleId>{5C22544A-7EE6-4342-B048-85BDC9FD1C3A}</a:tableStyleId>
              </a:tblPr>
              <a:tblGrid>
                <a:gridCol w="3688080"/>
                <a:gridCol w="3688080"/>
                <a:gridCol w="3688080"/>
              </a:tblGrid>
              <a:tr h="251460">
                <a:tc>
                  <a:txBody>
                    <a:bodyPr/>
                    <a:lstStyle/>
                    <a:p>
                      <a:pPr>
                        <a:defRPr sz="1000" b="1">
                          <a:solidFill>
                            <a:srgbClr val="FFFFFF"/>
                          </a:solidFill>
                        </a:defRPr>
                      </a:pPr>
                      <a:r>
                        <a:t>Dimension</a:t>
                      </a:r>
                    </a:p>
                  </a:txBody>
                  <a:tcPr marL="54864" marR="54864" marT="27432" marB="27432" anchor="ctr">
                    <a:solidFill>
                      <a:srgbClr val="1F4E79"/>
                    </a:solidFill>
                  </a:tcPr>
                </a:tc>
                <a:tc>
                  <a:txBody>
                    <a:bodyPr/>
                    <a:lstStyle/>
                    <a:p>
                      <a:pPr>
                        <a:defRPr sz="1000" b="1">
                          <a:solidFill>
                            <a:srgbClr val="FFFFFF"/>
                          </a:solidFill>
                        </a:defRPr>
                      </a:pPr>
                      <a:r>
                        <a:t>Traditional reactive support</a:t>
                      </a:r>
                    </a:p>
                  </a:txBody>
                  <a:tcPr marL="54864" marR="54864" marT="27432" marB="27432" anchor="ctr">
                    <a:solidFill>
                      <a:srgbClr val="1F4E79"/>
                    </a:solidFill>
                  </a:tcPr>
                </a:tc>
                <a:tc>
                  <a:txBody>
                    <a:bodyPr/>
                    <a:lstStyle/>
                    <a:p>
                      <a:pPr>
                        <a:defRPr sz="1000" b="1">
                          <a:solidFill>
                            <a:srgbClr val="FFFFFF"/>
                          </a:solidFill>
                        </a:defRPr>
                      </a:pPr>
                      <a:r>
                        <a:t>ServiceNow Impact</a:t>
                      </a:r>
                    </a:p>
                  </a:txBody>
                  <a:tcPr marL="54864" marR="54864" marT="27432" marB="27432" anchor="ctr">
                    <a:solidFill>
                      <a:srgbClr val="1F4E79"/>
                    </a:solidFill>
                  </a:tcPr>
                </a:tc>
              </a:tr>
              <a:tr h="411479">
                <a:tc>
                  <a:txBody>
                    <a:bodyPr/>
                    <a:lstStyle/>
                    <a:p>
                      <a:pPr>
                        <a:defRPr sz="1000">
                          <a:solidFill>
                            <a:srgbClr val="03213F"/>
                          </a:solidFill>
                        </a:defRPr>
                      </a:pPr>
                      <a:r>
                        <a:t>Trigger</a:t>
                      </a:r>
                    </a:p>
                  </a:txBody>
                  <a:tcPr marL="54864" marR="54864" marT="27432" marB="27432" anchor="ctr">
                    <a:solidFill>
                      <a:srgbClr val="FFFFFF"/>
                    </a:solidFill>
                  </a:tcPr>
                </a:tc>
                <a:tc>
                  <a:txBody>
                    <a:bodyPr/>
                    <a:lstStyle/>
                    <a:p>
                      <a:pPr>
                        <a:defRPr sz="1000">
                          <a:solidFill>
                            <a:srgbClr val="03213F"/>
                          </a:solidFill>
                        </a:defRPr>
                      </a:pPr>
                      <a:r>
                        <a:t>A case is raised after something breaks</a:t>
                      </a:r>
                    </a:p>
                  </a:txBody>
                  <a:tcPr marL="54864" marR="54864" marT="27432" marB="27432" anchor="ctr">
                    <a:solidFill>
                      <a:srgbClr val="FFFFFF"/>
                    </a:solidFill>
                  </a:tcPr>
                </a:tc>
                <a:tc>
                  <a:txBody>
                    <a:bodyPr/>
                    <a:lstStyle/>
                    <a:p>
                      <a:pPr>
                        <a:defRPr sz="1000">
                          <a:solidFill>
                            <a:srgbClr val="03213F"/>
                          </a:solidFill>
                        </a:defRPr>
                      </a:pPr>
                      <a:r>
                        <a:t>Continuous instrumentation — scans, telemetry, value data</a:t>
                      </a:r>
                    </a:p>
                  </a:txBody>
                  <a:tcPr marL="54864" marR="54864" marT="27432" marB="27432" anchor="ctr">
                    <a:solidFill>
                      <a:srgbClr val="FFFFFF"/>
                    </a:solidFill>
                  </a:tcPr>
                </a:tc>
              </a:tr>
              <a:tr h="411479">
                <a:tc>
                  <a:txBody>
                    <a:bodyPr/>
                    <a:lstStyle/>
                    <a:p>
                      <a:pPr>
                        <a:defRPr sz="1000">
                          <a:solidFill>
                            <a:srgbClr val="03213F"/>
                          </a:solidFill>
                        </a:defRPr>
                      </a:pPr>
                      <a:r>
                        <a:t>Scope</a:t>
                      </a:r>
                    </a:p>
                  </a:txBody>
                  <a:tcPr marL="54864" marR="54864" marT="27432" marB="27432" anchor="ctr">
                    <a:solidFill>
                      <a:srgbClr val="F2F4F7"/>
                    </a:solidFill>
                  </a:tcPr>
                </a:tc>
                <a:tc>
                  <a:txBody>
                    <a:bodyPr/>
                    <a:lstStyle/>
                    <a:p>
                      <a:pPr>
                        <a:defRPr sz="1000">
                          <a:solidFill>
                            <a:srgbClr val="03213F"/>
                          </a:solidFill>
                        </a:defRPr>
                      </a:pPr>
                      <a:r>
                        <a:t>Break-fix of ServiceNow base functionality</a:t>
                      </a:r>
                    </a:p>
                  </a:txBody>
                  <a:tcPr marL="54864" marR="54864" marT="27432" marB="27432" anchor="ctr">
                    <a:solidFill>
                      <a:srgbClr val="F2F4F7"/>
                    </a:solidFill>
                  </a:tcPr>
                </a:tc>
                <a:tc>
                  <a:txBody>
                    <a:bodyPr/>
                    <a:lstStyle/>
                    <a:p>
                      <a:pPr>
                        <a:defRPr sz="1000">
                          <a:solidFill>
                            <a:srgbClr val="03213F"/>
                          </a:solidFill>
                        </a:defRPr>
                      </a:pPr>
                      <a:r>
                        <a:t>Plus health, performance, adoption, value, upgrade readiness</a:t>
                      </a:r>
                    </a:p>
                  </a:txBody>
                  <a:tcPr marL="54864" marR="54864" marT="27432" marB="27432" anchor="ctr">
                    <a:solidFill>
                      <a:srgbClr val="F2F4F7"/>
                    </a:solidFill>
                  </a:tcPr>
                </a:tc>
              </a:tr>
              <a:tr h="411479">
                <a:tc>
                  <a:txBody>
                    <a:bodyPr/>
                    <a:lstStyle/>
                    <a:p>
                      <a:pPr>
                        <a:defRPr sz="1000">
                          <a:solidFill>
                            <a:srgbClr val="03213F"/>
                          </a:solidFill>
                        </a:defRPr>
                      </a:pPr>
                      <a:r>
                        <a:t>Deliverable</a:t>
                      </a:r>
                    </a:p>
                  </a:txBody>
                  <a:tcPr marL="54864" marR="54864" marT="27432" marB="27432" anchor="ctr">
                    <a:solidFill>
                      <a:srgbClr val="FFFFFF"/>
                    </a:solidFill>
                  </a:tcPr>
                </a:tc>
                <a:tc>
                  <a:txBody>
                    <a:bodyPr/>
                    <a:lstStyle/>
                    <a:p>
                      <a:pPr>
                        <a:defRPr sz="1000">
                          <a:solidFill>
                            <a:srgbClr val="03213F"/>
                          </a:solidFill>
                        </a:defRPr>
                      </a:pPr>
                      <a:r>
                        <a:t>Fix, workaround, known error</a:t>
                      </a:r>
                    </a:p>
                  </a:txBody>
                  <a:tcPr marL="54864" marR="54864" marT="27432" marB="27432" anchor="ctr">
                    <a:solidFill>
                      <a:srgbClr val="FFFFFF"/>
                    </a:solidFill>
                  </a:tcPr>
                </a:tc>
                <a:tc>
                  <a:txBody>
                    <a:bodyPr/>
                    <a:lstStyle/>
                    <a:p>
                      <a:pPr>
                        <a:defRPr sz="1000">
                          <a:solidFill>
                            <a:srgbClr val="03213F"/>
                          </a:solidFill>
                        </a:defRPr>
                      </a:pPr>
                      <a:r>
                        <a:t>Assessments, roadmaps, monetised value reports, expert-led Accelerators</a:t>
                      </a:r>
                    </a:p>
                  </a:txBody>
                  <a:tcPr marL="54864" marR="54864" marT="27432" marB="27432" anchor="ctr">
                    <a:solidFill>
                      <a:srgbClr val="FFFFFF"/>
                    </a:solidFill>
                  </a:tcPr>
                </a:tc>
              </a:tr>
              <a:tr h="411479">
                <a:tc>
                  <a:txBody>
                    <a:bodyPr/>
                    <a:lstStyle/>
                    <a:p>
                      <a:pPr>
                        <a:defRPr sz="1000">
                          <a:solidFill>
                            <a:srgbClr val="03213F"/>
                          </a:solidFill>
                        </a:defRPr>
                      </a:pPr>
                      <a:r>
                        <a:t>Expert access</a:t>
                      </a:r>
                    </a:p>
                  </a:txBody>
                  <a:tcPr marL="54864" marR="54864" marT="27432" marB="27432" anchor="ctr">
                    <a:solidFill>
                      <a:srgbClr val="F2F4F7"/>
                    </a:solidFill>
                  </a:tcPr>
                </a:tc>
                <a:tc>
                  <a:txBody>
                    <a:bodyPr/>
                    <a:lstStyle/>
                    <a:p>
                      <a:pPr>
                        <a:defRPr sz="1000">
                          <a:solidFill>
                            <a:srgbClr val="03213F"/>
                          </a:solidFill>
                        </a:defRPr>
                      </a:pPr>
                      <a:r>
                        <a:t>Support agents via Now Support portal</a:t>
                      </a:r>
                    </a:p>
                  </a:txBody>
                  <a:tcPr marL="54864" marR="54864" marT="27432" marB="27432" anchor="ctr">
                    <a:solidFill>
                      <a:srgbClr val="F2F4F7"/>
                    </a:solidFill>
                  </a:tcPr>
                </a:tc>
                <a:tc>
                  <a:txBody>
                    <a:bodyPr/>
                    <a:lstStyle/>
                    <a:p>
                      <a:pPr>
                        <a:defRPr sz="1000">
                          <a:solidFill>
                            <a:srgbClr val="03213F"/>
                          </a:solidFill>
                        </a:defRPr>
                      </a:pPr>
                      <a:r>
                        <a:t>Named Impact Squad, plus Developer Support engineers</a:t>
                      </a:r>
                    </a:p>
                  </a:txBody>
                  <a:tcPr marL="54864" marR="54864" marT="27432" marB="27432" anchor="ctr">
                    <a:solidFill>
                      <a:srgbClr val="F2F4F7"/>
                    </a:solidFill>
                  </a:tcPr>
                </a:tc>
              </a:tr>
              <a:tr h="411479">
                <a:tc>
                  <a:txBody>
                    <a:bodyPr/>
                    <a:lstStyle/>
                    <a:p>
                      <a:pPr>
                        <a:defRPr sz="1000">
                          <a:solidFill>
                            <a:srgbClr val="03213F"/>
                          </a:solidFill>
                        </a:defRPr>
                      </a:pPr>
                      <a:r>
                        <a:t>Cadence</a:t>
                      </a:r>
                    </a:p>
                  </a:txBody>
                  <a:tcPr marL="54864" marR="54864" marT="27432" marB="27432" anchor="ctr">
                    <a:solidFill>
                      <a:srgbClr val="FFFFFF"/>
                    </a:solidFill>
                  </a:tcPr>
                </a:tc>
                <a:tc>
                  <a:txBody>
                    <a:bodyPr/>
                    <a:lstStyle/>
                    <a:p>
                      <a:pPr>
                        <a:defRPr sz="1000">
                          <a:solidFill>
                            <a:srgbClr val="03213F"/>
                          </a:solidFill>
                        </a:defRPr>
                      </a:pPr>
                      <a:r>
                        <a:t>Ad hoc, incident-driven</a:t>
                      </a:r>
                    </a:p>
                  </a:txBody>
                  <a:tcPr marL="54864" marR="54864" marT="27432" marB="27432" anchor="ctr">
                    <a:solidFill>
                      <a:srgbClr val="FFFFFF"/>
                    </a:solidFill>
                  </a:tcPr>
                </a:tc>
                <a:tc>
                  <a:txBody>
                    <a:bodyPr/>
                    <a:lstStyle/>
                    <a:p>
                      <a:pPr>
                        <a:defRPr sz="1000">
                          <a:solidFill>
                            <a:srgbClr val="03213F"/>
                          </a:solidFill>
                        </a:defRPr>
                      </a:pPr>
                      <a:r>
                        <a:t>Monthly operational and health reviews; quarterly outcome and executive reviews</a:t>
                      </a:r>
                    </a:p>
                  </a:txBody>
                  <a:tcPr marL="54864" marR="54864" marT="27432" marB="27432" anchor="ctr">
                    <a:solidFill>
                      <a:srgbClr val="FFFFFF"/>
                    </a:solidFill>
                  </a:tcPr>
                </a:tc>
              </a:tr>
              <a:tr h="411479">
                <a:tc>
                  <a:txBody>
                    <a:bodyPr/>
                    <a:lstStyle/>
                    <a:p>
                      <a:pPr>
                        <a:defRPr sz="1000">
                          <a:solidFill>
                            <a:srgbClr val="03213F"/>
                          </a:solidFill>
                        </a:defRPr>
                      </a:pPr>
                      <a:r>
                        <a:t>Success measure</a:t>
                      </a:r>
                    </a:p>
                  </a:txBody>
                  <a:tcPr marL="54864" marR="54864" marT="27432" marB="27432" anchor="ctr">
                    <a:solidFill>
                      <a:srgbClr val="F2F4F7"/>
                    </a:solidFill>
                  </a:tcPr>
                </a:tc>
                <a:tc>
                  <a:txBody>
                    <a:bodyPr/>
                    <a:lstStyle/>
                    <a:p>
                      <a:pPr>
                        <a:defRPr sz="1000">
                          <a:solidFill>
                            <a:srgbClr val="03213F"/>
                          </a:solidFill>
                        </a:defRPr>
                      </a:pPr>
                      <a:r>
                        <a:t>SLA adherence and time to close</a:t>
                      </a:r>
                    </a:p>
                  </a:txBody>
                  <a:tcPr marL="54864" marR="54864" marT="27432" marB="27432" anchor="ctr">
                    <a:solidFill>
                      <a:srgbClr val="F2F4F7"/>
                    </a:solidFill>
                  </a:tcPr>
                </a:tc>
                <a:tc>
                  <a:txBody>
                    <a:bodyPr/>
                    <a:lstStyle/>
                    <a:p>
                      <a:pPr>
                        <a:defRPr sz="1000">
                          <a:solidFill>
                            <a:srgbClr val="03213F"/>
                          </a:solidFill>
                        </a:defRPr>
                      </a:pPr>
                      <a:r>
                        <a:t>Outcomes achieved, value realised, health trend, adoption</a:t>
                      </a:r>
                    </a:p>
                  </a:txBody>
                  <a:tcPr marL="54864" marR="54864" marT="27432" marB="27432" anchor="ctr">
                    <a:solidFill>
                      <a:srgbClr val="F2F4F7"/>
                    </a:solidFill>
                  </a:tcPr>
                </a:tc>
              </a:tr>
              <a:tr h="411479">
                <a:tc>
                  <a:txBody>
                    <a:bodyPr/>
                    <a:lstStyle/>
                    <a:p>
                      <a:pPr>
                        <a:defRPr sz="1000">
                          <a:solidFill>
                            <a:srgbClr val="03213F"/>
                          </a:solidFill>
                        </a:defRPr>
                      </a:pPr>
                      <a:r>
                        <a:t>Commercial model</a:t>
                      </a:r>
                    </a:p>
                  </a:txBody>
                  <a:tcPr marL="54864" marR="54864" marT="27432" marB="27432" anchor="ctr">
                    <a:solidFill>
                      <a:srgbClr val="FFFFFF"/>
                    </a:solidFill>
                  </a:tcPr>
                </a:tc>
                <a:tc>
                  <a:txBody>
                    <a:bodyPr/>
                    <a:lstStyle/>
                    <a:p>
                      <a:pPr>
                        <a:defRPr sz="1000">
                          <a:solidFill>
                            <a:srgbClr val="03213F"/>
                          </a:solidFill>
                        </a:defRPr>
                      </a:pPr>
                      <a:r>
                        <a:t>Included with product support entitlements</a:t>
                      </a:r>
                    </a:p>
                  </a:txBody>
                  <a:tcPr marL="54864" marR="54864" marT="27432" marB="27432" anchor="ctr">
                    <a:solidFill>
                      <a:srgbClr val="FFFFFF"/>
                    </a:solidFill>
                  </a:tcPr>
                </a:tc>
                <a:tc>
                  <a:txBody>
                    <a:bodyPr/>
                    <a:lstStyle/>
                    <a:p>
                      <a:pPr>
                        <a:defRPr sz="1000">
                          <a:solidFill>
                            <a:srgbClr val="03213F"/>
                          </a:solidFill>
                        </a:defRPr>
                      </a:pPr>
                      <a:r>
                        <a:t>Subscription packages + Add-on SKUs + Accelerator concurrency</a:t>
                      </a:r>
                    </a:p>
                  </a:txBody>
                  <a:tcPr marL="54864" marR="54864" marT="27432" marB="27432" anchor="ctr">
                    <a:solidFill>
                      <a:srgbClr val="FFFFFF"/>
                    </a:solidFill>
                  </a:tcPr>
                </a:tc>
              </a:tr>
            </a:tbl>
          </a:graphicData>
        </a:graphic>
      </p:graphicFrame>
      <p:sp>
        <p:nvSpPr>
          <p:cNvPr id="5" name="TextBox 4"/>
          <p:cNvSpPr txBox="1"/>
          <p:nvPr/>
        </p:nvSpPr>
        <p:spPr>
          <a:xfrm>
            <a:off x="548640" y="5029200"/>
            <a:ext cx="11064240" cy="822960"/>
          </a:xfrm>
          <a:prstGeom prst="rect">
            <a:avLst/>
          </a:prstGeom>
          <a:noFill/>
        </p:spPr>
        <p:txBody>
          <a:bodyPr wrap="square">
            <a:spAutoFit/>
          </a:bodyPr>
          <a:lstStyle/>
          <a:p>
            <a:pPr>
              <a:defRPr sz="1050">
                <a:solidFill>
                  <a:srgbClr val="5C6B7A"/>
                </a:solidFill>
              </a:defRPr>
            </a:pPr>
            <a:r>
              <a:t>What Impact does not do: it does not remove the need for administrators, change control, data governance, or a partner for net-new implementations.</a:t>
            </a:r>
          </a:p>
        </p:txBody>
      </p:sp>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8. Prerequisites — readiness before we start</a:t>
            </a:r>
          </a:p>
          <a:p>
            <a:pPr>
              <a:defRPr sz="1200">
                <a:solidFill>
                  <a:srgbClr val="C9D6E2"/>
                </a:solidFill>
              </a:defRPr>
            </a:pPr>
            <a:r>
              <a:t>Most stalled deployments stall here, not on technology</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00"/>
              </a:spcAft>
              <a:defRPr sz="1300" b="0">
                <a:solidFill>
                  <a:srgbClr val="03213F"/>
                </a:solidFill>
              </a:defRPr>
            </a:pPr>
            <a:r>
              <a:t>Platform: Yokohama or Xanadu Patch 2 and above; Impact Store Application entitlement (sn_entitlement) version 4.1.2 or higher — verify the live Store listing.</a:t>
            </a:r>
          </a:p>
          <a:p>
            <a:pPr>
              <a:spcAft>
                <a:spcPts val="700"/>
              </a:spcAft>
              <a:defRPr sz="1300" b="0">
                <a:solidFill>
                  <a:srgbClr val="03213F"/>
                </a:solidFill>
              </a:defRPr>
            </a:pPr>
            <a:r>
              <a:t>Commercial: confirm the package (Guided / Total / Integrated Success) and any Add-ons; entitlements differ materially.</a:t>
            </a:r>
          </a:p>
          <a:p>
            <a:pPr>
              <a:spcAft>
                <a:spcPts val="700"/>
              </a:spcAft>
              <a:defRPr sz="1300" b="0">
                <a:solidFill>
                  <a:srgbClr val="03213F"/>
                </a:solidFill>
              </a:defRPr>
            </a:pPr>
            <a:r>
              <a:t>People: a named contact administrator to receive the registration email, a Platform Owner, an Impact App Admin and a Scan Engine Admin.</a:t>
            </a:r>
          </a:p>
          <a:p>
            <a:pPr>
              <a:spcAft>
                <a:spcPts val="700"/>
              </a:spcAft>
              <a:defRPr sz="1300" b="0">
                <a:solidFill>
                  <a:srgbClr val="03213F"/>
                </a:solidFill>
              </a:defRPr>
            </a:pPr>
            <a:r>
              <a:t>Access: Impact Squad access approval (read-only, 30 days, revocable, quarterly re-approval).</a:t>
            </a:r>
          </a:p>
          <a:p>
            <a:pPr>
              <a:spcAft>
                <a:spcPts val="700"/>
              </a:spcAft>
              <a:defRPr sz="1300" b="0">
                <a:solidFill>
                  <a:srgbClr val="03213F"/>
                </a:solidFill>
              </a:defRPr>
            </a:pPr>
            <a:r>
              <a:t>Consent: Terms &amp; Conditions acceptance for user-experience monitoring; consent when scheduling the Monthly Health Assessment.</a:t>
            </a:r>
          </a:p>
          <a:p>
            <a:pPr>
              <a:spcAft>
                <a:spcPts val="700"/>
              </a:spcAft>
              <a:defRPr sz="1300" b="0">
                <a:solidFill>
                  <a:srgbClr val="03213F"/>
                </a:solidFill>
              </a:defRPr>
            </a:pPr>
            <a:r>
              <a:t>Security: dedicated integration user, authentication method chosen (OAuth 2.0 preferred over Basic), data-egress review of Service Bridge, Cloud Storage, Licensing Engine and MIF.</a:t>
            </a:r>
          </a:p>
          <a:p>
            <a:pPr>
              <a:spcAft>
                <a:spcPts val="700"/>
              </a:spcAft>
              <a:defRPr sz="1300" b="0">
                <a:solidFill>
                  <a:srgbClr val="03213F"/>
                </a:solidFill>
              </a:defRPr>
            </a:pPr>
            <a:r>
              <a:t>Data: exact instance names matching the instance_name property, full URLs, one Production designation.</a:t>
            </a:r>
          </a:p>
          <a:p>
            <a:pPr>
              <a:spcAft>
                <a:spcPts val="700"/>
              </a:spcAft>
              <a:defRPr sz="1300" b="0">
                <a:solidFill>
                  <a:srgbClr val="03213F"/>
                </a:solidFill>
              </a:defRPr>
            </a:pPr>
            <a:r>
              <a:t>Capacity: storage growth (attachments dominate) and a cutover window for the first full scan.</a:t>
            </a:r>
          </a:p>
          <a:p>
            <a:pPr>
              <a:spcAft>
                <a:spcPts val="700"/>
              </a:spcAft>
              <a:defRPr sz="1300" b="0">
                <a:solidFill>
                  <a:srgbClr val="03213F"/>
                </a:solidFill>
              </a:defRPr>
            </a:pPr>
            <a:r>
              <a:t>Known limitation: Impact does not support domain separation; portions are unavailable in restricted environments including Australia IRAP-Protected.</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8. Installation and activation — the sequence (1 of 2)</a:t>
            </a:r>
          </a:p>
          <a:p>
            <a:pPr>
              <a:defRPr sz="1200">
                <a:solidFill>
                  <a:srgbClr val="C9D6E2"/>
                </a:solidFill>
              </a:defRPr>
            </a:pPr>
            <a:r>
              <a:t>Each Guided Setup section must be completed to unlock the next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39" cy="2951226"/>
        </p:xfrm>
        <a:graphic>
          <a:graphicData uri="http://schemas.openxmlformats.org/drawingml/2006/table">
            <a:tbl>
              <a:tblPr firstRow="1" bandRow="1">
                <a:tableStyleId>{5C22544A-7EE6-4342-B048-85BDC9FD1C3A}</a:tableStyleId>
              </a:tblPr>
              <a:tblGrid>
                <a:gridCol w="493310"/>
                <a:gridCol w="2642732"/>
                <a:gridCol w="5637829"/>
                <a:gridCol w="2290368"/>
              </a:tblGrid>
              <a:tr h="243459">
                <a:tc>
                  <a:txBody>
                    <a:bodyPr/>
                    <a:lstStyle/>
                    <a:p>
                      <a:pPr>
                        <a:defRPr sz="950" b="1">
                          <a:solidFill>
                            <a:srgbClr val="FFFFFF"/>
                          </a:solidFill>
                        </a:defRPr>
                      </a:pPr>
                      <a:r>
                        <a:t>#</a:t>
                      </a:r>
                    </a:p>
                  </a:txBody>
                  <a:tcPr marL="54864" marR="54864" marT="27432" marB="27432" anchor="ctr">
                    <a:solidFill>
                      <a:srgbClr val="1F4E79"/>
                    </a:solidFill>
                  </a:tcPr>
                </a:tc>
                <a:tc>
                  <a:txBody>
                    <a:bodyPr/>
                    <a:lstStyle/>
                    <a:p>
                      <a:pPr>
                        <a:defRPr sz="950" b="1">
                          <a:solidFill>
                            <a:srgbClr val="FFFFFF"/>
                          </a:solidFill>
                        </a:defRPr>
                      </a:pPr>
                      <a:r>
                        <a:t>Step</a:t>
                      </a:r>
                    </a:p>
                  </a:txBody>
                  <a:tcPr marL="54864" marR="54864" marT="27432" marB="27432" anchor="ctr">
                    <a:solidFill>
                      <a:srgbClr val="1F4E79"/>
                    </a:solidFill>
                  </a:tcPr>
                </a:tc>
                <a:tc>
                  <a:txBody>
                    <a:bodyPr/>
                    <a:lstStyle/>
                    <a:p>
                      <a:pPr>
                        <a:defRPr sz="950" b="1">
                          <a:solidFill>
                            <a:srgbClr val="FFFFFF"/>
                          </a:solidFill>
                        </a:defRPr>
                      </a:pPr>
                      <a:r>
                        <a:t>Navigation</a:t>
                      </a:r>
                    </a:p>
                  </a:txBody>
                  <a:tcPr marL="54864" marR="54864" marT="27432" marB="27432" anchor="ctr">
                    <a:solidFill>
                      <a:srgbClr val="1F4E79"/>
                    </a:solidFill>
                  </a:tcPr>
                </a:tc>
                <a:tc>
                  <a:txBody>
                    <a:bodyPr/>
                    <a:lstStyle/>
                    <a:p>
                      <a:pPr>
                        <a:defRPr sz="950" b="1">
                          <a:solidFill>
                            <a:srgbClr val="FFFFFF"/>
                          </a:solidFill>
                        </a:defRPr>
                      </a:pPr>
                      <a:r>
                        <a:t>Role</a:t>
                      </a:r>
                    </a:p>
                  </a:txBody>
                  <a:tcPr marL="54864" marR="54864" marT="27432" marB="27432" anchor="ctr">
                    <a:solidFill>
                      <a:srgbClr val="1F4E79"/>
                    </a:solidFill>
                  </a:tcPr>
                </a:tc>
              </a:tr>
              <a:tr h="243459">
                <a:tc>
                  <a:txBody>
                    <a:bodyPr/>
                    <a:lstStyle/>
                    <a:p>
                      <a:pPr>
                        <a:defRPr sz="950">
                          <a:solidFill>
                            <a:srgbClr val="03213F"/>
                          </a:solidFill>
                        </a:defRPr>
                      </a:pPr>
                      <a:r>
                        <a:t>1</a:t>
                      </a:r>
                    </a:p>
                  </a:txBody>
                  <a:tcPr marL="54864" marR="54864" marT="27432" marB="27432" anchor="ctr">
                    <a:solidFill>
                      <a:srgbClr val="FFFFFF"/>
                    </a:solidFill>
                  </a:tcPr>
                </a:tc>
                <a:tc>
                  <a:txBody>
                    <a:bodyPr/>
                    <a:lstStyle/>
                    <a:p>
                      <a:pPr>
                        <a:defRPr sz="950">
                          <a:solidFill>
                            <a:srgbClr val="03213F"/>
                          </a:solidFill>
                        </a:defRPr>
                      </a:pPr>
                      <a:r>
                        <a:t>Procure the app</a:t>
                      </a:r>
                    </a:p>
                  </a:txBody>
                  <a:tcPr marL="54864" marR="54864" marT="27432" marB="27432" anchor="ctr">
                    <a:solidFill>
                      <a:srgbClr val="FFFFFF"/>
                    </a:solidFill>
                  </a:tcPr>
                </a:tc>
                <a:tc>
                  <a:txBody>
                    <a:bodyPr/>
                    <a:lstStyle/>
                    <a:p>
                      <a:pPr>
                        <a:defRPr sz="950">
                          <a:solidFill>
                            <a:srgbClr val="03213F"/>
                          </a:solidFill>
                        </a:defRPr>
                      </a:pPr>
                      <a:r>
                        <a:t>ServiceNow Store → Apps and Solutions → search Impact → Buy</a:t>
                      </a:r>
                    </a:p>
                  </a:txBody>
                  <a:tcPr marL="54864" marR="54864" marT="27432" marB="27432" anchor="ctr">
                    <a:solidFill>
                      <a:srgbClr val="FFFFFF"/>
                    </a:solidFill>
                  </a:tcPr>
                </a:tc>
                <a:tc>
                  <a:txBody>
                    <a:bodyPr/>
                    <a:lstStyle/>
                    <a:p>
                      <a:pPr>
                        <a:defRPr sz="950">
                          <a:solidFill>
                            <a:srgbClr val="03213F"/>
                          </a:solidFill>
                        </a:defRPr>
                      </a:pPr>
                      <a:r>
                        <a:t>Any Impact role</a:t>
                      </a:r>
                    </a:p>
                  </a:txBody>
                  <a:tcPr marL="54864" marR="54864" marT="27432" marB="27432" anchor="ctr">
                    <a:solidFill>
                      <a:srgbClr val="FFFFFF"/>
                    </a:solidFill>
                  </a:tcPr>
                </a:tc>
              </a:tr>
              <a:tr h="243459">
                <a:tc>
                  <a:txBody>
                    <a:bodyPr/>
                    <a:lstStyle/>
                    <a:p>
                      <a:pPr>
                        <a:defRPr sz="950">
                          <a:solidFill>
                            <a:srgbClr val="03213F"/>
                          </a:solidFill>
                        </a:defRPr>
                      </a:pPr>
                      <a:r>
                        <a:t>2</a:t>
                      </a:r>
                    </a:p>
                  </a:txBody>
                  <a:tcPr marL="54864" marR="54864" marT="27432" marB="27432" anchor="ctr">
                    <a:solidFill>
                      <a:srgbClr val="F2F4F7"/>
                    </a:solidFill>
                  </a:tcPr>
                </a:tc>
                <a:tc>
                  <a:txBody>
                    <a:bodyPr/>
                    <a:lstStyle/>
                    <a:p>
                      <a:pPr>
                        <a:defRPr sz="950">
                          <a:solidFill>
                            <a:srgbClr val="03213F"/>
                          </a:solidFill>
                        </a:defRPr>
                      </a:pPr>
                      <a:r>
                        <a:t>Install the app</a:t>
                      </a:r>
                    </a:p>
                  </a:txBody>
                  <a:tcPr marL="54864" marR="54864" marT="27432" marB="27432" anchor="ctr">
                    <a:solidFill>
                      <a:srgbClr val="F2F4F7"/>
                    </a:solidFill>
                  </a:tcPr>
                </a:tc>
                <a:tc>
                  <a:txBody>
                    <a:bodyPr/>
                    <a:lstStyle/>
                    <a:p>
                      <a:pPr>
                        <a:defRPr sz="950">
                          <a:solidFill>
                            <a:srgbClr val="03213F"/>
                          </a:solidFill>
                        </a:defRPr>
                      </a:pPr>
                      <a:r>
                        <a:t>All → Application Manager → search Impact → Install (Sync now if missing)</a:t>
                      </a:r>
                    </a:p>
                  </a:txBody>
                  <a:tcPr marL="54864" marR="54864" marT="27432" marB="27432" anchor="ctr">
                    <a:solidFill>
                      <a:srgbClr val="F2F4F7"/>
                    </a:solidFill>
                  </a:tcPr>
                </a:tc>
                <a:tc>
                  <a:txBody>
                    <a:bodyPr/>
                    <a:lstStyle/>
                    <a:p>
                      <a:pPr>
                        <a:defRPr sz="950">
                          <a:solidFill>
                            <a:srgbClr val="03213F"/>
                          </a:solidFill>
                        </a:defRPr>
                      </a:pPr>
                      <a:r>
                        <a:t>admin</a:t>
                      </a:r>
                    </a:p>
                  </a:txBody>
                  <a:tcPr marL="54864" marR="54864" marT="27432" marB="27432" anchor="ctr">
                    <a:solidFill>
                      <a:srgbClr val="F2F4F7"/>
                    </a:solidFill>
                  </a:tcPr>
                </a:tc>
              </a:tr>
              <a:tr h="243459">
                <a:tc>
                  <a:txBody>
                    <a:bodyPr/>
                    <a:lstStyle/>
                    <a:p>
                      <a:pPr>
                        <a:defRPr sz="950">
                          <a:solidFill>
                            <a:srgbClr val="03213F"/>
                          </a:solidFill>
                        </a:defRPr>
                      </a:pPr>
                      <a:r>
                        <a:t>3</a:t>
                      </a:r>
                    </a:p>
                  </a:txBody>
                  <a:tcPr marL="54864" marR="54864" marT="27432" marB="27432" anchor="ctr">
                    <a:solidFill>
                      <a:srgbClr val="FFFFFF"/>
                    </a:solidFill>
                  </a:tcPr>
                </a:tc>
                <a:tc>
                  <a:txBody>
                    <a:bodyPr/>
                    <a:lstStyle/>
                    <a:p>
                      <a:pPr>
                        <a:defRPr sz="950">
                          <a:solidFill>
                            <a:srgbClr val="03213F"/>
                          </a:solidFill>
                        </a:defRPr>
                      </a:pPr>
                      <a:r>
                        <a:t>Open Guided Setup</a:t>
                      </a:r>
                    </a:p>
                  </a:txBody>
                  <a:tcPr marL="54864" marR="54864" marT="27432" marB="27432" anchor="ctr">
                    <a:solidFill>
                      <a:srgbClr val="FFFFFF"/>
                    </a:solidFill>
                  </a:tcPr>
                </a:tc>
                <a:tc>
                  <a:txBody>
                    <a:bodyPr/>
                    <a:lstStyle/>
                    <a:p>
                      <a:pPr>
                        <a:defRPr sz="950">
                          <a:solidFill>
                            <a:srgbClr val="03213F"/>
                          </a:solidFill>
                        </a:defRPr>
                      </a:pPr>
                      <a:r>
                        <a:t>Application Manager → Configure, or All → Impact → Guided Setup → Get Started</a:t>
                      </a:r>
                    </a:p>
                  </a:txBody>
                  <a:tcPr marL="54864" marR="54864" marT="27432" marB="27432" anchor="ctr">
                    <a:solidFill>
                      <a:srgbClr val="FFFFFF"/>
                    </a:solidFill>
                  </a:tcPr>
                </a:tc>
                <a:tc>
                  <a:txBody>
                    <a:bodyPr/>
                    <a:lstStyle/>
                    <a:p>
                      <a:pPr>
                        <a:defRPr sz="950">
                          <a:solidFill>
                            <a:srgbClr val="03213F"/>
                          </a:solidFill>
                        </a:defRPr>
                      </a:pPr>
                      <a:r>
                        <a:t>Impact App Admin / admin</a:t>
                      </a:r>
                    </a:p>
                  </a:txBody>
                  <a:tcPr marL="54864" marR="54864" marT="27432" marB="27432" anchor="ctr">
                    <a:solidFill>
                      <a:srgbClr val="FFFFFF"/>
                    </a:solidFill>
                  </a:tcPr>
                </a:tc>
              </a:tr>
              <a:tr h="243459">
                <a:tc>
                  <a:txBody>
                    <a:bodyPr/>
                    <a:lstStyle/>
                    <a:p>
                      <a:pPr>
                        <a:defRPr sz="950">
                          <a:solidFill>
                            <a:srgbClr val="03213F"/>
                          </a:solidFill>
                        </a:defRPr>
                      </a:pPr>
                      <a:r>
                        <a:t>4</a:t>
                      </a:r>
                    </a:p>
                  </a:txBody>
                  <a:tcPr marL="54864" marR="54864" marT="27432" marB="27432" anchor="ctr">
                    <a:solidFill>
                      <a:srgbClr val="F2F4F7"/>
                    </a:solidFill>
                  </a:tcPr>
                </a:tc>
                <a:tc>
                  <a:txBody>
                    <a:bodyPr/>
                    <a:lstStyle/>
                    <a:p>
                      <a:pPr>
                        <a:defRPr sz="950">
                          <a:solidFill>
                            <a:srgbClr val="03213F"/>
                          </a:solidFill>
                        </a:defRPr>
                      </a:pPr>
                      <a:r>
                        <a:t>Onboard users</a:t>
                      </a:r>
                    </a:p>
                  </a:txBody>
                  <a:tcPr marL="54864" marR="54864" marT="27432" marB="27432" anchor="ctr">
                    <a:solidFill>
                      <a:srgbClr val="F2F4F7"/>
                    </a:solidFill>
                  </a:tcPr>
                </a:tc>
                <a:tc>
                  <a:txBody>
                    <a:bodyPr/>
                    <a:lstStyle/>
                    <a:p>
                      <a:pPr>
                        <a:defRPr sz="950">
                          <a:solidFill>
                            <a:srgbClr val="03213F"/>
                          </a:solidFill>
                        </a:defRPr>
                      </a:pPr>
                      <a:r>
                        <a:t>All → Impact → Configuration → Guided Setup → User management</a:t>
                      </a:r>
                    </a:p>
                  </a:txBody>
                  <a:tcPr marL="54864" marR="54864" marT="27432" marB="27432" anchor="ctr">
                    <a:solidFill>
                      <a:srgbClr val="F2F4F7"/>
                    </a:solidFill>
                  </a:tcPr>
                </a:tc>
                <a:tc>
                  <a:txBody>
                    <a:bodyPr/>
                    <a:lstStyle/>
                    <a:p>
                      <a:pPr>
                        <a:defRPr sz="950">
                          <a:solidFill>
                            <a:srgbClr val="03213F"/>
                          </a:solidFill>
                        </a:defRPr>
                      </a:pPr>
                      <a:r>
                        <a:t>Impact App Admin</a:t>
                      </a:r>
                    </a:p>
                  </a:txBody>
                  <a:tcPr marL="54864" marR="54864" marT="27432" marB="27432" anchor="ctr">
                    <a:solidFill>
                      <a:srgbClr val="F2F4F7"/>
                    </a:solidFill>
                  </a:tcPr>
                </a:tc>
              </a:tr>
              <a:tr h="395478">
                <a:tc>
                  <a:txBody>
                    <a:bodyPr/>
                    <a:lstStyle/>
                    <a:p>
                      <a:pPr>
                        <a:defRPr sz="950">
                          <a:solidFill>
                            <a:srgbClr val="03213F"/>
                          </a:solidFill>
                        </a:defRPr>
                      </a:pPr>
                      <a:r>
                        <a:t>5</a:t>
                      </a:r>
                    </a:p>
                  </a:txBody>
                  <a:tcPr marL="54864" marR="54864" marT="27432" marB="27432" anchor="ctr">
                    <a:solidFill>
                      <a:srgbClr val="FFFFFF"/>
                    </a:solidFill>
                  </a:tcPr>
                </a:tc>
                <a:tc>
                  <a:txBody>
                    <a:bodyPr/>
                    <a:lstStyle/>
                    <a:p>
                      <a:pPr>
                        <a:defRPr sz="950">
                          <a:solidFill>
                            <a:srgbClr val="03213F"/>
                          </a:solidFill>
                        </a:defRPr>
                      </a:pPr>
                      <a:r>
                        <a:t>Platform Health users &amp; teams</a:t>
                      </a:r>
                    </a:p>
                  </a:txBody>
                  <a:tcPr marL="54864" marR="54864" marT="27432" marB="27432" anchor="ctr">
                    <a:solidFill>
                      <a:srgbClr val="FFFFFF"/>
                    </a:solidFill>
                  </a:tcPr>
                </a:tc>
                <a:tc>
                  <a:txBody>
                    <a:bodyPr/>
                    <a:lstStyle/>
                    <a:p>
                      <a:pPr>
                        <a:defRPr sz="950">
                          <a:solidFill>
                            <a:srgbClr val="03213F"/>
                          </a:solidFill>
                        </a:defRPr>
                      </a:pPr>
                      <a:r>
                        <a:t>All → Impact → Guided Setup → Assign Platform Health users; then Scan Engine Properties → Team Leads → New</a:t>
                      </a:r>
                    </a:p>
                  </a:txBody>
                  <a:tcPr marL="54864" marR="54864" marT="27432" marB="27432" anchor="ctr">
                    <a:solidFill>
                      <a:srgbClr val="FFFFFF"/>
                    </a:solidFill>
                  </a:tcPr>
                </a:tc>
                <a:tc>
                  <a:txBody>
                    <a:bodyPr/>
                    <a:lstStyle/>
                    <a:p>
                      <a:pPr>
                        <a:defRPr sz="950">
                          <a:solidFill>
                            <a:srgbClr val="03213F"/>
                          </a:solidFill>
                        </a:defRPr>
                      </a:pPr>
                      <a:r>
                        <a:t>Impact App Admin / admin</a:t>
                      </a:r>
                    </a:p>
                  </a:txBody>
                  <a:tcPr marL="54864" marR="54864" marT="27432" marB="27432" anchor="ctr">
                    <a:solidFill>
                      <a:srgbClr val="FFFFFF"/>
                    </a:solidFill>
                  </a:tcPr>
                </a:tc>
              </a:tr>
              <a:tr h="395478">
                <a:tc>
                  <a:txBody>
                    <a:bodyPr/>
                    <a:lstStyle/>
                    <a:p>
                      <a:pPr>
                        <a:defRPr sz="950">
                          <a:solidFill>
                            <a:srgbClr val="03213F"/>
                          </a:solidFill>
                        </a:defRPr>
                      </a:pPr>
                      <a:r>
                        <a:t>6</a:t>
                      </a:r>
                    </a:p>
                  </a:txBody>
                  <a:tcPr marL="54864" marR="54864" marT="27432" marB="27432" anchor="ctr">
                    <a:solidFill>
                      <a:srgbClr val="F2F4F7"/>
                    </a:solidFill>
                  </a:tcPr>
                </a:tc>
                <a:tc>
                  <a:txBody>
                    <a:bodyPr/>
                    <a:lstStyle/>
                    <a:p>
                      <a:pPr>
                        <a:defRPr sz="950">
                          <a:solidFill>
                            <a:srgbClr val="03213F"/>
                          </a:solidFill>
                        </a:defRPr>
                      </a:pPr>
                      <a:r>
                        <a:t>Activate Scan Engine</a:t>
                      </a:r>
                    </a:p>
                  </a:txBody>
                  <a:tcPr marL="54864" marR="54864" marT="27432" marB="27432" anchor="ctr">
                    <a:solidFill>
                      <a:srgbClr val="F2F4F7"/>
                    </a:solidFill>
                  </a:tcPr>
                </a:tc>
                <a:tc>
                  <a:txBody>
                    <a:bodyPr/>
                    <a:lstStyle/>
                    <a:p>
                      <a:pPr>
                        <a:defRPr sz="950">
                          <a:solidFill>
                            <a:srgbClr val="03213F"/>
                          </a:solidFill>
                        </a:defRPr>
                      </a:pPr>
                      <a:r>
                        <a:t>Guided Setup → Impact Platform Health → Activate Scan Engine; grant Can read on sys_update_version</a:t>
                      </a:r>
                    </a:p>
                  </a:txBody>
                  <a:tcPr marL="54864" marR="54864" marT="27432" marB="27432" anchor="ctr">
                    <a:solidFill>
                      <a:srgbClr val="F2F4F7"/>
                    </a:solidFill>
                  </a:tcPr>
                </a:tc>
                <a:tc>
                  <a:txBody>
                    <a:bodyPr/>
                    <a:lstStyle/>
                    <a:p>
                      <a:pPr>
                        <a:defRPr sz="950">
                          <a:solidFill>
                            <a:srgbClr val="03213F"/>
                          </a:solidFill>
                        </a:defRPr>
                      </a:pPr>
                      <a:r>
                        <a:t>Impact App Admin / admin</a:t>
                      </a:r>
                    </a:p>
                  </a:txBody>
                  <a:tcPr marL="54864" marR="54864" marT="27432" marB="27432" anchor="ctr">
                    <a:solidFill>
                      <a:srgbClr val="F2F4F7"/>
                    </a:solidFill>
                  </a:tcPr>
                </a:tc>
              </a:tr>
              <a:tr h="547497">
                <a:tc>
                  <a:txBody>
                    <a:bodyPr/>
                    <a:lstStyle/>
                    <a:p>
                      <a:pPr>
                        <a:defRPr sz="950">
                          <a:solidFill>
                            <a:srgbClr val="03213F"/>
                          </a:solidFill>
                        </a:defRPr>
                      </a:pPr>
                      <a:r>
                        <a:t>7</a:t>
                      </a:r>
                    </a:p>
                  </a:txBody>
                  <a:tcPr marL="54864" marR="54864" marT="27432" marB="27432" anchor="ctr">
                    <a:solidFill>
                      <a:srgbClr val="FFFFFF"/>
                    </a:solidFill>
                  </a:tcPr>
                </a:tc>
                <a:tc>
                  <a:txBody>
                    <a:bodyPr/>
                    <a:lstStyle/>
                    <a:p>
                      <a:pPr>
                        <a:defRPr sz="950">
                          <a:solidFill>
                            <a:srgbClr val="03213F"/>
                          </a:solidFill>
                        </a:defRPr>
                      </a:pPr>
                      <a:r>
                        <a:t>(Optional) AI code fixes</a:t>
                      </a:r>
                    </a:p>
                  </a:txBody>
                  <a:tcPr marL="54864" marR="54864" marT="27432" marB="27432" anchor="ctr">
                    <a:solidFill>
                      <a:srgbClr val="FFFFFF"/>
                    </a:solidFill>
                  </a:tcPr>
                </a:tc>
                <a:tc>
                  <a:txBody>
                    <a:bodyPr/>
                    <a:lstStyle/>
                    <a:p>
                      <a:pPr>
                        <a:defRPr sz="950">
                          <a:solidFill>
                            <a:srgbClr val="03213F"/>
                          </a:solidFill>
                        </a:defRPr>
                      </a:pPr>
                      <a:r>
                        <a:t>Scan Engine Properties → Real Time Scanning → Enforce real-time validation = true; Now Assist → Skills → Impact → Code Fix → Activate skill; sn_impact_gen_ai.ai_fix.enabled = true</a:t>
                      </a:r>
                    </a:p>
                  </a:txBody>
                  <a:tcPr marL="54864" marR="54864" marT="27432" marB="27432" anchor="ctr">
                    <a:solidFill>
                      <a:srgbClr val="FFFFFF"/>
                    </a:solidFill>
                  </a:tcPr>
                </a:tc>
                <a:tc>
                  <a:txBody>
                    <a:bodyPr/>
                    <a:lstStyle/>
                    <a:p>
                      <a:pPr>
                        <a:defRPr sz="950">
                          <a:solidFill>
                            <a:srgbClr val="03213F"/>
                          </a:solidFill>
                        </a:defRPr>
                      </a:pPr>
                      <a:r>
                        <a:t>Scan Engine Admin</a:t>
                      </a:r>
                    </a:p>
                  </a:txBody>
                  <a:tcPr marL="54864" marR="54864" marT="27432" marB="27432" anchor="ctr">
                    <a:solidFill>
                      <a:srgbClr val="FFFFFF"/>
                    </a:solidFill>
                  </a:tcPr>
                </a:tc>
              </a:tr>
              <a:tr h="395478">
                <a:tc>
                  <a:txBody>
                    <a:bodyPr/>
                    <a:lstStyle/>
                    <a:p>
                      <a:pPr>
                        <a:defRPr sz="950">
                          <a:solidFill>
                            <a:srgbClr val="03213F"/>
                          </a:solidFill>
                        </a:defRPr>
                      </a:pPr>
                      <a:r>
                        <a:t>8</a:t>
                      </a:r>
                    </a:p>
                  </a:txBody>
                  <a:tcPr marL="54864" marR="54864" marT="27432" marB="27432" anchor="ctr">
                    <a:solidFill>
                      <a:srgbClr val="F2F4F7"/>
                    </a:solidFill>
                  </a:tcPr>
                </a:tc>
                <a:tc>
                  <a:txBody>
                    <a:bodyPr/>
                    <a:lstStyle/>
                    <a:p>
                      <a:pPr>
                        <a:defRPr sz="950">
                          <a:solidFill>
                            <a:srgbClr val="03213F"/>
                          </a:solidFill>
                        </a:defRPr>
                      </a:pPr>
                      <a:r>
                        <a:t>Run the first full scan</a:t>
                      </a:r>
                    </a:p>
                  </a:txBody>
                  <a:tcPr marL="54864" marR="54864" marT="27432" marB="27432" anchor="ctr">
                    <a:solidFill>
                      <a:srgbClr val="F2F4F7"/>
                    </a:solidFill>
                  </a:tcPr>
                </a:tc>
                <a:tc>
                  <a:txBody>
                    <a:bodyPr/>
                    <a:lstStyle/>
                    <a:p>
                      <a:pPr>
                        <a:defRPr sz="950">
                          <a:solidFill>
                            <a:srgbClr val="03213F"/>
                          </a:solidFill>
                        </a:defRPr>
                      </a:pPr>
                      <a:r>
                        <a:t>All → Impact → Platform Health → Scheduled Scan → Execute Now; monitor Scan Engine → Scan Status</a:t>
                      </a:r>
                    </a:p>
                  </a:txBody>
                  <a:tcPr marL="54864" marR="54864" marT="27432" marB="27432" anchor="ctr">
                    <a:solidFill>
                      <a:srgbClr val="F2F4F7"/>
                    </a:solidFill>
                  </a:tcPr>
                </a:tc>
                <a:tc>
                  <a:txBody>
                    <a:bodyPr/>
                    <a:lstStyle/>
                    <a:p>
                      <a:pPr>
                        <a:defRPr sz="950">
                          <a:solidFill>
                            <a:srgbClr val="03213F"/>
                          </a:solidFill>
                        </a:defRPr>
                      </a:pPr>
                      <a:r>
                        <a:t>Impact App Admin / admin</a:t>
                      </a:r>
                    </a:p>
                  </a:txBody>
                  <a:tcPr marL="54864" marR="54864" marT="27432" marB="27432" anchor="ctr">
                    <a:solidFill>
                      <a:srgbClr val="F2F4F7"/>
                    </a:solidFill>
                  </a:tcPr>
                </a:tc>
              </a:tr>
            </a:tbl>
          </a:graphicData>
        </a:graphic>
      </p:graphicFrame>
      <p:sp>
        <p:nvSpPr>
          <p:cNvPr id="5" name="TextBox 4"/>
          <p:cNvSpPr txBox="1"/>
          <p:nvPr/>
        </p:nvSpPr>
        <p:spPr>
          <a:xfrm>
            <a:off x="548640" y="5029200"/>
            <a:ext cx="11064240" cy="822960"/>
          </a:xfrm>
          <a:prstGeom prst="rect">
            <a:avLst/>
          </a:prstGeom>
          <a:noFill/>
        </p:spPr>
        <p:txBody>
          <a:bodyPr wrap="square">
            <a:spAutoFit/>
          </a:bodyPr>
          <a:lstStyle/>
          <a:p>
            <a:pPr>
              <a:defRPr sz="1050">
                <a:solidFill>
                  <a:srgbClr val="5C6B7A"/>
                </a:solidFill>
              </a:defRPr>
            </a:pPr>
            <a:r>
              <a:t>Expect the first full scan to take hours — run it overnight, especially in production. Scan Engine findings are not transmitted to the Impact Delivery Instance.</a:t>
            </a:r>
          </a:p>
        </p:txBody>
      </p:sp>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8. Installation and activation — the sequence (2 of 2)</a:t>
            </a:r>
          </a:p>
          <a:p>
            <a:pPr>
              <a:defRPr sz="1200">
                <a:solidFill>
                  <a:srgbClr val="C9D6E2"/>
                </a:solidFill>
              </a:defRPr>
            </a:pPr>
            <a:r>
              <a:t>Connection, registration, migration, then the value layer</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39" cy="2647188"/>
        </p:xfrm>
        <a:graphic>
          <a:graphicData uri="http://schemas.openxmlformats.org/drawingml/2006/table">
            <a:tbl>
              <a:tblPr firstRow="1" bandRow="1">
                <a:tableStyleId>{5C22544A-7EE6-4342-B048-85BDC9FD1C3A}</a:tableStyleId>
              </a:tblPr>
              <a:tblGrid>
                <a:gridCol w="493310"/>
                <a:gridCol w="2642732"/>
                <a:gridCol w="5637829"/>
                <a:gridCol w="2290368"/>
              </a:tblGrid>
              <a:tr h="243459">
                <a:tc>
                  <a:txBody>
                    <a:bodyPr/>
                    <a:lstStyle/>
                    <a:p>
                      <a:pPr>
                        <a:defRPr sz="950" b="1">
                          <a:solidFill>
                            <a:srgbClr val="FFFFFF"/>
                          </a:solidFill>
                        </a:defRPr>
                      </a:pPr>
                      <a:r>
                        <a:t>#</a:t>
                      </a:r>
                    </a:p>
                  </a:txBody>
                  <a:tcPr marL="54864" marR="54864" marT="27432" marB="27432" anchor="ctr">
                    <a:solidFill>
                      <a:srgbClr val="1F4E79"/>
                    </a:solidFill>
                  </a:tcPr>
                </a:tc>
                <a:tc>
                  <a:txBody>
                    <a:bodyPr/>
                    <a:lstStyle/>
                    <a:p>
                      <a:pPr>
                        <a:defRPr sz="950" b="1">
                          <a:solidFill>
                            <a:srgbClr val="FFFFFF"/>
                          </a:solidFill>
                        </a:defRPr>
                      </a:pPr>
                      <a:r>
                        <a:t>Step</a:t>
                      </a:r>
                    </a:p>
                  </a:txBody>
                  <a:tcPr marL="54864" marR="54864" marT="27432" marB="27432" anchor="ctr">
                    <a:solidFill>
                      <a:srgbClr val="1F4E79"/>
                    </a:solidFill>
                  </a:tcPr>
                </a:tc>
                <a:tc>
                  <a:txBody>
                    <a:bodyPr/>
                    <a:lstStyle/>
                    <a:p>
                      <a:pPr>
                        <a:defRPr sz="950" b="1">
                          <a:solidFill>
                            <a:srgbClr val="FFFFFF"/>
                          </a:solidFill>
                        </a:defRPr>
                      </a:pPr>
                      <a:r>
                        <a:t>Navigation</a:t>
                      </a:r>
                    </a:p>
                  </a:txBody>
                  <a:tcPr marL="54864" marR="54864" marT="27432" marB="27432" anchor="ctr">
                    <a:solidFill>
                      <a:srgbClr val="1F4E79"/>
                    </a:solidFill>
                  </a:tcPr>
                </a:tc>
                <a:tc>
                  <a:txBody>
                    <a:bodyPr/>
                    <a:lstStyle/>
                    <a:p>
                      <a:pPr>
                        <a:defRPr sz="950" b="1">
                          <a:solidFill>
                            <a:srgbClr val="FFFFFF"/>
                          </a:solidFill>
                        </a:defRPr>
                      </a:pPr>
                      <a:r>
                        <a:t>Role</a:t>
                      </a:r>
                    </a:p>
                  </a:txBody>
                  <a:tcPr marL="54864" marR="54864" marT="27432" marB="27432" anchor="ctr">
                    <a:solidFill>
                      <a:srgbClr val="1F4E79"/>
                    </a:solidFill>
                  </a:tcPr>
                </a:tc>
              </a:tr>
              <a:tr h="243459">
                <a:tc>
                  <a:txBody>
                    <a:bodyPr/>
                    <a:lstStyle/>
                    <a:p>
                      <a:pPr>
                        <a:defRPr sz="950">
                          <a:solidFill>
                            <a:srgbClr val="03213F"/>
                          </a:solidFill>
                        </a:defRPr>
                      </a:pPr>
                      <a:r>
                        <a:t>9</a:t>
                      </a:r>
                    </a:p>
                  </a:txBody>
                  <a:tcPr marL="54864" marR="54864" marT="27432" marB="27432" anchor="ctr">
                    <a:solidFill>
                      <a:srgbClr val="FFFFFF"/>
                    </a:solidFill>
                  </a:tcPr>
                </a:tc>
                <a:tc>
                  <a:txBody>
                    <a:bodyPr/>
                    <a:lstStyle/>
                    <a:p>
                      <a:pPr>
                        <a:defRPr sz="950">
                          <a:solidFill>
                            <a:srgbClr val="03213F"/>
                          </a:solidFill>
                        </a:defRPr>
                      </a:pPr>
                      <a:r>
                        <a:t>Register instances</a:t>
                      </a:r>
                    </a:p>
                  </a:txBody>
                  <a:tcPr marL="54864" marR="54864" marT="27432" marB="27432" anchor="ctr">
                    <a:solidFill>
                      <a:srgbClr val="FFFFFF"/>
                    </a:solidFill>
                  </a:tcPr>
                </a:tc>
                <a:tc>
                  <a:txBody>
                    <a:bodyPr/>
                    <a:lstStyle/>
                    <a:p>
                      <a:pPr>
                        <a:defRPr sz="950">
                          <a:solidFill>
                            <a:srgbClr val="03213F"/>
                          </a:solidFill>
                        </a:defRPr>
                      </a:pPr>
                      <a:r>
                        <a:t>ALL → Impact → Configuration → Scan Engine Properties → My SN Instances → New</a:t>
                      </a:r>
                    </a:p>
                  </a:txBody>
                  <a:tcPr marL="54864" marR="54864" marT="27432" marB="27432" anchor="ctr">
                    <a:solidFill>
                      <a:srgbClr val="FFFFFF"/>
                    </a:solidFill>
                  </a:tcPr>
                </a:tc>
                <a:tc>
                  <a:txBody>
                    <a:bodyPr/>
                    <a:lstStyle/>
                    <a:p>
                      <a:pPr>
                        <a:defRPr sz="950">
                          <a:solidFill>
                            <a:srgbClr val="03213F"/>
                          </a:solidFill>
                        </a:defRPr>
                      </a:pPr>
                      <a:r>
                        <a:t>sn_se.scan_engine_admin</a:t>
                      </a:r>
                    </a:p>
                  </a:txBody>
                  <a:tcPr marL="54864" marR="54864" marT="27432" marB="27432" anchor="ctr">
                    <a:solidFill>
                      <a:srgbClr val="FFFFFF"/>
                    </a:solidFill>
                  </a:tcPr>
                </a:tc>
              </a:tr>
              <a:tr h="243459">
                <a:tc>
                  <a:txBody>
                    <a:bodyPr/>
                    <a:lstStyle/>
                    <a:p>
                      <a:pPr>
                        <a:defRPr sz="950">
                          <a:solidFill>
                            <a:srgbClr val="03213F"/>
                          </a:solidFill>
                        </a:defRPr>
                      </a:pPr>
                      <a:r>
                        <a:t>10</a:t>
                      </a:r>
                    </a:p>
                  </a:txBody>
                  <a:tcPr marL="54864" marR="54864" marT="27432" marB="27432" anchor="ctr">
                    <a:solidFill>
                      <a:srgbClr val="F2F4F7"/>
                    </a:solidFill>
                  </a:tcPr>
                </a:tc>
                <a:tc>
                  <a:txBody>
                    <a:bodyPr/>
                    <a:lstStyle/>
                    <a:p>
                      <a:pPr>
                        <a:defRPr sz="950">
                          <a:solidFill>
                            <a:srgbClr val="03213F"/>
                          </a:solidFill>
                        </a:defRPr>
                      </a:pPr>
                      <a:r>
                        <a:t>Configure authentication</a:t>
                      </a:r>
                    </a:p>
                  </a:txBody>
                  <a:tcPr marL="54864" marR="54864" marT="27432" marB="27432" anchor="ctr">
                    <a:solidFill>
                      <a:srgbClr val="F2F4F7"/>
                    </a:solidFill>
                  </a:tcPr>
                </a:tc>
                <a:tc>
                  <a:txBody>
                    <a:bodyPr/>
                    <a:lstStyle/>
                    <a:p>
                      <a:pPr>
                        <a:defRPr sz="950">
                          <a:solidFill>
                            <a:srgbClr val="03213F"/>
                          </a:solidFill>
                        </a:defRPr>
                      </a:pPr>
                      <a:r>
                        <a:t>OAuth 2.0 preferred (production or development variant) or Basic authentication</a:t>
                      </a:r>
                    </a:p>
                  </a:txBody>
                  <a:tcPr marL="54864" marR="54864" marT="27432" marB="27432" anchor="ctr">
                    <a:solidFill>
                      <a:srgbClr val="F2F4F7"/>
                    </a:solidFill>
                  </a:tcPr>
                </a:tc>
                <a:tc>
                  <a:txBody>
                    <a:bodyPr/>
                    <a:lstStyle/>
                    <a:p>
                      <a:pPr>
                        <a:defRPr sz="950">
                          <a:solidFill>
                            <a:srgbClr val="03213F"/>
                          </a:solidFill>
                        </a:defRPr>
                      </a:pPr>
                      <a:r>
                        <a:t>admin / Scan Engine Admin</a:t>
                      </a:r>
                    </a:p>
                  </a:txBody>
                  <a:tcPr marL="54864" marR="54864" marT="27432" marB="27432" anchor="ctr">
                    <a:solidFill>
                      <a:srgbClr val="F2F4F7"/>
                    </a:solidFill>
                  </a:tcPr>
                </a:tc>
              </a:tr>
              <a:tr h="243459">
                <a:tc>
                  <a:txBody>
                    <a:bodyPr/>
                    <a:lstStyle/>
                    <a:p>
                      <a:pPr>
                        <a:defRPr sz="950">
                          <a:solidFill>
                            <a:srgbClr val="03213F"/>
                          </a:solidFill>
                        </a:defRPr>
                      </a:pPr>
                      <a:r>
                        <a:t>11</a:t>
                      </a:r>
                    </a:p>
                  </a:txBody>
                  <a:tcPr marL="54864" marR="54864" marT="27432" marB="27432" anchor="ctr">
                    <a:solidFill>
                      <a:srgbClr val="FFFFFF"/>
                    </a:solidFill>
                  </a:tcPr>
                </a:tc>
                <a:tc>
                  <a:txBody>
                    <a:bodyPr/>
                    <a:lstStyle/>
                    <a:p>
                      <a:pPr>
                        <a:defRPr sz="950">
                          <a:solidFill>
                            <a:srgbClr val="03213F"/>
                          </a:solidFill>
                        </a:defRPr>
                      </a:pPr>
                      <a:r>
                        <a:t>Validate connection</a:t>
                      </a:r>
                    </a:p>
                  </a:txBody>
                  <a:tcPr marL="54864" marR="54864" marT="27432" marB="27432" anchor="ctr">
                    <a:solidFill>
                      <a:srgbClr val="FFFFFF"/>
                    </a:solidFill>
                  </a:tcPr>
                </a:tc>
                <a:tc>
                  <a:txBody>
                    <a:bodyPr/>
                    <a:lstStyle/>
                    <a:p>
                      <a:pPr>
                        <a:defRPr sz="950">
                          <a:solidFill>
                            <a:srgbClr val="03213F"/>
                          </a:solidFill>
                        </a:defRPr>
                      </a:pPr>
                      <a:r>
                        <a:t>My SN Instances → open record → Validate Connection → status 'Connection valid'</a:t>
                      </a:r>
                    </a:p>
                  </a:txBody>
                  <a:tcPr marL="54864" marR="54864" marT="27432" marB="27432" anchor="ctr">
                    <a:solidFill>
                      <a:srgbClr val="FFFFFF"/>
                    </a:solidFill>
                  </a:tcPr>
                </a:tc>
                <a:tc>
                  <a:txBody>
                    <a:bodyPr/>
                    <a:lstStyle/>
                    <a:p>
                      <a:pPr>
                        <a:defRPr sz="950">
                          <a:solidFill>
                            <a:srgbClr val="03213F"/>
                          </a:solidFill>
                        </a:defRPr>
                      </a:pPr>
                      <a:r>
                        <a:t>sn_se.scan_engine_admin</a:t>
                      </a:r>
                    </a:p>
                  </a:txBody>
                  <a:tcPr marL="54864" marR="54864" marT="27432" marB="27432" anchor="ctr">
                    <a:solidFill>
                      <a:srgbClr val="FFFFFF"/>
                    </a:solidFill>
                  </a:tcPr>
                </a:tc>
              </a:tr>
              <a:tr h="243459">
                <a:tc>
                  <a:txBody>
                    <a:bodyPr/>
                    <a:lstStyle/>
                    <a:p>
                      <a:pPr>
                        <a:defRPr sz="950">
                          <a:solidFill>
                            <a:srgbClr val="03213F"/>
                          </a:solidFill>
                        </a:defRPr>
                      </a:pPr>
                      <a:r>
                        <a:t>12</a:t>
                      </a:r>
                    </a:p>
                  </a:txBody>
                  <a:tcPr marL="54864" marR="54864" marT="27432" marB="27432" anchor="ctr">
                    <a:solidFill>
                      <a:srgbClr val="F2F4F7"/>
                    </a:solidFill>
                  </a:tcPr>
                </a:tc>
                <a:tc>
                  <a:txBody>
                    <a:bodyPr/>
                    <a:lstStyle/>
                    <a:p>
                      <a:pPr>
                        <a:defRPr sz="950">
                          <a:solidFill>
                            <a:srgbClr val="03213F"/>
                          </a:solidFill>
                        </a:defRPr>
                      </a:pPr>
                      <a:r>
                        <a:t>Automated registration</a:t>
                      </a:r>
                    </a:p>
                  </a:txBody>
                  <a:tcPr marL="54864" marR="54864" marT="27432" marB="27432" anchor="ctr">
                    <a:solidFill>
                      <a:srgbClr val="F2F4F7"/>
                    </a:solidFill>
                  </a:tcPr>
                </a:tc>
                <a:tc>
                  <a:txBody>
                    <a:bodyPr/>
                    <a:lstStyle/>
                    <a:p>
                      <a:pPr>
                        <a:defRPr sz="950">
                          <a:solidFill>
                            <a:srgbClr val="03213F"/>
                          </a:solidFill>
                        </a:defRPr>
                      </a:pPr>
                      <a:r>
                        <a:t>All → Impact → Configuration → Guided Setup → Register your instance</a:t>
                      </a:r>
                    </a:p>
                  </a:txBody>
                  <a:tcPr marL="54864" marR="54864" marT="27432" marB="27432" anchor="ctr">
                    <a:solidFill>
                      <a:srgbClr val="F2F4F7"/>
                    </a:solidFill>
                  </a:tcPr>
                </a:tc>
                <a:tc>
                  <a:txBody>
                    <a:bodyPr/>
                    <a:lstStyle/>
                    <a:p>
                      <a:pPr>
                        <a:defRPr sz="950">
                          <a:solidFill>
                            <a:srgbClr val="03213F"/>
                          </a:solidFill>
                        </a:defRPr>
                      </a:pPr>
                      <a:r>
                        <a:t>Impact App Admin + IDI admin</a:t>
                      </a:r>
                    </a:p>
                  </a:txBody>
                  <a:tcPr marL="54864" marR="54864" marT="27432" marB="27432" anchor="ctr">
                    <a:solidFill>
                      <a:srgbClr val="F2F4F7"/>
                    </a:solidFill>
                  </a:tcPr>
                </a:tc>
              </a:tr>
              <a:tr h="243459">
                <a:tc>
                  <a:txBody>
                    <a:bodyPr/>
                    <a:lstStyle/>
                    <a:p>
                      <a:pPr>
                        <a:defRPr sz="950">
                          <a:solidFill>
                            <a:srgbClr val="03213F"/>
                          </a:solidFill>
                        </a:defRPr>
                      </a:pPr>
                      <a:r>
                        <a:t>12b</a:t>
                      </a:r>
                    </a:p>
                  </a:txBody>
                  <a:tcPr marL="54864" marR="54864" marT="27432" marB="27432" anchor="ctr">
                    <a:solidFill>
                      <a:srgbClr val="FFFFFF"/>
                    </a:solidFill>
                  </a:tcPr>
                </a:tc>
                <a:tc>
                  <a:txBody>
                    <a:bodyPr/>
                    <a:lstStyle/>
                    <a:p>
                      <a:pPr>
                        <a:defRPr sz="950">
                          <a:solidFill>
                            <a:srgbClr val="03213F"/>
                          </a:solidFill>
                        </a:defRPr>
                      </a:pPr>
                      <a:r>
                        <a:t>Manual registration (regulated / GCC)</a:t>
                      </a:r>
                    </a:p>
                  </a:txBody>
                  <a:tcPr marL="54864" marR="54864" marT="27432" marB="27432" anchor="ctr">
                    <a:solidFill>
                      <a:srgbClr val="FFFFFF"/>
                    </a:solidFill>
                  </a:tcPr>
                </a:tc>
                <a:tc>
                  <a:txBody>
                    <a:bodyPr/>
                    <a:lstStyle/>
                    <a:p>
                      <a:pPr>
                        <a:defRPr sz="950">
                          <a:solidFill>
                            <a:srgbClr val="03213F"/>
                          </a:solidFill>
                        </a:defRPr>
                      </a:pPr>
                      <a:r>
                        <a:t>IDI → Activity Center → Instance registration → Add instance</a:t>
                      </a:r>
                    </a:p>
                  </a:txBody>
                  <a:tcPr marL="54864" marR="54864" marT="27432" marB="27432" anchor="ctr">
                    <a:solidFill>
                      <a:srgbClr val="FFFFFF"/>
                    </a:solidFill>
                  </a:tcPr>
                </a:tc>
                <a:tc>
                  <a:txBody>
                    <a:bodyPr/>
                    <a:lstStyle/>
                    <a:p>
                      <a:pPr>
                        <a:defRPr sz="950">
                          <a:solidFill>
                            <a:srgbClr val="03213F"/>
                          </a:solidFill>
                        </a:defRPr>
                      </a:pPr>
                      <a:r>
                        <a:t>admin / any Impact role</a:t>
                      </a:r>
                    </a:p>
                  </a:txBody>
                  <a:tcPr marL="54864" marR="54864" marT="27432" marB="27432" anchor="ctr">
                    <a:solidFill>
                      <a:srgbClr val="FFFFFF"/>
                    </a:solidFill>
                  </a:tcPr>
                </a:tc>
              </a:tr>
              <a:tr h="395478">
                <a:tc>
                  <a:txBody>
                    <a:bodyPr/>
                    <a:lstStyle/>
                    <a:p>
                      <a:pPr>
                        <a:defRPr sz="950">
                          <a:solidFill>
                            <a:srgbClr val="03213F"/>
                          </a:solidFill>
                        </a:defRPr>
                      </a:pPr>
                      <a:r>
                        <a:t>13</a:t>
                      </a:r>
                    </a:p>
                  </a:txBody>
                  <a:tcPr marL="54864" marR="54864" marT="27432" marB="27432" anchor="ctr">
                    <a:solidFill>
                      <a:srgbClr val="F2F4F7"/>
                    </a:solidFill>
                  </a:tcPr>
                </a:tc>
                <a:tc>
                  <a:txBody>
                    <a:bodyPr/>
                    <a:lstStyle/>
                    <a:p>
                      <a:pPr>
                        <a:defRPr sz="950">
                          <a:solidFill>
                            <a:srgbClr val="03213F"/>
                          </a:solidFill>
                        </a:defRPr>
                      </a:pPr>
                      <a:r>
                        <a:t>Verify data connection</a:t>
                      </a:r>
                    </a:p>
                  </a:txBody>
                  <a:tcPr marL="54864" marR="54864" marT="27432" marB="27432" anchor="ctr">
                    <a:solidFill>
                      <a:srgbClr val="F2F4F7"/>
                    </a:solidFill>
                  </a:tcPr>
                </a:tc>
                <a:tc>
                  <a:txBody>
                    <a:bodyPr/>
                    <a:lstStyle/>
                    <a:p>
                      <a:pPr>
                        <a:defRPr sz="950">
                          <a:solidFill>
                            <a:srgbClr val="03213F"/>
                          </a:solidFill>
                        </a:defRPr>
                      </a:pPr>
                      <a:r>
                        <a:t>Guided Setup → Verify the Connection — success is Inbound + Outbound 'Active replication'</a:t>
                      </a:r>
                    </a:p>
                  </a:txBody>
                  <a:tcPr marL="54864" marR="54864" marT="27432" marB="27432" anchor="ctr">
                    <a:solidFill>
                      <a:srgbClr val="F2F4F7"/>
                    </a:solidFill>
                  </a:tcPr>
                </a:tc>
                <a:tc>
                  <a:txBody>
                    <a:bodyPr/>
                    <a:lstStyle/>
                    <a:p>
                      <a:pPr>
                        <a:defRPr sz="950">
                          <a:solidFill>
                            <a:srgbClr val="03213F"/>
                          </a:solidFill>
                        </a:defRPr>
                      </a:pPr>
                      <a:r>
                        <a:t>Impact App Admin</a:t>
                      </a:r>
                    </a:p>
                  </a:txBody>
                  <a:tcPr marL="54864" marR="54864" marT="27432" marB="27432" anchor="ctr">
                    <a:solidFill>
                      <a:srgbClr val="F2F4F7"/>
                    </a:solidFill>
                  </a:tcPr>
                </a:tc>
              </a:tr>
              <a:tr h="395478">
                <a:tc>
                  <a:txBody>
                    <a:bodyPr/>
                    <a:lstStyle/>
                    <a:p>
                      <a:pPr>
                        <a:defRPr sz="950">
                          <a:solidFill>
                            <a:srgbClr val="03213F"/>
                          </a:solidFill>
                        </a:defRPr>
                      </a:pPr>
                      <a:r>
                        <a:t>14</a:t>
                      </a:r>
                    </a:p>
                  </a:txBody>
                  <a:tcPr marL="54864" marR="54864" marT="27432" marB="27432" anchor="ctr">
                    <a:solidFill>
                      <a:srgbClr val="FFFFFF"/>
                    </a:solidFill>
                  </a:tcPr>
                </a:tc>
                <a:tc>
                  <a:txBody>
                    <a:bodyPr/>
                    <a:lstStyle/>
                    <a:p>
                      <a:pPr>
                        <a:defRPr sz="950">
                          <a:solidFill>
                            <a:srgbClr val="03213F"/>
                          </a:solidFill>
                        </a:defRPr>
                      </a:pPr>
                      <a:r>
                        <a:t>Initiate sync &amp; migration</a:t>
                      </a:r>
                    </a:p>
                  </a:txBody>
                  <a:tcPr marL="54864" marR="54864" marT="27432" marB="27432" anchor="ctr">
                    <a:solidFill>
                      <a:srgbClr val="FFFFFF"/>
                    </a:solidFill>
                  </a:tcPr>
                </a:tc>
                <a:tc>
                  <a:txBody>
                    <a:bodyPr/>
                    <a:lstStyle/>
                    <a:p>
                      <a:pPr>
                        <a:defRPr sz="950">
                          <a:solidFill>
                            <a:srgbClr val="03213F"/>
                          </a:solidFill>
                        </a:defRPr>
                      </a:pPr>
                      <a:r>
                        <a:t>All → Impact → Configuration → Guided Setup → Initiate sync &amp; migration → Start Data Migration</a:t>
                      </a:r>
                    </a:p>
                  </a:txBody>
                  <a:tcPr marL="54864" marR="54864" marT="27432" marB="27432" anchor="ctr">
                    <a:solidFill>
                      <a:srgbClr val="FFFFFF"/>
                    </a:solidFill>
                  </a:tcPr>
                </a:tc>
                <a:tc>
                  <a:txBody>
                    <a:bodyPr/>
                    <a:lstStyle/>
                    <a:p>
                      <a:pPr>
                        <a:defRPr sz="950">
                          <a:solidFill>
                            <a:srgbClr val="03213F"/>
                          </a:solidFill>
                        </a:defRPr>
                      </a:pPr>
                      <a:r>
                        <a:t>Impact App Admin / admin</a:t>
                      </a:r>
                    </a:p>
                  </a:txBody>
                  <a:tcPr marL="54864" marR="54864" marT="27432" marB="27432" anchor="ctr">
                    <a:solidFill>
                      <a:srgbClr val="FFFFFF"/>
                    </a:solidFill>
                  </a:tcPr>
                </a:tc>
              </a:tr>
              <a:tr h="395478">
                <a:tc>
                  <a:txBody>
                    <a:bodyPr/>
                    <a:lstStyle/>
                    <a:p>
                      <a:pPr>
                        <a:defRPr sz="950">
                          <a:solidFill>
                            <a:srgbClr val="03213F"/>
                          </a:solidFill>
                        </a:defRPr>
                      </a:pPr>
                      <a:r>
                        <a:t>15</a:t>
                      </a:r>
                    </a:p>
                  </a:txBody>
                  <a:tcPr marL="54864" marR="54864" marT="27432" marB="27432" anchor="ctr">
                    <a:solidFill>
                      <a:srgbClr val="F2F4F7"/>
                    </a:solidFill>
                  </a:tcPr>
                </a:tc>
                <a:tc>
                  <a:txBody>
                    <a:bodyPr/>
                    <a:lstStyle/>
                    <a:p>
                      <a:pPr>
                        <a:defRPr sz="950">
                          <a:solidFill>
                            <a:srgbClr val="03213F"/>
                          </a:solidFill>
                        </a:defRPr>
                      </a:pPr>
                      <a:r>
                        <a:t>Enable value layer</a:t>
                      </a:r>
                    </a:p>
                  </a:txBody>
                  <a:tcPr marL="54864" marR="54864" marT="27432" marB="27432" anchor="ctr">
                    <a:solidFill>
                      <a:srgbClr val="F2F4F7"/>
                    </a:solidFill>
                  </a:tcPr>
                </a:tc>
                <a:tc>
                  <a:txBody>
                    <a:bodyPr/>
                    <a:lstStyle/>
                    <a:p>
                      <a:pPr>
                        <a:defRPr sz="950">
                          <a:solidFill>
                            <a:srgbClr val="03213F"/>
                          </a:solidFill>
                        </a:defRPr>
                      </a:pPr>
                      <a:r>
                        <a:t>Objectives and outcomes; per-product data collection jobs (dc-*-install / activate / config); Instance Observer configuration</a:t>
                      </a:r>
                    </a:p>
                  </a:txBody>
                  <a:tcPr marL="54864" marR="54864" marT="27432" marB="27432" anchor="ctr">
                    <a:solidFill>
                      <a:srgbClr val="F2F4F7"/>
                    </a:solidFill>
                  </a:tcPr>
                </a:tc>
                <a:tc>
                  <a:txBody>
                    <a:bodyPr/>
                    <a:lstStyle/>
                    <a:p>
                      <a:pPr>
                        <a:defRPr sz="950">
                          <a:solidFill>
                            <a:srgbClr val="03213F"/>
                          </a:solidFill>
                        </a:defRPr>
                      </a:pPr>
                      <a:r>
                        <a:t>Impact Admin / Platform Owner</a:t>
                      </a:r>
                    </a:p>
                  </a:txBody>
                  <a:tcPr marL="54864" marR="54864" marT="27432" marB="27432" anchor="ctr">
                    <a:solidFill>
                      <a:srgbClr val="F2F4F7"/>
                    </a:solidFill>
                  </a:tcPr>
                </a:tc>
              </a:tr>
            </a:tbl>
          </a:graphicData>
        </a:graphic>
      </p:graphicFrame>
      <p:sp>
        <p:nvSpPr>
          <p:cNvPr id="5" name="TextBox 4"/>
          <p:cNvSpPr txBox="1"/>
          <p:nvPr/>
        </p:nvSpPr>
        <p:spPr>
          <a:xfrm>
            <a:off x="548640" y="5029200"/>
            <a:ext cx="11064240" cy="822960"/>
          </a:xfrm>
          <a:prstGeom prst="rect">
            <a:avLst/>
          </a:prstGeom>
          <a:noFill/>
        </p:spPr>
        <p:txBody>
          <a:bodyPr wrap="square">
            <a:spAutoFit/>
          </a:bodyPr>
          <a:lstStyle/>
          <a:p>
            <a:pPr>
              <a:defRPr sz="1050">
                <a:solidFill>
                  <a:srgbClr val="5C6B7A"/>
                </a:solidFill>
              </a:defRPr>
            </a:pPr>
            <a:r>
              <a:t>Validation warning: resolve the root cause before retrying a failed connection — repeated failures trigger the account lockout policy. Two flags must be cleared to recover: locked_out and password_needs_reset.</a:t>
            </a:r>
          </a:p>
        </p:txBody>
      </p:sp>
      <p:sp>
        <p:nvSpPr>
          <p:cNvPr id="6" name="TextBox 5"/>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9. The first 90 days — Foundations</a:t>
            </a:r>
          </a:p>
          <a:p>
            <a:pPr>
              <a:defRPr sz="1200">
                <a:solidFill>
                  <a:srgbClr val="C9D6E2"/>
                </a:solidFill>
              </a:defRPr>
            </a:pPr>
            <a:r>
              <a:t>From activation to the first credible read-out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00"/>
              </a:spcAft>
              <a:defRPr sz="1300" b="0">
                <a:solidFill>
                  <a:srgbClr val="03213F"/>
                </a:solidFill>
              </a:defRPr>
            </a:pPr>
            <a:r>
              <a:t>Week 0 — kickoff and alignment: Impact Kickoff Meeting, success criteria agreed, named contacts confirmed, squad access approved.</a:t>
            </a:r>
          </a:p>
          <a:p>
            <a:pPr>
              <a:spcAft>
                <a:spcPts val="700"/>
              </a:spcAft>
              <a:defRPr sz="1300" b="0">
                <a:solidFill>
                  <a:srgbClr val="03213F"/>
                </a:solidFill>
              </a:defRPr>
            </a:pPr>
            <a:r>
              <a:t>Weeks 1–2 — technical enablement: app installed, Guided Setup started, users and roles assigned, Platform Health users placed in groups, development teams created.</a:t>
            </a:r>
          </a:p>
          <a:p>
            <a:pPr>
              <a:spcAft>
                <a:spcPts val="700"/>
              </a:spcAft>
              <a:defRPr sz="1300" b="0">
                <a:solidFill>
                  <a:srgbClr val="03213F"/>
                </a:solidFill>
              </a:defRPr>
            </a:pPr>
            <a:r>
              <a:t>Weeks 2–3 — baseline the platform: Scan Engine activated, first full scan run overnight, findings triaged, remediation backlog created.</a:t>
            </a:r>
          </a:p>
          <a:p>
            <a:pPr>
              <a:spcAft>
                <a:spcPts val="700"/>
              </a:spcAft>
              <a:defRPr sz="1300" b="0">
                <a:solidFill>
                  <a:srgbClr val="03213F"/>
                </a:solidFill>
              </a:defRPr>
            </a:pPr>
            <a:r>
              <a:t>Weeks 2–4 — connect and migrate: instances registered, authentication configured, connection validated, registration completed, Active replication confirmed, data migration run.</a:t>
            </a:r>
          </a:p>
          <a:p>
            <a:pPr>
              <a:spcAft>
                <a:spcPts val="700"/>
              </a:spcAft>
              <a:defRPr sz="1300" b="0">
                <a:solidFill>
                  <a:srgbClr val="03213F"/>
                </a:solidFill>
              </a:defRPr>
            </a:pPr>
            <a:r>
              <a:t>Weeks 3–6 — agree the value story: objectives and outcomes agreed with baselines and targets; data collection jobs enabled per product.</a:t>
            </a:r>
          </a:p>
          <a:p>
            <a:pPr>
              <a:spcAft>
                <a:spcPts val="700"/>
              </a:spcAft>
              <a:defRPr sz="1300" b="0">
                <a:solidFill>
                  <a:srgbClr val="03213F"/>
                </a:solidFill>
              </a:defRPr>
            </a:pPr>
            <a:r>
              <a:t>Weeks 4–8 — plan the work: Capability Map reviewed, Product Adoption Roadmap published, recommendations converted into governed work items.</a:t>
            </a:r>
          </a:p>
          <a:p>
            <a:pPr>
              <a:spcAft>
                <a:spcPts val="700"/>
              </a:spcAft>
              <a:defRPr sz="1300" b="0">
                <a:solidFill>
                  <a:srgbClr val="03213F"/>
                </a:solidFill>
              </a:defRPr>
            </a:pPr>
            <a:r>
              <a:t>Weeks 6–10 — extend observability: Instance Observer enabled, thresholds tuned, webhook notifications routed, consent captured if in scope.</a:t>
            </a:r>
          </a:p>
          <a:p>
            <a:pPr>
              <a:spcAft>
                <a:spcPts val="700"/>
              </a:spcAft>
              <a:defRPr sz="1300" b="0">
                <a:solidFill>
                  <a:srgbClr val="03213F"/>
                </a:solidFill>
              </a:defRPr>
            </a:pPr>
            <a:r>
              <a:t>Weeks 8–12 — first value read-out: Monthly Health Assessment reviewed, outcome trends analysed, learning credits allocated.</a:t>
            </a:r>
          </a:p>
          <a:p>
            <a:pPr>
              <a:spcAft>
                <a:spcPts val="700"/>
              </a:spcAft>
              <a:defRPr sz="1300" b="0">
                <a:solidFill>
                  <a:srgbClr val="03213F"/>
                </a:solidFill>
              </a:defRPr>
            </a:pPr>
            <a:r>
              <a:t>Exit criteria: connection verified, full scan complete with owned findings, outcomes with baselines, published roadmap, calendarised reviews.</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Steady state — the repeating cadence</a:t>
            </a:r>
          </a:p>
          <a:p>
            <a:pPr>
              <a:defRPr sz="1200">
                <a:solidFill>
                  <a:srgbClr val="C9D6E2"/>
                </a:solidFill>
              </a:defRPr>
            </a:pPr>
            <a:r>
              <a:t>What happens monthly, quarterly and annually once Foundations is complete</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3072384"/>
        </p:xfrm>
        <a:graphic>
          <a:graphicData uri="http://schemas.openxmlformats.org/drawingml/2006/table">
            <a:tbl>
              <a:tblPr firstRow="1" bandRow="1">
                <a:tableStyleId>{5C22544A-7EE6-4342-B048-85BDC9FD1C3A}</a:tableStyleId>
              </a:tblPr>
              <a:tblGrid>
                <a:gridCol w="2766060"/>
                <a:gridCol w="2766060"/>
                <a:gridCol w="2766060"/>
                <a:gridCol w="2766060"/>
              </a:tblGrid>
              <a:tr h="243459">
                <a:tc>
                  <a:txBody>
                    <a:bodyPr/>
                    <a:lstStyle/>
                    <a:p>
                      <a:pPr>
                        <a:defRPr sz="950" b="1">
                          <a:solidFill>
                            <a:srgbClr val="FFFFFF"/>
                          </a:solidFill>
                        </a:defRPr>
                      </a:pPr>
                      <a:r>
                        <a:t>Cadence</a:t>
                      </a:r>
                    </a:p>
                  </a:txBody>
                  <a:tcPr marL="54864" marR="54864" marT="27432" marB="27432" anchor="ctr">
                    <a:solidFill>
                      <a:srgbClr val="1F4E79"/>
                    </a:solidFill>
                  </a:tcPr>
                </a:tc>
                <a:tc>
                  <a:txBody>
                    <a:bodyPr/>
                    <a:lstStyle/>
                    <a:p>
                      <a:pPr>
                        <a:defRPr sz="950" b="1">
                          <a:solidFill>
                            <a:srgbClr val="FFFFFF"/>
                          </a:solidFill>
                        </a:defRPr>
                      </a:pPr>
                      <a:r>
                        <a:t>Forum</a:t>
                      </a:r>
                    </a:p>
                  </a:txBody>
                  <a:tcPr marL="54864" marR="54864" marT="27432" marB="27432" anchor="ctr">
                    <a:solidFill>
                      <a:srgbClr val="1F4E79"/>
                    </a:solidFill>
                  </a:tcPr>
                </a:tc>
                <a:tc>
                  <a:txBody>
                    <a:bodyPr/>
                    <a:lstStyle/>
                    <a:p>
                      <a:pPr>
                        <a:defRPr sz="950" b="1">
                          <a:solidFill>
                            <a:srgbClr val="FFFFFF"/>
                          </a:solidFill>
                        </a:defRPr>
                      </a:pPr>
                      <a:r>
                        <a:t>Inputs</a:t>
                      </a:r>
                    </a:p>
                  </a:txBody>
                  <a:tcPr marL="54864" marR="54864" marT="27432" marB="27432" anchor="ctr">
                    <a:solidFill>
                      <a:srgbClr val="1F4E79"/>
                    </a:solidFill>
                  </a:tcPr>
                </a:tc>
                <a:tc>
                  <a:txBody>
                    <a:bodyPr/>
                    <a:lstStyle/>
                    <a:p>
                      <a:pPr>
                        <a:defRPr sz="950" b="1">
                          <a:solidFill>
                            <a:srgbClr val="FFFFFF"/>
                          </a:solidFill>
                        </a:defRPr>
                      </a:pPr>
                      <a:r>
                        <a:t>Outputs</a:t>
                      </a:r>
                    </a:p>
                  </a:txBody>
                  <a:tcPr marL="54864" marR="54864" marT="27432" marB="27432" anchor="ctr">
                    <a:solidFill>
                      <a:srgbClr val="1F4E79"/>
                    </a:solidFill>
                  </a:tcPr>
                </a:tc>
              </a:tr>
              <a:tr h="547497">
                <a:tc>
                  <a:txBody>
                    <a:bodyPr/>
                    <a:lstStyle/>
                    <a:p>
                      <a:pPr>
                        <a:defRPr sz="950">
                          <a:solidFill>
                            <a:srgbClr val="03213F"/>
                          </a:solidFill>
                        </a:defRPr>
                      </a:pPr>
                      <a:r>
                        <a:t>Monthly</a:t>
                      </a:r>
                    </a:p>
                  </a:txBody>
                  <a:tcPr marL="54864" marR="54864" marT="27432" marB="27432" anchor="ctr">
                    <a:solidFill>
                      <a:srgbClr val="FFFFFF"/>
                    </a:solidFill>
                  </a:tcPr>
                </a:tc>
                <a:tc>
                  <a:txBody>
                    <a:bodyPr/>
                    <a:lstStyle/>
                    <a:p>
                      <a:pPr>
                        <a:defRPr sz="950">
                          <a:solidFill>
                            <a:srgbClr val="03213F"/>
                          </a:solidFill>
                        </a:defRPr>
                      </a:pPr>
                      <a:r>
                        <a:t>Operational and health review (Platform Owner + CSM + team leads)</a:t>
                      </a:r>
                    </a:p>
                  </a:txBody>
                  <a:tcPr marL="54864" marR="54864" marT="27432" marB="27432" anchor="ctr">
                    <a:solidFill>
                      <a:srgbClr val="FFFFFF"/>
                    </a:solidFill>
                  </a:tcPr>
                </a:tc>
                <a:tc>
                  <a:txBody>
                    <a:bodyPr/>
                    <a:lstStyle/>
                    <a:p>
                      <a:pPr>
                        <a:defRPr sz="950">
                          <a:solidFill>
                            <a:srgbClr val="03213F"/>
                          </a:solidFill>
                        </a:defRPr>
                      </a:pPr>
                      <a:r>
                        <a:t>New scan findings, health score movement, Observer alerts, remediation backlog</a:t>
                      </a:r>
                    </a:p>
                  </a:txBody>
                  <a:tcPr marL="54864" marR="54864" marT="27432" marB="27432" anchor="ctr">
                    <a:solidFill>
                      <a:srgbClr val="FFFFFF"/>
                    </a:solidFill>
                  </a:tcPr>
                </a:tc>
                <a:tc>
                  <a:txBody>
                    <a:bodyPr/>
                    <a:lstStyle/>
                    <a:p>
                      <a:pPr>
                        <a:defRPr sz="950">
                          <a:solidFill>
                            <a:srgbClr val="03213F"/>
                          </a:solidFill>
                        </a:defRPr>
                      </a:pPr>
                      <a:r>
                        <a:t>Prioritised actions with owners and dates</a:t>
                      </a:r>
                    </a:p>
                  </a:txBody>
                  <a:tcPr marL="54864" marR="54864" marT="27432" marB="27432" anchor="ctr">
                    <a:solidFill>
                      <a:srgbClr val="FFFFFF"/>
                    </a:solidFill>
                  </a:tcPr>
                </a:tc>
              </a:tr>
              <a:tr h="547497">
                <a:tc>
                  <a:txBody>
                    <a:bodyPr/>
                    <a:lstStyle/>
                    <a:p>
                      <a:pPr>
                        <a:defRPr sz="950">
                          <a:solidFill>
                            <a:srgbClr val="03213F"/>
                          </a:solidFill>
                        </a:defRPr>
                      </a:pPr>
                      <a:r>
                        <a:t>Monthly</a:t>
                      </a:r>
                    </a:p>
                  </a:txBody>
                  <a:tcPr marL="54864" marR="54864" marT="27432" marB="27432" anchor="ctr">
                    <a:solidFill>
                      <a:srgbClr val="F2F4F7"/>
                    </a:solidFill>
                  </a:tcPr>
                </a:tc>
                <a:tc>
                  <a:txBody>
                    <a:bodyPr/>
                    <a:lstStyle/>
                    <a:p>
                      <a:pPr>
                        <a:defRPr sz="950">
                          <a:solidFill>
                            <a:srgbClr val="03213F"/>
                          </a:solidFill>
                        </a:defRPr>
                      </a:pPr>
                      <a:r>
                        <a:t>Health assessment review</a:t>
                      </a:r>
                    </a:p>
                  </a:txBody>
                  <a:tcPr marL="54864" marR="54864" marT="27432" marB="27432" anchor="ctr">
                    <a:solidFill>
                      <a:srgbClr val="F2F4F7"/>
                    </a:solidFill>
                  </a:tcPr>
                </a:tc>
                <a:tc>
                  <a:txBody>
                    <a:bodyPr/>
                    <a:lstStyle/>
                    <a:p>
                      <a:pPr>
                        <a:defRPr sz="950">
                          <a:solidFill>
                            <a:srgbClr val="03213F"/>
                          </a:solidFill>
                        </a:defRPr>
                      </a:pPr>
                      <a:r>
                        <a:t>Monthly Health Assessment output (reports typically ~2 weeks after the assessment)</a:t>
                      </a:r>
                    </a:p>
                  </a:txBody>
                  <a:tcPr marL="54864" marR="54864" marT="27432" marB="27432" anchor="ctr">
                    <a:solidFill>
                      <a:srgbClr val="F2F4F7"/>
                    </a:solidFill>
                  </a:tcPr>
                </a:tc>
                <a:tc>
                  <a:txBody>
                    <a:bodyPr/>
                    <a:lstStyle/>
                    <a:p>
                      <a:pPr>
                        <a:defRPr sz="950">
                          <a:solidFill>
                            <a:srgbClr val="03213F"/>
                          </a:solidFill>
                        </a:defRPr>
                      </a:pPr>
                      <a:r>
                        <a:t>Accepted recommendations, next month's focus</a:t>
                      </a:r>
                    </a:p>
                  </a:txBody>
                  <a:tcPr marL="54864" marR="54864" marT="27432" marB="27432" anchor="ctr">
                    <a:solidFill>
                      <a:srgbClr val="F2F4F7"/>
                    </a:solidFill>
                  </a:tcPr>
                </a:tc>
              </a:tr>
              <a:tr h="395478">
                <a:tc>
                  <a:txBody>
                    <a:bodyPr/>
                    <a:lstStyle/>
                    <a:p>
                      <a:pPr>
                        <a:defRPr sz="950">
                          <a:solidFill>
                            <a:srgbClr val="03213F"/>
                          </a:solidFill>
                        </a:defRPr>
                      </a:pPr>
                      <a:r>
                        <a:t>Quarterly</a:t>
                      </a:r>
                    </a:p>
                  </a:txBody>
                  <a:tcPr marL="54864" marR="54864" marT="27432" marB="27432" anchor="ctr">
                    <a:solidFill>
                      <a:srgbClr val="FFFFFF"/>
                    </a:solidFill>
                  </a:tcPr>
                </a:tc>
                <a:tc>
                  <a:txBody>
                    <a:bodyPr/>
                    <a:lstStyle/>
                    <a:p>
                      <a:pPr>
                        <a:defRPr sz="950">
                          <a:solidFill>
                            <a:srgbClr val="03213F"/>
                          </a:solidFill>
                        </a:defRPr>
                      </a:pPr>
                      <a:r>
                        <a:t>Outcome review (business stakeholders + CSM)</a:t>
                      </a:r>
                    </a:p>
                  </a:txBody>
                  <a:tcPr marL="54864" marR="54864" marT="27432" marB="27432" anchor="ctr">
                    <a:solidFill>
                      <a:srgbClr val="FFFFFF"/>
                    </a:solidFill>
                  </a:tcPr>
                </a:tc>
                <a:tc>
                  <a:txBody>
                    <a:bodyPr/>
                    <a:lstStyle/>
                    <a:p>
                      <a:pPr>
                        <a:defRPr sz="950">
                          <a:solidFill>
                            <a:srgbClr val="03213F"/>
                          </a:solidFill>
                        </a:defRPr>
                      </a:pPr>
                      <a:r>
                        <a:t>Outcome Insights vs benchmark and goal, adoption status, roadmap progress</a:t>
                      </a:r>
                    </a:p>
                  </a:txBody>
                  <a:tcPr marL="54864" marR="54864" marT="27432" marB="27432" anchor="ctr">
                    <a:solidFill>
                      <a:srgbClr val="FFFFFF"/>
                    </a:solidFill>
                  </a:tcPr>
                </a:tc>
                <a:tc>
                  <a:txBody>
                    <a:bodyPr/>
                    <a:lstStyle/>
                    <a:p>
                      <a:pPr>
                        <a:defRPr sz="950">
                          <a:solidFill>
                            <a:srgbClr val="03213F"/>
                          </a:solidFill>
                        </a:defRPr>
                      </a:pPr>
                      <a:r>
                        <a:t>Roadmap adjustments, new or retired outcomes, Accelerator re-planning</a:t>
                      </a:r>
                    </a:p>
                  </a:txBody>
                  <a:tcPr marL="54864" marR="54864" marT="27432" marB="27432" anchor="ctr">
                    <a:solidFill>
                      <a:srgbClr val="FFFFFF"/>
                    </a:solidFill>
                  </a:tcPr>
                </a:tc>
              </a:tr>
              <a:tr h="547497">
                <a:tc>
                  <a:txBody>
                    <a:bodyPr/>
                    <a:lstStyle/>
                    <a:p>
                      <a:pPr>
                        <a:defRPr sz="950">
                          <a:solidFill>
                            <a:srgbClr val="03213F"/>
                          </a:solidFill>
                        </a:defRPr>
                      </a:pPr>
                      <a:r>
                        <a:t>Quarterly</a:t>
                      </a:r>
                    </a:p>
                  </a:txBody>
                  <a:tcPr marL="54864" marR="54864" marT="27432" marB="27432" anchor="ctr">
                    <a:solidFill>
                      <a:srgbClr val="F2F4F7"/>
                    </a:solidFill>
                  </a:tcPr>
                </a:tc>
                <a:tc>
                  <a:txBody>
                    <a:bodyPr/>
                    <a:lstStyle/>
                    <a:p>
                      <a:pPr>
                        <a:defRPr sz="950">
                          <a:solidFill>
                            <a:srgbClr val="03213F"/>
                          </a:solidFill>
                        </a:defRPr>
                      </a:pPr>
                      <a:r>
                        <a:t>Support and executive review</a:t>
                      </a:r>
                    </a:p>
                  </a:txBody>
                  <a:tcPr marL="54864" marR="54864" marT="27432" marB="27432" anchor="ctr">
                    <a:solidFill>
                      <a:srgbClr val="F2F4F7"/>
                    </a:solidFill>
                  </a:tcPr>
                </a:tc>
                <a:tc>
                  <a:txBody>
                    <a:bodyPr/>
                    <a:lstStyle/>
                    <a:p>
                      <a:pPr>
                        <a:defRPr sz="950">
                          <a:solidFill>
                            <a:srgbClr val="03213F"/>
                          </a:solidFill>
                        </a:defRPr>
                      </a:pPr>
                      <a:r>
                        <a:t>Case trends P1–P4, Developer Support usage, Accelerator consumption, learning balance</a:t>
                      </a:r>
                    </a:p>
                  </a:txBody>
                  <a:tcPr marL="54864" marR="54864" marT="27432" marB="27432" anchor="ctr">
                    <a:solidFill>
                      <a:srgbClr val="F2F4F7"/>
                    </a:solidFill>
                  </a:tcPr>
                </a:tc>
                <a:tc>
                  <a:txBody>
                    <a:bodyPr/>
                    <a:lstStyle/>
                    <a:p>
                      <a:pPr>
                        <a:defRPr sz="950">
                          <a:solidFill>
                            <a:srgbClr val="03213F"/>
                          </a:solidFill>
                        </a:defRPr>
                      </a:pPr>
                      <a:r>
                        <a:t>Value narrative update, investment decisions</a:t>
                      </a:r>
                    </a:p>
                  </a:txBody>
                  <a:tcPr marL="54864" marR="54864" marT="27432" marB="27432" anchor="ctr">
                    <a:solidFill>
                      <a:srgbClr val="F2F4F7"/>
                    </a:solidFill>
                  </a:tcPr>
                </a:tc>
              </a:tr>
              <a:tr h="395478">
                <a:tc>
                  <a:txBody>
                    <a:bodyPr/>
                    <a:lstStyle/>
                    <a:p>
                      <a:pPr>
                        <a:defRPr sz="950">
                          <a:solidFill>
                            <a:srgbClr val="03213F"/>
                          </a:solidFill>
                        </a:defRPr>
                      </a:pPr>
                      <a:r>
                        <a:t>Quarterly</a:t>
                      </a:r>
                    </a:p>
                  </a:txBody>
                  <a:tcPr marL="54864" marR="54864" marT="27432" marB="27432" anchor="ctr">
                    <a:solidFill>
                      <a:srgbClr val="FFFFFF"/>
                    </a:solidFill>
                  </a:tcPr>
                </a:tc>
                <a:tc>
                  <a:txBody>
                    <a:bodyPr/>
                    <a:lstStyle/>
                    <a:p>
                      <a:pPr>
                        <a:defRPr sz="950">
                          <a:solidFill>
                            <a:srgbClr val="03213F"/>
                          </a:solidFill>
                        </a:defRPr>
                      </a:pPr>
                      <a:r>
                        <a:t>Governance hygiene</a:t>
                      </a:r>
                    </a:p>
                  </a:txBody>
                  <a:tcPr marL="54864" marR="54864" marT="27432" marB="27432" anchor="ctr">
                    <a:solidFill>
                      <a:srgbClr val="FFFFFF"/>
                    </a:solidFill>
                  </a:tcPr>
                </a:tc>
                <a:tc>
                  <a:txBody>
                    <a:bodyPr/>
                    <a:lstStyle/>
                    <a:p>
                      <a:pPr>
                        <a:defRPr sz="950">
                          <a:solidFill>
                            <a:srgbClr val="03213F"/>
                          </a:solidFill>
                        </a:defRPr>
                      </a:pPr>
                      <a:r>
                        <a:t>Squad access (read-only, 30 days, revocable)</a:t>
                      </a:r>
                    </a:p>
                  </a:txBody>
                  <a:tcPr marL="54864" marR="54864" marT="27432" marB="27432" anchor="ctr">
                    <a:solidFill>
                      <a:srgbClr val="FFFFFF"/>
                    </a:solidFill>
                  </a:tcPr>
                </a:tc>
                <a:tc>
                  <a:txBody>
                    <a:bodyPr/>
                    <a:lstStyle/>
                    <a:p>
                      <a:pPr>
                        <a:defRPr sz="950">
                          <a:solidFill>
                            <a:srgbClr val="03213F"/>
                          </a:solidFill>
                        </a:defRPr>
                      </a:pPr>
                      <a:r>
                        <a:t>Renewed or revoked access</a:t>
                      </a:r>
                    </a:p>
                  </a:txBody>
                  <a:tcPr marL="54864" marR="54864" marT="27432" marB="27432" anchor="ctr">
                    <a:solidFill>
                      <a:srgbClr val="FFFFFF"/>
                    </a:solidFill>
                  </a:tcPr>
                </a:tc>
              </a:tr>
              <a:tr h="395478">
                <a:tc>
                  <a:txBody>
                    <a:bodyPr/>
                    <a:lstStyle/>
                    <a:p>
                      <a:pPr>
                        <a:defRPr sz="950">
                          <a:solidFill>
                            <a:srgbClr val="03213F"/>
                          </a:solidFill>
                        </a:defRPr>
                      </a:pPr>
                      <a:r>
                        <a:t>Annually</a:t>
                      </a:r>
                    </a:p>
                  </a:txBody>
                  <a:tcPr marL="54864" marR="54864" marT="27432" marB="27432" anchor="ctr">
                    <a:solidFill>
                      <a:srgbClr val="F2F4F7"/>
                    </a:solidFill>
                  </a:tcPr>
                </a:tc>
                <a:tc>
                  <a:txBody>
                    <a:bodyPr/>
                    <a:lstStyle/>
                    <a:p>
                      <a:pPr>
                        <a:defRPr sz="950">
                          <a:solidFill>
                            <a:srgbClr val="03213F"/>
                          </a:solidFill>
                        </a:defRPr>
                      </a:pPr>
                      <a:r>
                        <a:t>Value realisation</a:t>
                      </a:r>
                    </a:p>
                  </a:txBody>
                  <a:tcPr marL="54864" marR="54864" marT="27432" marB="27432" anchor="ctr">
                    <a:solidFill>
                      <a:srgbClr val="F2F4F7"/>
                    </a:solidFill>
                  </a:tcPr>
                </a:tc>
                <a:tc>
                  <a:txBody>
                    <a:bodyPr/>
                    <a:lstStyle/>
                    <a:p>
                      <a:pPr>
                        <a:defRPr sz="950">
                          <a:solidFill>
                            <a:srgbClr val="03213F"/>
                          </a:solidFill>
                        </a:defRPr>
                      </a:pPr>
                      <a:r>
                        <a:t>Value Reports with assumptions, Consumption Report</a:t>
                      </a:r>
                    </a:p>
                  </a:txBody>
                  <a:tcPr marL="54864" marR="54864" marT="27432" marB="27432" anchor="ctr">
                    <a:solidFill>
                      <a:srgbClr val="F2F4F7"/>
                    </a:solidFill>
                  </a:tcPr>
                </a:tc>
                <a:tc>
                  <a:txBody>
                    <a:bodyPr/>
                    <a:lstStyle/>
                    <a:p>
                      <a:pPr>
                        <a:defRPr sz="950">
                          <a:solidFill>
                            <a:srgbClr val="03213F"/>
                          </a:solidFill>
                        </a:defRPr>
                      </a:pPr>
                      <a:r>
                        <a:t>Renewal position, package right-sizing, next-year objectives</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Verify before you commit</a:t>
            </a:r>
          </a:p>
          <a:p>
            <a:pPr>
              <a:defRPr sz="1200">
                <a:solidFill>
                  <a:srgbClr val="C9D6E2"/>
                </a:solidFill>
              </a:defRPr>
            </a:pPr>
            <a:r>
              <a:t>Entitlement-dependent or documentation-inconsistent points to confirm first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3314696"/>
        </p:xfrm>
        <a:graphic>
          <a:graphicData uri="http://schemas.openxmlformats.org/drawingml/2006/table">
            <a:tbl>
              <a:tblPr firstRow="1" bandRow="1">
                <a:tableStyleId>{5C22544A-7EE6-4342-B048-85BDC9FD1C3A}</a:tableStyleId>
              </a:tblPr>
              <a:tblGrid>
                <a:gridCol w="5532120"/>
                <a:gridCol w="5532120"/>
              </a:tblGrid>
              <a:tr h="251460">
                <a:tc>
                  <a:txBody>
                    <a:bodyPr/>
                    <a:lstStyle/>
                    <a:p>
                      <a:pPr>
                        <a:defRPr sz="1000" b="1">
                          <a:solidFill>
                            <a:srgbClr val="FFFFFF"/>
                          </a:solidFill>
                        </a:defRPr>
                      </a:pPr>
                      <a:r>
                        <a:t>Point to verify</a:t>
                      </a:r>
                    </a:p>
                  </a:txBody>
                  <a:tcPr marL="54864" marR="54864" marT="27432" marB="27432" anchor="ctr">
                    <a:solidFill>
                      <a:srgbClr val="1F4E79"/>
                    </a:solidFill>
                  </a:tcPr>
                </a:tc>
                <a:tc>
                  <a:txBody>
                    <a:bodyPr/>
                    <a:lstStyle/>
                    <a:p>
                      <a:pPr>
                        <a:defRPr sz="1000" b="1">
                          <a:solidFill>
                            <a:srgbClr val="FFFFFF"/>
                          </a:solidFill>
                        </a:defRPr>
                      </a:pPr>
                      <a:r>
                        <a:t>Why</a:t>
                      </a:r>
                    </a:p>
                  </a:txBody>
                  <a:tcPr marL="54864" marR="54864" marT="27432" marB="27432" anchor="ctr">
                    <a:solidFill>
                      <a:srgbClr val="1F4E79"/>
                    </a:solidFill>
                  </a:tcPr>
                </a:tc>
              </a:tr>
              <a:tr h="411479">
                <a:tc>
                  <a:txBody>
                    <a:bodyPr/>
                    <a:lstStyle/>
                    <a:p>
                      <a:pPr>
                        <a:defRPr sz="1000">
                          <a:solidFill>
                            <a:srgbClr val="03213F"/>
                          </a:solidFill>
                        </a:defRPr>
                      </a:pPr>
                      <a:r>
                        <a:t>Package deltas (Guided / Total / Integrated Success)</a:t>
                      </a:r>
                    </a:p>
                  </a:txBody>
                  <a:tcPr marL="54864" marR="54864" marT="27432" marB="27432" anchor="ctr">
                    <a:solidFill>
                      <a:srgbClr val="FFFFFF"/>
                    </a:solidFill>
                  </a:tcPr>
                </a:tc>
                <a:tc>
                  <a:txBody>
                    <a:bodyPr/>
                    <a:lstStyle/>
                    <a:p>
                      <a:pPr>
                        <a:defRPr sz="1000">
                          <a:solidFill>
                            <a:srgbClr val="03213F"/>
                          </a:solidFill>
                        </a:defRPr>
                      </a:pPr>
                      <a:r>
                        <a:t>Custom definition limits, Observer seats and look-back, alert counts, Accelerator concurrency and Developer Support seats all differ</a:t>
                      </a:r>
                    </a:p>
                  </a:txBody>
                  <a:tcPr marL="54864" marR="54864" marT="27432" marB="27432" anchor="ctr">
                    <a:solidFill>
                      <a:srgbClr val="FFFFFF"/>
                    </a:solidFill>
                  </a:tcPr>
                </a:tc>
              </a:tr>
              <a:tr h="251460">
                <a:tc>
                  <a:txBody>
                    <a:bodyPr/>
                    <a:lstStyle/>
                    <a:p>
                      <a:pPr>
                        <a:defRPr sz="1000">
                          <a:solidFill>
                            <a:srgbClr val="03213F"/>
                          </a:solidFill>
                        </a:defRPr>
                      </a:pPr>
                      <a:r>
                        <a:t>P1 / P2 response targets by package</a:t>
                      </a:r>
                    </a:p>
                  </a:txBody>
                  <a:tcPr marL="54864" marR="54864" marT="27432" marB="27432" anchor="ctr">
                    <a:solidFill>
                      <a:srgbClr val="F2F4F7"/>
                    </a:solidFill>
                  </a:tcPr>
                </a:tc>
                <a:tc>
                  <a:txBody>
                    <a:bodyPr/>
                    <a:lstStyle/>
                    <a:p>
                      <a:pPr>
                        <a:defRPr sz="1000">
                          <a:solidFill>
                            <a:srgbClr val="03213F"/>
                          </a:solidFill>
                        </a:defRPr>
                      </a:pPr>
                      <a:r>
                        <a:t>Documented as 30/120 minutes (Guided) and 15/60 minutes (Total)</a:t>
                      </a:r>
                    </a:p>
                  </a:txBody>
                  <a:tcPr marL="54864" marR="54864" marT="27432" marB="27432" anchor="ctr">
                    <a:solidFill>
                      <a:srgbClr val="F2F4F7"/>
                    </a:solidFill>
                  </a:tcPr>
                </a:tc>
              </a:tr>
              <a:tr h="411479">
                <a:tc>
                  <a:txBody>
                    <a:bodyPr/>
                    <a:lstStyle/>
                    <a:p>
                      <a:pPr>
                        <a:defRPr sz="1000">
                          <a:solidFill>
                            <a:srgbClr val="03213F"/>
                          </a:solidFill>
                        </a:defRPr>
                      </a:pPr>
                      <a:r>
                        <a:t>Proactive Code Check status</a:t>
                      </a:r>
                    </a:p>
                  </a:txBody>
                  <a:tcPr marL="54864" marR="54864" marT="27432" marB="27432" anchor="ctr">
                    <a:solidFill>
                      <a:srgbClr val="FFFFFF"/>
                    </a:solidFill>
                  </a:tcPr>
                </a:tc>
                <a:tc>
                  <a:txBody>
                    <a:bodyPr/>
                    <a:lstStyle/>
                    <a:p>
                      <a:pPr>
                        <a:defRPr sz="1000">
                          <a:solidFill>
                            <a:srgbClr val="03213F"/>
                          </a:solidFill>
                        </a:defRPr>
                      </a:pPr>
                      <a:r>
                        <a:t>Documented as deprecating from Impact Zurich 6.0.8 — confirm before multi-year planning</a:t>
                      </a:r>
                    </a:p>
                  </a:txBody>
                  <a:tcPr marL="54864" marR="54864" marT="27432" marB="27432" anchor="ctr">
                    <a:solidFill>
                      <a:srgbClr val="FFFFFF"/>
                    </a:solidFill>
                  </a:tcPr>
                </a:tc>
              </a:tr>
              <a:tr h="251460">
                <a:tc>
                  <a:txBody>
                    <a:bodyPr/>
                    <a:lstStyle/>
                    <a:p>
                      <a:pPr>
                        <a:defRPr sz="1000">
                          <a:solidFill>
                            <a:srgbClr val="03213F"/>
                          </a:solidFill>
                        </a:defRPr>
                      </a:pPr>
                      <a:r>
                        <a:t>Group Views availability</a:t>
                      </a:r>
                    </a:p>
                  </a:txBody>
                  <a:tcPr marL="54864" marR="54864" marT="27432" marB="27432" anchor="ctr">
                    <a:solidFill>
                      <a:srgbClr val="F2F4F7"/>
                    </a:solidFill>
                  </a:tcPr>
                </a:tc>
                <a:tc>
                  <a:txBody>
                    <a:bodyPr/>
                    <a:lstStyle/>
                    <a:p>
                      <a:pPr>
                        <a:defRPr sz="1000">
                          <a:solidFill>
                            <a:srgbClr val="03213F"/>
                          </a:solidFill>
                        </a:defRPr>
                      </a:pPr>
                      <a:r>
                        <a:t>Documented as initially available to limited customers; requires squad enablement</a:t>
                      </a:r>
                    </a:p>
                  </a:txBody>
                  <a:tcPr marL="54864" marR="54864" marT="27432" marB="27432" anchor="ctr">
                    <a:solidFill>
                      <a:srgbClr val="F2F4F7"/>
                    </a:solidFill>
                  </a:tcPr>
                </a:tc>
              </a:tr>
              <a:tr h="251460">
                <a:tc>
                  <a:txBody>
                    <a:bodyPr/>
                    <a:lstStyle/>
                    <a:p>
                      <a:pPr>
                        <a:defRPr sz="1000">
                          <a:solidFill>
                            <a:srgbClr val="03213F"/>
                          </a:solidFill>
                        </a:defRPr>
                      </a:pPr>
                      <a:r>
                        <a:t>On-demand Accelerators</a:t>
                      </a:r>
                    </a:p>
                  </a:txBody>
                  <a:tcPr marL="54864" marR="54864" marT="27432" marB="27432" anchor="ctr">
                    <a:solidFill>
                      <a:srgbClr val="FFFFFF"/>
                    </a:solidFill>
                  </a:tcPr>
                </a:tc>
                <a:tc>
                  <a:txBody>
                    <a:bodyPr/>
                    <a:lstStyle/>
                    <a:p>
                      <a:pPr>
                        <a:defRPr sz="1000">
                          <a:solidFill>
                            <a:srgbClr val="03213F"/>
                          </a:solidFill>
                        </a:defRPr>
                      </a:pPr>
                      <a:r>
                        <a:t>Documented as not available to Guided — confirm for our package</a:t>
                      </a:r>
                    </a:p>
                  </a:txBody>
                  <a:tcPr marL="54864" marR="54864" marT="27432" marB="27432" anchor="ctr">
                    <a:solidFill>
                      <a:srgbClr val="FFFFFF"/>
                    </a:solidFill>
                  </a:tcPr>
                </a:tc>
              </a:tr>
              <a:tr h="571499">
                <a:tc>
                  <a:txBody>
                    <a:bodyPr/>
                    <a:lstStyle/>
                    <a:p>
                      <a:pPr>
                        <a:defRPr sz="1000">
                          <a:solidFill>
                            <a:srgbClr val="03213F"/>
                          </a:solidFill>
                        </a:defRPr>
                      </a:pPr>
                      <a:r>
                        <a:t>Restricted-environment availability</a:t>
                      </a:r>
                    </a:p>
                  </a:txBody>
                  <a:tcPr marL="54864" marR="54864" marT="27432" marB="27432" anchor="ctr">
                    <a:solidFill>
                      <a:srgbClr val="F2F4F7"/>
                    </a:solidFill>
                  </a:tcPr>
                </a:tc>
                <a:tc>
                  <a:txBody>
                    <a:bodyPr/>
                    <a:lstStyle/>
                    <a:p>
                      <a:pPr>
                        <a:defRPr sz="1000">
                          <a:solidFill>
                            <a:srgbClr val="03213F"/>
                          </a:solidFill>
                        </a:defRPr>
                      </a:pPr>
                      <a:r>
                        <a:t>Portions of Impact are unavailable in FedRAMP, NSC DOD IL5 and Australia IRAP-Protected environments, and for self-hosted users and MSPs (except internal use)</a:t>
                      </a:r>
                    </a:p>
                  </a:txBody>
                  <a:tcPr marL="54864" marR="54864" marT="27432" marB="27432" anchor="ctr">
                    <a:solidFill>
                      <a:srgbClr val="F2F4F7"/>
                    </a:solidFill>
                  </a:tcPr>
                </a:tc>
              </a:tr>
              <a:tr h="411479">
                <a:tc>
                  <a:txBody>
                    <a:bodyPr/>
                    <a:lstStyle/>
                    <a:p>
                      <a:pPr>
                        <a:defRPr sz="1000">
                          <a:solidFill>
                            <a:srgbClr val="03213F"/>
                          </a:solidFill>
                        </a:defRPr>
                      </a:pPr>
                      <a:r>
                        <a:t>AI capabilities</a:t>
                      </a:r>
                    </a:p>
                  </a:txBody>
                  <a:tcPr marL="54864" marR="54864" marT="27432" marB="27432" anchor="ctr">
                    <a:solidFill>
                      <a:srgbClr val="FFFFFF"/>
                    </a:solidFill>
                  </a:tcPr>
                </a:tc>
                <a:tc>
                  <a:txBody>
                    <a:bodyPr/>
                    <a:lstStyle/>
                    <a:p>
                      <a:pPr>
                        <a:defRPr sz="1000">
                          <a:solidFill>
                            <a:srgbClr val="03213F"/>
                          </a:solidFill>
                        </a:defRPr>
                      </a:pPr>
                      <a:r>
                        <a:t>Now Assist / ServiceNow Otto skills require version, entitlement and activation (e.g. Now Assist for Impact 3.03+, Now Assist for Platform 11.01+)</a:t>
                      </a:r>
                    </a:p>
                  </a:txBody>
                  <a:tcPr marL="54864" marR="54864" marT="27432" marB="27432" anchor="ctr">
                    <a:solidFill>
                      <a:srgbClr val="FFFFFF"/>
                    </a:solidFill>
                  </a:tcPr>
                </a:tc>
              </a:tr>
              <a:tr h="251460">
                <a:tc>
                  <a:txBody>
                    <a:bodyPr/>
                    <a:lstStyle/>
                    <a:p>
                      <a:pPr>
                        <a:defRPr sz="1000">
                          <a:solidFill>
                            <a:srgbClr val="03213F"/>
                          </a:solidFill>
                        </a:defRPr>
                      </a:pPr>
                      <a:r>
                        <a:t>Domain separation</a:t>
                      </a:r>
                    </a:p>
                  </a:txBody>
                  <a:tcPr marL="54864" marR="54864" marT="27432" marB="27432" anchor="ctr">
                    <a:solidFill>
                      <a:srgbClr val="F2F4F7"/>
                    </a:solidFill>
                  </a:tcPr>
                </a:tc>
                <a:tc>
                  <a:txBody>
                    <a:bodyPr/>
                    <a:lstStyle/>
                    <a:p>
                      <a:pPr>
                        <a:defRPr sz="1000">
                          <a:solidFill>
                            <a:srgbClr val="03213F"/>
                          </a:solidFill>
                        </a:defRPr>
                      </a:pPr>
                      <a:r>
                        <a:t>Not supported for Impact — a design constraint, not a configuration option</a:t>
                      </a:r>
                    </a:p>
                  </a:txBody>
                  <a:tcPr marL="54864" marR="54864" marT="27432" marB="27432" anchor="ctr">
                    <a:solidFill>
                      <a:srgbClr val="F2F4F7"/>
                    </a:solidFill>
                  </a:tcPr>
                </a:tc>
              </a:tr>
              <a:tr h="251460">
                <a:tc>
                  <a:txBody>
                    <a:bodyPr/>
                    <a:lstStyle/>
                    <a:p>
                      <a:pPr>
                        <a:defRPr sz="1000">
                          <a:solidFill>
                            <a:srgbClr val="03213F"/>
                          </a:solidFill>
                        </a:defRPr>
                      </a:pPr>
                      <a:r>
                        <a:t>Value Reports</a:t>
                      </a:r>
                    </a:p>
                  </a:txBody>
                  <a:tcPr marL="54864" marR="54864" marT="27432" marB="27432" anchor="ctr">
                    <a:solidFill>
                      <a:srgbClr val="FFFFFF"/>
                    </a:solidFill>
                  </a:tcPr>
                </a:tc>
                <a:tc>
                  <a:txBody>
                    <a:bodyPr/>
                    <a:lstStyle/>
                    <a:p>
                      <a:pPr>
                        <a:defRPr sz="1000">
                          <a:solidFill>
                            <a:srgbClr val="03213F"/>
                          </a:solidFill>
                        </a:defRPr>
                      </a:pPr>
                      <a:r>
                        <a:t>Need at least two years of product data to be meaningful</a:t>
                      </a:r>
                    </a:p>
                  </a:txBody>
                  <a:tcPr marL="54864" marR="54864" marT="27432" marB="27432" anchor="ctr">
                    <a:solidFill>
                      <a:srgbClr val="FFFFFF"/>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Next steps</a:t>
            </a:r>
          </a:p>
          <a:p>
            <a:pPr>
              <a:defRPr sz="1200">
                <a:solidFill>
                  <a:srgbClr val="C9D6E2"/>
                </a:solidFill>
              </a:defRPr>
            </a:pPr>
            <a:r>
              <a:t>What we are asking for</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Rounded Rectangle 3"/>
          <p:cNvSpPr/>
          <p:nvPr/>
        </p:nvSpPr>
        <p:spPr>
          <a:xfrm>
            <a:off x="548640" y="1097280"/>
            <a:ext cx="353568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1 · Confirm entitlement</a:t>
            </a:r>
          </a:p>
          <a:p>
            <a:pPr algn="ctr">
              <a:defRPr sz="1200">
                <a:solidFill>
                  <a:srgbClr val="FFFFFF"/>
                </a:solidFill>
              </a:defRPr>
            </a:pPr>
            <a:r>
              <a:t>Verify the exact package, Add-ons and entitlement figures in writing with ServiceNow before committing to a plan.</a:t>
            </a:r>
          </a:p>
        </p:txBody>
      </p:sp>
      <p:sp>
        <p:nvSpPr>
          <p:cNvPr id="5" name="Rounded Rectangle 4"/>
          <p:cNvSpPr/>
          <p:nvPr/>
        </p:nvSpPr>
        <p:spPr>
          <a:xfrm>
            <a:off x="4312920" y="1097280"/>
            <a:ext cx="353568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2 · Name the people</a:t>
            </a:r>
          </a:p>
          <a:p>
            <a:pPr algn="ctr">
              <a:defRPr sz="1200">
                <a:solidFill>
                  <a:srgbClr val="FFFFFF"/>
                </a:solidFill>
              </a:defRPr>
            </a:pPr>
            <a:r>
              <a:t>Named contact administrator, Platform Owner, Impact App Admin and Scan Engine Admin.</a:t>
            </a:r>
          </a:p>
        </p:txBody>
      </p:sp>
      <p:sp>
        <p:nvSpPr>
          <p:cNvPr id="6" name="Rounded Rectangle 5"/>
          <p:cNvSpPr/>
          <p:nvPr/>
        </p:nvSpPr>
        <p:spPr>
          <a:xfrm>
            <a:off x="8077200" y="1097280"/>
            <a:ext cx="353568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3 · Approve access &amp; consent</a:t>
            </a:r>
          </a:p>
          <a:p>
            <a:pPr algn="ctr">
              <a:defRPr sz="1200">
                <a:solidFill>
                  <a:srgbClr val="FFFFFF"/>
                </a:solidFill>
              </a:defRPr>
            </a:pPr>
            <a:r>
              <a:t>Squad access (read-only, 30 days, quarterly re-approval) and the consent decisions for monitoring.</a:t>
            </a:r>
          </a:p>
        </p:txBody>
      </p:sp>
      <p:sp>
        <p:nvSpPr>
          <p:cNvPr id="7" name="Rounded Rectangle 6"/>
          <p:cNvSpPr/>
          <p:nvPr/>
        </p:nvSpPr>
        <p:spPr>
          <a:xfrm>
            <a:off x="548640" y="3657600"/>
            <a:ext cx="353568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4 · Schedule the sequence</a:t>
            </a:r>
          </a:p>
          <a:p>
            <a:pPr algn="ctr">
              <a:defRPr sz="1200">
                <a:solidFill>
                  <a:srgbClr val="FFFFFF"/>
                </a:solidFill>
              </a:defRPr>
            </a:pPr>
            <a:r>
              <a:t>Procure → install → Guided Setup → scan (overnight) → register → validate → Active replication → migrate.</a:t>
            </a:r>
          </a:p>
        </p:txBody>
      </p:sp>
      <p:sp>
        <p:nvSpPr>
          <p:cNvPr id="8" name="Rounded Rectangle 7"/>
          <p:cNvSpPr/>
          <p:nvPr/>
        </p:nvSpPr>
        <p:spPr>
          <a:xfrm>
            <a:off x="4312920" y="3657600"/>
            <a:ext cx="3535680" cy="2331720"/>
          </a:xfrm>
          <a:prstGeom prst="roundRect">
            <a:avLst/>
          </a:prstGeom>
          <a:solidFill>
            <a:srgbClr val="037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5 · Agree the value story</a:t>
            </a:r>
          </a:p>
          <a:p>
            <a:pPr algn="ctr">
              <a:defRPr sz="1200">
                <a:solidFill>
                  <a:srgbClr val="FFFFFF"/>
                </a:solidFill>
              </a:defRPr>
            </a:pPr>
            <a:r>
              <a:t>Objectives and outcomes with metrics, baselines and targets — before the first report is expected.</a:t>
            </a:r>
          </a:p>
        </p:txBody>
      </p:sp>
      <p:sp>
        <p:nvSpPr>
          <p:cNvPr id="9" name="Rounded Rectangle 8"/>
          <p:cNvSpPr/>
          <p:nvPr/>
        </p:nvSpPr>
        <p:spPr>
          <a:xfrm>
            <a:off x="8077200" y="3657600"/>
            <a:ext cx="3535680" cy="2331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a:noAutofit/>
          </a:bodyPr>
          <a:lstStyle/>
          <a:p>
            <a:pPr algn="ctr">
              <a:defRPr sz="1600" b="1">
                <a:solidFill>
                  <a:srgbClr val="FFFFFF"/>
                </a:solidFill>
              </a:defRPr>
            </a:pPr>
            <a:r>
              <a:t>6 · Calendarise governance</a:t>
            </a:r>
          </a:p>
          <a:p>
            <a:pPr algn="ctr">
              <a:defRPr sz="1200">
                <a:solidFill>
                  <a:srgbClr val="FFFFFF"/>
                </a:solidFill>
              </a:defRPr>
            </a:pPr>
            <a:r>
              <a:t>Lock the monthly operational/health review and the quarterly outcome and executive reviews.</a:t>
            </a:r>
          </a:p>
        </p:txBody>
      </p:sp>
      <p:sp>
        <p:nvSpPr>
          <p:cNvPr id="10" name="TextBox 9"/>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Summary — the client message</a:t>
            </a:r>
          </a:p>
          <a:p>
            <a:pPr>
              <a:defRPr sz="1200">
                <a:solidFill>
                  <a:srgbClr val="C9D6E2"/>
                </a:solidFill>
              </a:defRPr>
            </a:pPr>
            <a:r>
              <a:t>Five sentences to remember</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sp>
        <p:nvSpPr>
          <p:cNvPr id="4" name="TextBox 3"/>
          <p:cNvSpPr txBox="1"/>
          <p:nvPr/>
        </p:nvSpPr>
        <p:spPr>
          <a:xfrm>
            <a:off x="548640" y="1143000"/>
            <a:ext cx="11064240" cy="4800600"/>
          </a:xfrm>
          <a:prstGeom prst="rect">
            <a:avLst/>
          </a:prstGeom>
          <a:noFill/>
        </p:spPr>
        <p:txBody>
          <a:bodyPr wrap="square">
            <a:noAutofit/>
          </a:bodyPr>
          <a:lstStyle/>
          <a:p>
            <a:pPr>
              <a:spcAft>
                <a:spcPts val="753"/>
              </a:spcAft>
              <a:defRPr sz="1400" b="0">
                <a:solidFill>
                  <a:srgbClr val="03213F"/>
                </a:solidFill>
              </a:defRPr>
            </a:pPr>
            <a:r>
              <a:t>Impact is a subscription customer success product: a workspace in our instance, an expert workspace at ServiceNow, and named people — not another module.</a:t>
            </a:r>
          </a:p>
          <a:p>
            <a:pPr>
              <a:spcAft>
                <a:spcPts val="753"/>
              </a:spcAft>
              <a:defRPr sz="1400" b="0">
                <a:solidFill>
                  <a:srgbClr val="03213F"/>
                </a:solidFill>
              </a:defRPr>
            </a:pPr>
            <a:r>
              <a:t>It answers four questions: is the instance healthy, is it performing, are we realising value, and what should we do next.</a:t>
            </a:r>
          </a:p>
          <a:p>
            <a:pPr>
              <a:spcAft>
                <a:spcPts val="753"/>
              </a:spcAft>
              <a:defRPr sz="1400" b="0">
                <a:solidFill>
                  <a:srgbClr val="03213F"/>
                </a:solidFill>
              </a:defRPr>
            </a:pPr>
            <a:r>
              <a:t>Its evidence is artefacts we can show: health scores, findings, adoption roadmaps, and monetised value reports with visible assumptions.</a:t>
            </a:r>
          </a:p>
          <a:p>
            <a:pPr>
              <a:spcAft>
                <a:spcPts val="753"/>
              </a:spcAft>
              <a:defRPr sz="1400" b="0">
                <a:solidFill>
                  <a:srgbClr val="03213F"/>
                </a:solidFill>
              </a:defRPr>
            </a:pPr>
            <a:r>
              <a:t>It coexists with Now Support rather than replacing it, and it does not remove the need for our own administration and governance.</a:t>
            </a:r>
          </a:p>
          <a:p>
            <a:pPr>
              <a:spcAft>
                <a:spcPts val="753"/>
              </a:spcAft>
              <a:defRPr sz="1400" b="0">
                <a:solidFill>
                  <a:srgbClr val="03213F"/>
                </a:solidFill>
              </a:defRPr>
            </a:pPr>
            <a:r>
              <a:t>About half the value depends on foundational work we control — connection, roles, scans and data collection — so the sequence matters more than the licence.</a:t>
            </a:r>
          </a:p>
        </p:txBody>
      </p:sp>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Appendix · Glossary</a:t>
            </a:r>
          </a:p>
          <a:p>
            <a:pPr>
              <a:defRPr sz="1200">
                <a:solidFill>
                  <a:srgbClr val="C9D6E2"/>
                </a:solidFill>
              </a:defRPr>
            </a:pPr>
            <a:r>
              <a:t>Key Impact terms used in this briefing</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4807458"/>
        </p:xfrm>
        <a:graphic>
          <a:graphicData uri="http://schemas.openxmlformats.org/drawingml/2006/table">
            <a:tbl>
              <a:tblPr firstRow="1" bandRow="1">
                <a:tableStyleId>{5C22544A-7EE6-4342-B048-85BDC9FD1C3A}</a:tableStyleId>
              </a:tblPr>
              <a:tblGrid>
                <a:gridCol w="5532120"/>
                <a:gridCol w="5532120"/>
              </a:tblGrid>
              <a:tr h="243459">
                <a:tc>
                  <a:txBody>
                    <a:bodyPr/>
                    <a:lstStyle/>
                    <a:p>
                      <a:pPr>
                        <a:defRPr sz="950" b="1">
                          <a:solidFill>
                            <a:srgbClr val="FFFFFF"/>
                          </a:solidFill>
                        </a:defRPr>
                      </a:pPr>
                      <a:r>
                        <a:t>Term</a:t>
                      </a:r>
                    </a:p>
                  </a:txBody>
                  <a:tcPr marL="54864" marR="54864" marT="27432" marB="27432" anchor="ctr">
                    <a:solidFill>
                      <a:srgbClr val="1F4E79"/>
                    </a:solidFill>
                  </a:tcPr>
                </a:tc>
                <a:tc>
                  <a:txBody>
                    <a:bodyPr/>
                    <a:lstStyle/>
                    <a:p>
                      <a:pPr>
                        <a:defRPr sz="950" b="1">
                          <a:solidFill>
                            <a:srgbClr val="FFFFFF"/>
                          </a:solidFill>
                        </a:defRPr>
                      </a:pPr>
                      <a:r>
                        <a:t>Meaning</a:t>
                      </a:r>
                    </a:p>
                  </a:txBody>
                  <a:tcPr marL="54864" marR="54864" marT="27432" marB="27432" anchor="ctr">
                    <a:solidFill>
                      <a:srgbClr val="1F4E79"/>
                    </a:solidFill>
                  </a:tcPr>
                </a:tc>
              </a:tr>
              <a:tr h="395478">
                <a:tc>
                  <a:txBody>
                    <a:bodyPr/>
                    <a:lstStyle/>
                    <a:p>
                      <a:pPr>
                        <a:defRPr sz="950">
                          <a:solidFill>
                            <a:srgbClr val="03213F"/>
                          </a:solidFill>
                        </a:defRPr>
                      </a:pPr>
                      <a:r>
                        <a:t>Impact Store Application</a:t>
                      </a:r>
                    </a:p>
                  </a:txBody>
                  <a:tcPr marL="54864" marR="54864" marT="27432" marB="27432" anchor="ctr">
                    <a:solidFill>
                      <a:srgbClr val="FFFFFF"/>
                    </a:solidFill>
                  </a:tcPr>
                </a:tc>
                <a:tc>
                  <a:txBody>
                    <a:bodyPr/>
                    <a:lstStyle/>
                    <a:p>
                      <a:pPr>
                        <a:defRPr sz="950">
                          <a:solidFill>
                            <a:srgbClr val="03213F"/>
                          </a:solidFill>
                        </a:defRPr>
                      </a:pPr>
                      <a:r>
                        <a:t>The Impact application installed in your ServiceNow instance — the consumer-side UI (All → Impact)</a:t>
                      </a:r>
                    </a:p>
                  </a:txBody>
                  <a:tcPr marL="54864" marR="54864" marT="27432" marB="27432" anchor="ctr">
                    <a:solidFill>
                      <a:srgbClr val="FFFFFF"/>
                    </a:solidFill>
                  </a:tcPr>
                </a:tc>
              </a:tr>
              <a:tr h="395478">
                <a:tc>
                  <a:txBody>
                    <a:bodyPr/>
                    <a:lstStyle/>
                    <a:p>
                      <a:pPr>
                        <a:defRPr sz="950">
                          <a:solidFill>
                            <a:srgbClr val="03213F"/>
                          </a:solidFill>
                        </a:defRPr>
                      </a:pPr>
                      <a:r>
                        <a:t>Impact Delivery Instance (IDI)</a:t>
                      </a:r>
                    </a:p>
                  </a:txBody>
                  <a:tcPr marL="54864" marR="54864" marT="27432" marB="27432" anchor="ctr">
                    <a:solidFill>
                      <a:srgbClr val="F2F4F7"/>
                    </a:solidFill>
                  </a:tcPr>
                </a:tc>
                <a:tc>
                  <a:txBody>
                    <a:bodyPr/>
                    <a:lstStyle/>
                    <a:p>
                      <a:pPr>
                        <a:defRPr sz="950">
                          <a:solidFill>
                            <a:srgbClr val="03213F"/>
                          </a:solidFill>
                        </a:defRPr>
                      </a:pPr>
                      <a:r>
                        <a:t>The ServiceNow-hosted provider instance where the Impact Squad works (impact.service-now.com)</a:t>
                      </a:r>
                    </a:p>
                  </a:txBody>
                  <a:tcPr marL="54864" marR="54864" marT="27432" marB="27432" anchor="ctr">
                    <a:solidFill>
                      <a:srgbClr val="F2F4F7"/>
                    </a:solidFill>
                  </a:tcPr>
                </a:tc>
              </a:tr>
              <a:tr h="395478">
                <a:tc>
                  <a:txBody>
                    <a:bodyPr/>
                    <a:lstStyle/>
                    <a:p>
                      <a:pPr>
                        <a:defRPr sz="950">
                          <a:solidFill>
                            <a:srgbClr val="03213F"/>
                          </a:solidFill>
                        </a:defRPr>
                      </a:pPr>
                      <a:r>
                        <a:t>Service Bridge</a:t>
                      </a:r>
                    </a:p>
                  </a:txBody>
                  <a:tcPr marL="54864" marR="54864" marT="27432" marB="27432" anchor="ctr">
                    <a:solidFill>
                      <a:srgbClr val="FFFFFF"/>
                    </a:solidFill>
                  </a:tcPr>
                </a:tc>
                <a:tc>
                  <a:txBody>
                    <a:bodyPr/>
                    <a:lstStyle/>
                    <a:p>
                      <a:pPr>
                        <a:defRPr sz="950">
                          <a:solidFill>
                            <a:srgbClr val="03213F"/>
                          </a:solidFill>
                        </a:defRPr>
                      </a:pPr>
                      <a:r>
                        <a:t>The integration technology enabling secure bi-directional sync between your instance and the IDI</a:t>
                      </a:r>
                    </a:p>
                  </a:txBody>
                  <a:tcPr marL="54864" marR="54864" marT="27432" marB="27432" anchor="ctr">
                    <a:solidFill>
                      <a:srgbClr val="FFFFFF"/>
                    </a:solidFill>
                  </a:tcPr>
                </a:tc>
              </a:tr>
              <a:tr h="243459">
                <a:tc>
                  <a:txBody>
                    <a:bodyPr/>
                    <a:lstStyle/>
                    <a:p>
                      <a:pPr>
                        <a:defRPr sz="950">
                          <a:solidFill>
                            <a:srgbClr val="03213F"/>
                          </a:solidFill>
                        </a:defRPr>
                      </a:pPr>
                      <a:r>
                        <a:t>HealthScan</a:t>
                      </a:r>
                    </a:p>
                  </a:txBody>
                  <a:tcPr marL="54864" marR="54864" marT="27432" marB="27432" anchor="ctr">
                    <a:solidFill>
                      <a:srgbClr val="F2F4F7"/>
                    </a:solidFill>
                  </a:tcPr>
                </a:tc>
                <a:tc>
                  <a:txBody>
                    <a:bodyPr/>
                    <a:lstStyle/>
                    <a:p>
                      <a:pPr>
                        <a:defRPr sz="950">
                          <a:solidFill>
                            <a:srgbClr val="03213F"/>
                          </a:solidFill>
                        </a:defRPr>
                      </a:pPr>
                      <a:r>
                        <a:t>The library of leading-practice checks the Scan Engine runs against your instance</a:t>
                      </a:r>
                    </a:p>
                  </a:txBody>
                  <a:tcPr marL="54864" marR="54864" marT="27432" marB="27432" anchor="ctr">
                    <a:solidFill>
                      <a:srgbClr val="F2F4F7"/>
                    </a:solidFill>
                  </a:tcPr>
                </a:tc>
              </a:tr>
              <a:tr h="395478">
                <a:tc>
                  <a:txBody>
                    <a:bodyPr/>
                    <a:lstStyle/>
                    <a:p>
                      <a:pPr>
                        <a:defRPr sz="950">
                          <a:solidFill>
                            <a:srgbClr val="03213F"/>
                          </a:solidFill>
                        </a:defRPr>
                      </a:pPr>
                      <a:r>
                        <a:t>Scan Engine</a:t>
                      </a:r>
                    </a:p>
                  </a:txBody>
                  <a:tcPr marL="54864" marR="54864" marT="27432" marB="27432" anchor="ctr">
                    <a:solidFill>
                      <a:srgbClr val="FFFFFF"/>
                    </a:solidFill>
                  </a:tcPr>
                </a:tc>
                <a:tc>
                  <a:txBody>
                    <a:bodyPr/>
                    <a:lstStyle/>
                    <a:p>
                      <a:pPr>
                        <a:defRPr sz="950">
                          <a:solidFill>
                            <a:srgbClr val="03213F"/>
                          </a:solidFill>
                        </a:defRPr>
                      </a:pPr>
                      <a:r>
                        <a:t>The component that executes HealthScan definitions and produces findings in your instance</a:t>
                      </a:r>
                    </a:p>
                  </a:txBody>
                  <a:tcPr marL="54864" marR="54864" marT="27432" marB="27432" anchor="ctr">
                    <a:solidFill>
                      <a:srgbClr val="FFFFFF"/>
                    </a:solidFill>
                  </a:tcPr>
                </a:tc>
              </a:tr>
              <a:tr h="243459">
                <a:tc>
                  <a:txBody>
                    <a:bodyPr/>
                    <a:lstStyle/>
                    <a:p>
                      <a:pPr>
                        <a:defRPr sz="950">
                          <a:solidFill>
                            <a:srgbClr val="03213F"/>
                          </a:solidFill>
                        </a:defRPr>
                      </a:pPr>
                      <a:r>
                        <a:t>Finding</a:t>
                      </a:r>
                    </a:p>
                  </a:txBody>
                  <a:tcPr marL="54864" marR="54864" marT="27432" marB="27432" anchor="ctr">
                    <a:solidFill>
                      <a:srgbClr val="F2F4F7"/>
                    </a:solidFill>
                  </a:tcPr>
                </a:tc>
                <a:tc>
                  <a:txBody>
                    <a:bodyPr/>
                    <a:lstStyle/>
                    <a:p>
                      <a:pPr>
                        <a:defRPr sz="950">
                          <a:solidFill>
                            <a:srgbClr val="03213F"/>
                          </a:solidFill>
                        </a:defRPr>
                      </a:pPr>
                      <a:r>
                        <a:t>A specific scan result — the unit of remediation work; findings are not sent to the IDI</a:t>
                      </a:r>
                    </a:p>
                  </a:txBody>
                  <a:tcPr marL="54864" marR="54864" marT="27432" marB="27432" anchor="ctr">
                    <a:solidFill>
                      <a:srgbClr val="F2F4F7"/>
                    </a:solidFill>
                  </a:tcPr>
                </a:tc>
              </a:tr>
              <a:tr h="243459">
                <a:tc>
                  <a:txBody>
                    <a:bodyPr/>
                    <a:lstStyle/>
                    <a:p>
                      <a:pPr>
                        <a:defRPr sz="950">
                          <a:solidFill>
                            <a:srgbClr val="03213F"/>
                          </a:solidFill>
                        </a:defRPr>
                      </a:pPr>
                      <a:r>
                        <a:t>Capability Map</a:t>
                      </a:r>
                    </a:p>
                  </a:txBody>
                  <a:tcPr marL="54864" marR="54864" marT="27432" marB="27432" anchor="ctr">
                    <a:solidFill>
                      <a:srgbClr val="FFFFFF"/>
                    </a:solidFill>
                  </a:tcPr>
                </a:tc>
                <a:tc>
                  <a:txBody>
                    <a:bodyPr/>
                    <a:lstStyle/>
                    <a:p>
                      <a:pPr>
                        <a:defRPr sz="950">
                          <a:solidFill>
                            <a:srgbClr val="03213F"/>
                          </a:solidFill>
                        </a:defRPr>
                      </a:pPr>
                      <a:r>
                        <a:t>A per-instance view of entitled capabilities and their adoption status</a:t>
                      </a:r>
                    </a:p>
                  </a:txBody>
                  <a:tcPr marL="54864" marR="54864" marT="27432" marB="27432" anchor="ctr">
                    <a:solidFill>
                      <a:srgbClr val="FFFFFF"/>
                    </a:solidFill>
                  </a:tcPr>
                </a:tc>
              </a:tr>
              <a:tr h="243459">
                <a:tc>
                  <a:txBody>
                    <a:bodyPr/>
                    <a:lstStyle/>
                    <a:p>
                      <a:pPr>
                        <a:defRPr sz="950">
                          <a:solidFill>
                            <a:srgbClr val="03213F"/>
                          </a:solidFill>
                        </a:defRPr>
                      </a:pPr>
                      <a:r>
                        <a:t>Product Adoption Roadmap (PAR)</a:t>
                      </a:r>
                    </a:p>
                  </a:txBody>
                  <a:tcPr marL="54864" marR="54864" marT="27432" marB="27432" anchor="ctr">
                    <a:solidFill>
                      <a:srgbClr val="F2F4F7"/>
                    </a:solidFill>
                  </a:tcPr>
                </a:tc>
                <a:tc>
                  <a:txBody>
                    <a:bodyPr/>
                    <a:lstStyle/>
                    <a:p>
                      <a:pPr>
                        <a:defRPr sz="950">
                          <a:solidFill>
                            <a:srgbClr val="03213F"/>
                          </a:solidFill>
                        </a:defRPr>
                      </a:pPr>
                      <a:r>
                        <a:t>A phased, published plan sequencing capabilities towards objectives</a:t>
                      </a:r>
                    </a:p>
                  </a:txBody>
                  <a:tcPr marL="54864" marR="54864" marT="27432" marB="27432" anchor="ctr">
                    <a:solidFill>
                      <a:srgbClr val="F2F4F7"/>
                    </a:solidFill>
                  </a:tcPr>
                </a:tc>
              </a:tr>
              <a:tr h="395478">
                <a:tc>
                  <a:txBody>
                    <a:bodyPr/>
                    <a:lstStyle/>
                    <a:p>
                      <a:pPr>
                        <a:defRPr sz="950">
                          <a:solidFill>
                            <a:srgbClr val="03213F"/>
                          </a:solidFill>
                        </a:defRPr>
                      </a:pPr>
                      <a:r>
                        <a:t>Outcome</a:t>
                      </a:r>
                    </a:p>
                  </a:txBody>
                  <a:tcPr marL="54864" marR="54864" marT="27432" marB="27432" anchor="ctr">
                    <a:solidFill>
                      <a:srgbClr val="FFFFFF"/>
                    </a:solidFill>
                  </a:tcPr>
                </a:tc>
                <a:tc>
                  <a:txBody>
                    <a:bodyPr/>
                    <a:lstStyle/>
                    <a:p>
                      <a:pPr>
                        <a:defRPr sz="950">
                          <a:solidFill>
                            <a:srgbClr val="03213F"/>
                          </a:solidFill>
                        </a:defRPr>
                      </a:pPr>
                      <a:r>
                        <a:t>A measurable business result linked to an objective, with a success metric, baseline and goal</a:t>
                      </a:r>
                    </a:p>
                  </a:txBody>
                  <a:tcPr marL="54864" marR="54864" marT="27432" marB="27432" anchor="ctr">
                    <a:solidFill>
                      <a:srgbClr val="FFFFFF"/>
                    </a:solidFill>
                  </a:tcPr>
                </a:tc>
              </a:tr>
              <a:tr h="243459">
                <a:tc>
                  <a:txBody>
                    <a:bodyPr/>
                    <a:lstStyle/>
                    <a:p>
                      <a:pPr>
                        <a:defRPr sz="950">
                          <a:solidFill>
                            <a:srgbClr val="03213F"/>
                          </a:solidFill>
                        </a:defRPr>
                      </a:pPr>
                      <a:r>
                        <a:t>Value Report</a:t>
                      </a:r>
                    </a:p>
                  </a:txBody>
                  <a:tcPr marL="54864" marR="54864" marT="27432" marB="27432" anchor="ctr">
                    <a:solidFill>
                      <a:srgbClr val="F2F4F7"/>
                    </a:solidFill>
                  </a:tcPr>
                </a:tc>
                <a:tc>
                  <a:txBody>
                    <a:bodyPr/>
                    <a:lstStyle/>
                    <a:p>
                      <a:pPr>
                        <a:defRPr sz="950">
                          <a:solidFill>
                            <a:srgbClr val="03213F"/>
                          </a:solidFill>
                        </a:defRPr>
                      </a:pPr>
                      <a:r>
                        <a:t>A monetised aggregation of outcome performance with visible assumptions</a:t>
                      </a:r>
                    </a:p>
                  </a:txBody>
                  <a:tcPr marL="54864" marR="54864" marT="27432" marB="27432" anchor="ctr">
                    <a:solidFill>
                      <a:srgbClr val="F2F4F7"/>
                    </a:solidFill>
                  </a:tcPr>
                </a:tc>
              </a:tr>
              <a:tr h="243459">
                <a:tc>
                  <a:txBody>
                    <a:bodyPr/>
                    <a:lstStyle/>
                    <a:p>
                      <a:pPr>
                        <a:defRPr sz="950">
                          <a:solidFill>
                            <a:srgbClr val="03213F"/>
                          </a:solidFill>
                        </a:defRPr>
                      </a:pPr>
                      <a:r>
                        <a:t>Accelerator / Initiative</a:t>
                      </a:r>
                    </a:p>
                  </a:txBody>
                  <a:tcPr marL="54864" marR="54864" marT="27432" marB="27432" anchor="ctr">
                    <a:solidFill>
                      <a:srgbClr val="FFFFFF"/>
                    </a:solidFill>
                  </a:tcPr>
                </a:tc>
                <a:tc>
                  <a:txBody>
                    <a:bodyPr/>
                    <a:lstStyle/>
                    <a:p>
                      <a:pPr>
                        <a:defRPr sz="950">
                          <a:solidFill>
                            <a:srgbClr val="03213F"/>
                          </a:solidFill>
                        </a:defRPr>
                      </a:pPr>
                      <a:r>
                        <a:t>A fixed-scope expert-led engagement / a programme sequencing several Accelerators</a:t>
                      </a:r>
                    </a:p>
                  </a:txBody>
                  <a:tcPr marL="54864" marR="54864" marT="27432" marB="27432" anchor="ctr">
                    <a:solidFill>
                      <a:srgbClr val="FFFFFF"/>
                    </a:solidFill>
                  </a:tcPr>
                </a:tc>
              </a:tr>
              <a:tr h="243459">
                <a:tc>
                  <a:txBody>
                    <a:bodyPr/>
                    <a:lstStyle/>
                    <a:p>
                      <a:pPr>
                        <a:defRPr sz="950">
                          <a:solidFill>
                            <a:srgbClr val="03213F"/>
                          </a:solidFill>
                        </a:defRPr>
                      </a:pPr>
                      <a:r>
                        <a:t>Concurrency</a:t>
                      </a:r>
                    </a:p>
                  </a:txBody>
                  <a:tcPr marL="54864" marR="54864" marT="27432" marB="27432" anchor="ctr">
                    <a:solidFill>
                      <a:srgbClr val="F2F4F7"/>
                    </a:solidFill>
                  </a:tcPr>
                </a:tc>
                <a:tc>
                  <a:txBody>
                    <a:bodyPr/>
                    <a:lstStyle/>
                    <a:p>
                      <a:pPr>
                        <a:defRPr sz="950">
                          <a:solidFill>
                            <a:srgbClr val="03213F"/>
                          </a:solidFill>
                        </a:defRPr>
                      </a:pPr>
                      <a:r>
                        <a:t>The number of Accelerators that may run at the same time under your package</a:t>
                      </a:r>
                    </a:p>
                  </a:txBody>
                  <a:tcPr marL="54864" marR="54864" marT="27432" marB="27432" anchor="ctr">
                    <a:solidFill>
                      <a:srgbClr val="F2F4F7"/>
                    </a:solidFill>
                  </a:tcPr>
                </a:tc>
              </a:tr>
              <a:tr h="395478">
                <a:tc>
                  <a:txBody>
                    <a:bodyPr/>
                    <a:lstStyle/>
                    <a:p>
                      <a:pPr>
                        <a:defRPr sz="950">
                          <a:solidFill>
                            <a:srgbClr val="03213F"/>
                          </a:solidFill>
                        </a:defRPr>
                      </a:pPr>
                      <a:r>
                        <a:t>Instance Observer</a:t>
                      </a:r>
                    </a:p>
                  </a:txBody>
                  <a:tcPr marL="54864" marR="54864" marT="27432" marB="27432" anchor="ctr">
                    <a:solidFill>
                      <a:srgbClr val="FFFFFF"/>
                    </a:solidFill>
                  </a:tcPr>
                </a:tc>
                <a:tc>
                  <a:txBody>
                    <a:bodyPr/>
                    <a:lstStyle/>
                    <a:p>
                      <a:pPr>
                        <a:defRPr sz="950">
                          <a:solidFill>
                            <a:srgbClr val="03213F"/>
                          </a:solidFill>
                        </a:defRPr>
                      </a:pPr>
                      <a:r>
                        <a:t>Off-instance performance and availability monitoring (also written 'Instance Observatory')</a:t>
                      </a:r>
                    </a:p>
                  </a:txBody>
                  <a:tcPr marL="54864" marR="54864" marT="27432" marB="27432" anchor="ctr">
                    <a:solidFill>
                      <a:srgbClr val="FFFFFF"/>
                    </a:solidFill>
                  </a:tcPr>
                </a:tc>
              </a:tr>
              <a:tr h="243459">
                <a:tc>
                  <a:txBody>
                    <a:bodyPr/>
                    <a:lstStyle/>
                    <a:p>
                      <a:pPr>
                        <a:defRPr sz="950">
                          <a:solidFill>
                            <a:srgbClr val="03213F"/>
                          </a:solidFill>
                        </a:defRPr>
                      </a:pPr>
                      <a:r>
                        <a:t>ServiceNow Otto</a:t>
                      </a:r>
                    </a:p>
                  </a:txBody>
                  <a:tcPr marL="54864" marR="54864" marT="27432" marB="27432" anchor="ctr">
                    <a:solidFill>
                      <a:srgbClr val="F2F4F7"/>
                    </a:solidFill>
                  </a:tcPr>
                </a:tc>
                <a:tc>
                  <a:txBody>
                    <a:bodyPr/>
                    <a:lstStyle/>
                    <a:p>
                      <a:pPr>
                        <a:defRPr sz="950">
                          <a:solidFill>
                            <a:srgbClr val="03213F"/>
                          </a:solidFill>
                        </a:defRPr>
                      </a:pPr>
                      <a:r>
                        <a:t>The Australia-release rebrand of Now Assist capabilities in this context</a:t>
                      </a:r>
                    </a:p>
                  </a:txBody>
                  <a:tcPr marL="54864" marR="54864" marT="27432" marB="27432" anchor="ctr">
                    <a:solidFill>
                      <a:srgbClr val="F2F4F7"/>
                    </a:solidFill>
                  </a:tcPr>
                </a:tc>
              </a:tr>
              <a:tr h="243459">
                <a:tc>
                  <a:txBody>
                    <a:bodyPr/>
                    <a:lstStyle/>
                    <a:p>
                      <a:pPr>
                        <a:defRPr sz="950">
                          <a:solidFill>
                            <a:srgbClr val="03213F"/>
                          </a:solidFill>
                        </a:defRPr>
                      </a:pPr>
                      <a:r>
                        <a:t>CIP</a:t>
                      </a:r>
                    </a:p>
                  </a:txBody>
                  <a:tcPr marL="54864" marR="54864" marT="27432" marB="27432" anchor="ctr">
                    <a:solidFill>
                      <a:srgbClr val="FFFFFF"/>
                    </a:solidFill>
                  </a:tcPr>
                </a:tc>
                <a:tc>
                  <a:txBody>
                    <a:bodyPr/>
                    <a:lstStyle/>
                    <a:p>
                      <a:pPr>
                        <a:defRPr sz="950">
                          <a:solidFill>
                            <a:srgbClr val="03213F"/>
                          </a:solidFill>
                        </a:defRPr>
                      </a:pPr>
                      <a:r>
                        <a:t>Customer Impact Plan — Impact's planning construct with the squad</a:t>
                      </a:r>
                    </a:p>
                  </a:txBody>
                  <a:tcPr marL="54864" marR="54864" marT="27432" marB="27432" anchor="ctr">
                    <a:solidFill>
                      <a:srgbClr val="FFFFFF"/>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3213F"/>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a:lstStyle/>
          <a:p>
            <a:pPr algn="ctr">
              <a:defRPr sz="2400" b="1">
                <a:solidFill>
                  <a:srgbClr val="FFFFFF"/>
                </a:solidFill>
              </a:defRPr>
            </a:pPr>
            <a:r>
              <a:t>Appendix · Decision points and FAQs</a:t>
            </a:r>
          </a:p>
          <a:p>
            <a:pPr>
              <a:defRPr sz="1200">
                <a:solidFill>
                  <a:srgbClr val="C9D6E2"/>
                </a:solidFill>
              </a:defRPr>
            </a:pPr>
            <a:r>
              <a:t>The questions that usually come up next</a:t>
            </a:r>
          </a:p>
        </p:txBody>
      </p:sp>
      <p:sp>
        <p:nvSpPr>
          <p:cNvPr id="3" name="TextBox 2"/>
          <p:cNvSpPr txBox="1"/>
          <p:nvPr/>
        </p:nvSpPr>
        <p:spPr>
          <a:xfrm>
            <a:off x="457200" y="6419088"/>
            <a:ext cx="11247120" cy="320040"/>
          </a:xfrm>
          <a:prstGeom prst="rect">
            <a:avLst/>
          </a:prstGeom>
          <a:noFill/>
        </p:spPr>
        <p:txBody>
          <a:bodyPr wrap="none">
            <a:spAutoFit/>
          </a:bodyPr>
          <a:lstStyle/>
          <a:p>
            <a:pPr>
              <a:defRPr sz="900">
                <a:solidFill>
                  <a:srgbClr val="5C6B7A"/>
                </a:solidFill>
              </a:defRPr>
            </a:pPr>
            <a:r>
              <a:t>ServiceNow Impact  |  ServiceNow Australia release  |  Client briefing</a:t>
            </a:r>
          </a:p>
        </p:txBody>
      </p:sp>
      <p:graphicFrame>
        <p:nvGraphicFramePr>
          <p:cNvPr id="4" name="Table 3"/>
          <p:cNvGraphicFramePr>
            <a:graphicFrameLocks noGrp="1"/>
          </p:cNvGraphicFramePr>
          <p:nvPr/>
        </p:nvGraphicFramePr>
        <p:xfrm>
          <a:off x="548640" y="1051560"/>
          <a:ext cx="11064240" cy="4206231"/>
        </p:xfrm>
        <a:graphic>
          <a:graphicData uri="http://schemas.openxmlformats.org/drawingml/2006/table">
            <a:tbl>
              <a:tblPr firstRow="1" bandRow="1">
                <a:tableStyleId>{5C22544A-7EE6-4342-B048-85BDC9FD1C3A}</a:tableStyleId>
              </a:tblPr>
              <a:tblGrid>
                <a:gridCol w="5532120"/>
                <a:gridCol w="5532120"/>
              </a:tblGrid>
              <a:tr h="251460">
                <a:tc>
                  <a:txBody>
                    <a:bodyPr/>
                    <a:lstStyle/>
                    <a:p>
                      <a:pPr>
                        <a:defRPr sz="1000" b="1">
                          <a:solidFill>
                            <a:srgbClr val="FFFFFF"/>
                          </a:solidFill>
                        </a:defRPr>
                      </a:pPr>
                      <a:r>
                        <a:t>Question</a:t>
                      </a:r>
                    </a:p>
                  </a:txBody>
                  <a:tcPr marL="54864" marR="54864" marT="27432" marB="27432" anchor="ctr">
                    <a:solidFill>
                      <a:srgbClr val="1F4E79"/>
                    </a:solidFill>
                  </a:tcPr>
                </a:tc>
                <a:tc>
                  <a:txBody>
                    <a:bodyPr/>
                    <a:lstStyle/>
                    <a:p>
                      <a:pPr>
                        <a:defRPr sz="1000" b="1">
                          <a:solidFill>
                            <a:srgbClr val="FFFFFF"/>
                          </a:solidFill>
                        </a:defRPr>
                      </a:pPr>
                      <a:r>
                        <a:t>Short answer</a:t>
                      </a:r>
                    </a:p>
                  </a:txBody>
                  <a:tcPr marL="54864" marR="54864" marT="27432" marB="27432" anchor="ctr">
                    <a:solidFill>
                      <a:srgbClr val="1F4E79"/>
                    </a:solidFill>
                  </a:tcPr>
                </a:tc>
              </a:tr>
              <a:tr h="411479">
                <a:tc>
                  <a:txBody>
                    <a:bodyPr/>
                    <a:lstStyle/>
                    <a:p>
                      <a:pPr>
                        <a:defRPr sz="1000">
                          <a:solidFill>
                            <a:srgbClr val="03213F"/>
                          </a:solidFill>
                        </a:defRPr>
                      </a:pPr>
                      <a:r>
                        <a:t>Does Impact replace our support contract?</a:t>
                      </a:r>
                    </a:p>
                  </a:txBody>
                  <a:tcPr marL="54864" marR="54864" marT="27432" marB="27432" anchor="ctr">
                    <a:solidFill>
                      <a:srgbClr val="FFFFFF"/>
                    </a:solidFill>
                  </a:tcPr>
                </a:tc>
                <a:tc>
                  <a:txBody>
                    <a:bodyPr/>
                    <a:lstStyle/>
                    <a:p>
                      <a:pPr>
                        <a:defRPr sz="1000">
                          <a:solidFill>
                            <a:srgbClr val="03213F"/>
                          </a:solidFill>
                        </a:defRPr>
                      </a:pPr>
                      <a:r>
                        <a:t>No. Now Support continues to handle cases; Impact adds enhanced P1/P2 targets, Developer Support and proactive engagements.</a:t>
                      </a:r>
                    </a:p>
                  </a:txBody>
                  <a:tcPr marL="54864" marR="54864" marT="27432" marB="27432" anchor="ctr">
                    <a:solidFill>
                      <a:srgbClr val="FFFFFF"/>
                    </a:solidFill>
                  </a:tcPr>
                </a:tc>
              </a:tr>
              <a:tr h="411479">
                <a:tc>
                  <a:txBody>
                    <a:bodyPr/>
                    <a:lstStyle/>
                    <a:p>
                      <a:pPr>
                        <a:defRPr sz="1000">
                          <a:solidFill>
                            <a:srgbClr val="03213F"/>
                          </a:solidFill>
                        </a:defRPr>
                      </a:pPr>
                      <a:r>
                        <a:t>Will it fix our technical debt?</a:t>
                      </a:r>
                    </a:p>
                  </a:txBody>
                  <a:tcPr marL="54864" marR="54864" marT="27432" marB="27432" anchor="ctr">
                    <a:solidFill>
                      <a:srgbClr val="F2F4F7"/>
                    </a:solidFill>
                  </a:tcPr>
                </a:tc>
                <a:tc>
                  <a:txBody>
                    <a:bodyPr/>
                    <a:lstStyle/>
                    <a:p>
                      <a:pPr>
                        <a:defRPr sz="1000">
                          <a:solidFill>
                            <a:srgbClr val="03213F"/>
                          </a:solidFill>
                        </a:defRPr>
                      </a:pPr>
                      <a:r>
                        <a:t>It finds, prioritises and routes it, and can propose AI-assisted fixes. Remediation still consumes our delivery capacity.</a:t>
                      </a:r>
                    </a:p>
                  </a:txBody>
                  <a:tcPr marL="54864" marR="54864" marT="27432" marB="27432" anchor="ctr">
                    <a:solidFill>
                      <a:srgbClr val="F2F4F7"/>
                    </a:solidFill>
                  </a:tcPr>
                </a:tc>
              </a:tr>
              <a:tr h="411479">
                <a:tc>
                  <a:txBody>
                    <a:bodyPr/>
                    <a:lstStyle/>
                    <a:p>
                      <a:pPr>
                        <a:defRPr sz="1000">
                          <a:solidFill>
                            <a:srgbClr val="03213F"/>
                          </a:solidFill>
                        </a:defRPr>
                      </a:pPr>
                      <a:r>
                        <a:t>When will we see hard ROI?</a:t>
                      </a:r>
                    </a:p>
                  </a:txBody>
                  <a:tcPr marL="54864" marR="54864" marT="27432" marB="27432" anchor="ctr">
                    <a:solidFill>
                      <a:srgbClr val="FFFFFF"/>
                    </a:solidFill>
                  </a:tcPr>
                </a:tc>
                <a:tc>
                  <a:txBody>
                    <a:bodyPr/>
                    <a:lstStyle/>
                    <a:p>
                      <a:pPr>
                        <a:defRPr sz="1000">
                          <a:solidFill>
                            <a:srgbClr val="03213F"/>
                          </a:solidFill>
                        </a:defRPr>
                      </a:pPr>
                      <a:r>
                        <a:t>Value Reports need at least two years of product data, so outcomes must be baselined early to report later.</a:t>
                      </a:r>
                    </a:p>
                  </a:txBody>
                  <a:tcPr marL="54864" marR="54864" marT="27432" marB="27432" anchor="ctr">
                    <a:solidFill>
                      <a:srgbClr val="FFFFFF"/>
                    </a:solidFill>
                  </a:tcPr>
                </a:tc>
              </a:tr>
              <a:tr h="411479">
                <a:tc>
                  <a:txBody>
                    <a:bodyPr/>
                    <a:lstStyle/>
                    <a:p>
                      <a:pPr>
                        <a:defRPr sz="1000">
                          <a:solidFill>
                            <a:srgbClr val="03213F"/>
                          </a:solidFill>
                        </a:defRPr>
                      </a:pPr>
                      <a:r>
                        <a:t>Do we need to be on a particular release?</a:t>
                      </a:r>
                    </a:p>
                  </a:txBody>
                  <a:tcPr marL="54864" marR="54864" marT="27432" marB="27432" anchor="ctr">
                    <a:solidFill>
                      <a:srgbClr val="F2F4F7"/>
                    </a:solidFill>
                  </a:tcPr>
                </a:tc>
                <a:tc>
                  <a:txBody>
                    <a:bodyPr/>
                    <a:lstStyle/>
                    <a:p>
                      <a:pPr>
                        <a:defRPr sz="1000">
                          <a:solidFill>
                            <a:srgbClr val="03213F"/>
                          </a:solidFill>
                        </a:defRPr>
                      </a:pPr>
                      <a:r>
                        <a:t>Yokohama or Xanadu Patch 2 and above, with sn_entitlement 4.1.2+ — verify the live Store listing.</a:t>
                      </a:r>
                    </a:p>
                  </a:txBody>
                  <a:tcPr marL="54864" marR="54864" marT="27432" marB="27432" anchor="ctr">
                    <a:solidFill>
                      <a:srgbClr val="F2F4F7"/>
                    </a:solidFill>
                  </a:tcPr>
                </a:tc>
              </a:tr>
              <a:tr h="411479">
                <a:tc>
                  <a:txBody>
                    <a:bodyPr/>
                    <a:lstStyle/>
                    <a:p>
                      <a:pPr>
                        <a:defRPr sz="1000">
                          <a:solidFill>
                            <a:srgbClr val="03213F"/>
                          </a:solidFill>
                        </a:defRPr>
                      </a:pPr>
                      <a:r>
                        <a:t>Does our data leave the instance?</a:t>
                      </a:r>
                    </a:p>
                  </a:txBody>
                  <a:tcPr marL="54864" marR="54864" marT="27432" marB="27432" anchor="ctr">
                    <a:solidFill>
                      <a:srgbClr val="FFFFFF"/>
                    </a:solidFill>
                  </a:tcPr>
                </a:tc>
                <a:tc>
                  <a:txBody>
                    <a:bodyPr/>
                    <a:lstStyle/>
                    <a:p>
                      <a:pPr>
                        <a:defRPr sz="1000">
                          <a:solidFill>
                            <a:srgbClr val="03213F"/>
                          </a:solidFill>
                        </a:defRPr>
                      </a:pPr>
                      <a:r>
                        <a:t>Service Bridge, Cloud Storage, Licensing Engine and MIF move data. Impact Common, Content and Health do not; Scan Engine findings stay local.</a:t>
                      </a:r>
                    </a:p>
                  </a:txBody>
                  <a:tcPr marL="54864" marR="54864" marT="27432" marB="27432" anchor="ctr">
                    <a:solidFill>
                      <a:srgbClr val="FFFFFF"/>
                    </a:solidFill>
                  </a:tcPr>
                </a:tc>
              </a:tr>
              <a:tr h="251460">
                <a:tc>
                  <a:txBody>
                    <a:bodyPr/>
                    <a:lstStyle/>
                    <a:p>
                      <a:pPr>
                        <a:defRPr sz="1000">
                          <a:solidFill>
                            <a:srgbClr val="03213F"/>
                          </a:solidFill>
                        </a:defRPr>
                      </a:pPr>
                      <a:r>
                        <a:t>Can we use it with domain separation?</a:t>
                      </a:r>
                    </a:p>
                  </a:txBody>
                  <a:tcPr marL="54864" marR="54864" marT="27432" marB="27432" anchor="ctr">
                    <a:solidFill>
                      <a:srgbClr val="F2F4F7"/>
                    </a:solidFill>
                  </a:tcPr>
                </a:tc>
                <a:tc>
                  <a:txBody>
                    <a:bodyPr/>
                    <a:lstStyle/>
                    <a:p>
                      <a:pPr>
                        <a:defRPr sz="1000">
                          <a:solidFill>
                            <a:srgbClr val="03213F"/>
                          </a:solidFill>
                        </a:defRPr>
                      </a:pPr>
                      <a:r>
                        <a:t>No — domain separation is not supported for Impact.</a:t>
                      </a:r>
                    </a:p>
                  </a:txBody>
                  <a:tcPr marL="54864" marR="54864" marT="27432" marB="27432" anchor="ctr">
                    <a:solidFill>
                      <a:srgbClr val="F2F4F7"/>
                    </a:solidFill>
                  </a:tcPr>
                </a:tc>
              </a:tr>
              <a:tr h="411479">
                <a:tc>
                  <a:txBody>
                    <a:bodyPr/>
                    <a:lstStyle/>
                    <a:p>
                      <a:pPr>
                        <a:defRPr sz="1000">
                          <a:solidFill>
                            <a:srgbClr val="03213F"/>
                          </a:solidFill>
                        </a:defRPr>
                      </a:pPr>
                      <a:r>
                        <a:t>What about IRAP-Protected environments?</a:t>
                      </a:r>
                    </a:p>
                  </a:txBody>
                  <a:tcPr marL="54864" marR="54864" marT="27432" marB="27432" anchor="ctr">
                    <a:solidFill>
                      <a:srgbClr val="FFFFFF"/>
                    </a:solidFill>
                  </a:tcPr>
                </a:tc>
                <a:tc>
                  <a:txBody>
                    <a:bodyPr/>
                    <a:lstStyle/>
                    <a:p>
                      <a:pPr>
                        <a:defRPr sz="1000">
                          <a:solidFill>
                            <a:srgbClr val="03213F"/>
                          </a:solidFill>
                        </a:defRPr>
                      </a:pPr>
                      <a:r>
                        <a:t>Portions of Impact are documented as unavailable in restricted environments including Australia IRAP-Protected data centres — confirm the feature subset.</a:t>
                      </a:r>
                    </a:p>
                  </a:txBody>
                  <a:tcPr marL="54864" marR="54864" marT="27432" marB="27432" anchor="ctr">
                    <a:solidFill>
                      <a:srgbClr val="FFFFFF"/>
                    </a:solidFill>
                  </a:tcPr>
                </a:tc>
              </a:tr>
              <a:tr h="411479">
                <a:tc>
                  <a:txBody>
                    <a:bodyPr/>
                    <a:lstStyle/>
                    <a:p>
                      <a:pPr>
                        <a:defRPr sz="1000">
                          <a:solidFill>
                            <a:srgbClr val="03213F"/>
                          </a:solidFill>
                        </a:defRPr>
                      </a:pPr>
                      <a:r>
                        <a:t>How many Accelerators can run at once?</a:t>
                      </a:r>
                    </a:p>
                  </a:txBody>
                  <a:tcPr marL="54864" marR="54864" marT="27432" marB="27432" anchor="ctr">
                    <a:solidFill>
                      <a:srgbClr val="F2F4F7"/>
                    </a:solidFill>
                  </a:tcPr>
                </a:tc>
                <a:tc>
                  <a:txBody>
                    <a:bodyPr/>
                    <a:lstStyle/>
                    <a:p>
                      <a:pPr>
                        <a:defRPr sz="1000">
                          <a:solidFill>
                            <a:srgbClr val="03213F"/>
                          </a:solidFill>
                        </a:defRPr>
                      </a:pPr>
                      <a:r>
                        <a:t>Documented as 1 at a time for Guided and 7 concurrent for Total, plus Add-on concurrency — verify.</a:t>
                      </a:r>
                    </a:p>
                  </a:txBody>
                  <a:tcPr marL="54864" marR="54864" marT="27432" marB="27432" anchor="ctr">
                    <a:solidFill>
                      <a:srgbClr val="F2F4F7"/>
                    </a:solidFill>
                  </a:tcPr>
                </a:tc>
              </a:tr>
              <a:tr h="411479">
                <a:tc>
                  <a:txBody>
                    <a:bodyPr/>
                    <a:lstStyle/>
                    <a:p>
                      <a:pPr>
                        <a:defRPr sz="1000">
                          <a:solidFill>
                            <a:srgbClr val="03213F"/>
                          </a:solidFill>
                        </a:defRPr>
                      </a:pPr>
                      <a:r>
                        <a:t>Who runs the Monthly Health Assessment?</a:t>
                      </a:r>
                    </a:p>
                  </a:txBody>
                  <a:tcPr marL="54864" marR="54864" marT="27432" marB="27432" anchor="ctr">
                    <a:solidFill>
                      <a:srgbClr val="FFFFFF"/>
                    </a:solidFill>
                  </a:tcPr>
                </a:tc>
                <a:tc>
                  <a:txBody>
                    <a:bodyPr/>
                    <a:lstStyle/>
                    <a:p>
                      <a:pPr>
                        <a:defRPr sz="1000">
                          <a:solidFill>
                            <a:srgbClr val="03213F"/>
                          </a:solidFill>
                        </a:defRPr>
                      </a:pPr>
                      <a:r>
                        <a:t>ServiceNow delivers the assessment; ServiceNow is not responsible for implementing or managing it — that ownership is ours.</a:t>
                      </a:r>
                    </a:p>
                  </a:txBody>
                  <a:tcPr marL="54864" marR="54864" marT="27432" marB="27432" anchor="ctr">
                    <a:solidFill>
                      <a:srgbClr val="FFFFFF"/>
                    </a:solidFill>
                  </a:tcPr>
                </a:tc>
              </a:tr>
              <a:tr h="411479">
                <a:tc>
                  <a:txBody>
                    <a:bodyPr/>
                    <a:lstStyle/>
                    <a:p>
                      <a:pPr>
                        <a:defRPr sz="1000">
                          <a:solidFill>
                            <a:srgbClr val="03213F"/>
                          </a:solidFill>
                        </a:defRPr>
                      </a:pPr>
                      <a:r>
                        <a:t>What is the first thing to do?</a:t>
                      </a:r>
                    </a:p>
                  </a:txBody>
                  <a:tcPr marL="54864" marR="54864" marT="27432" marB="27432" anchor="ctr">
                    <a:solidFill>
                      <a:srgbClr val="F2F4F7"/>
                    </a:solidFill>
                  </a:tcPr>
                </a:tc>
                <a:tc>
                  <a:txBody>
                    <a:bodyPr/>
                    <a:lstStyle/>
                    <a:p>
                      <a:pPr>
                        <a:defRPr sz="1000">
                          <a:solidFill>
                            <a:srgbClr val="03213F"/>
                          </a:solidFill>
                        </a:defRPr>
                      </a:pPr>
                      <a:r>
                        <a:t>Name the contact administrator, confirm entitlement, then procure and install the Store Application.</a:t>
                      </a:r>
                    </a:p>
                  </a:txBody>
                  <a:tcPr marL="54864" marR="54864" marT="27432" marB="27432" anchor="ctr">
                    <a:solidFill>
                      <a:srgbClr val="F2F4F7"/>
                    </a:solidFill>
                  </a:tcPr>
                </a:tc>
              </a:tr>
            </a:tbl>
          </a:graphicData>
        </a:graphic>
      </p:graphicFrame>
      <p:sp>
        <p:nvSpPr>
          <p:cNvPr id="5" name="TextBox 4"/>
          <p:cNvSpPr txBox="1"/>
          <p:nvPr/>
        </p:nvSpPr>
        <p:spPr>
          <a:xfrm>
            <a:off x="11430000" y="6419088"/>
            <a:ext cx="594360" cy="274320"/>
          </a:xfrm>
          <a:prstGeom prst="rect">
            <a:avLst/>
          </a:prstGeom>
          <a:noFill/>
        </p:spPr>
        <p:txBody>
          <a:bodyPr wrap="none">
            <a:spAutoFit/>
          </a:bodyPr>
          <a:lstStyle/>
          <a:p>
            <a:pPr algn="r">
              <a:defRPr sz="900">
                <a:solidFill>
                  <a:srgbClr val="5C6B7A"/>
                </a:solidFill>
              </a:defRPr>
            </a:pPr>
            <a: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